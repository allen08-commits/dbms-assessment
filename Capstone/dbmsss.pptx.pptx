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85" r:id="rId14"/>
    <p:sldId id="286" r:id="rId15"/>
    <p:sldId id="275" r:id="rId16"/>
    <p:sldId id="277" r:id="rId17"/>
    <p:sldId id="278" r:id="rId18"/>
    <p:sldId id="279" r:id="rId19"/>
    <p:sldId id="280" r:id="rId20"/>
    <p:sldId id="281" r:id="rId21"/>
    <p:sldId id="283" r:id="rId22"/>
    <p:sldId id="284" r:id="rId23"/>
    <p:sldId id="268" r:id="rId24"/>
    <p:sldId id="276" r:id="rId25"/>
    <p:sldId id="271" r:id="rId26"/>
    <p:sldId id="270" r:id="rId27"/>
    <p:sldId id="272" r:id="rId28"/>
    <p:sldId id="273" r:id="rId29"/>
    <p:sldId id="274" r:id="rId30"/>
  </p:sldIdLst>
  <p:sldSz cx="18288000" cy="10287000"/>
  <p:notesSz cx="6858000" cy="9144000"/>
  <p:embeddedFontLst>
    <p:embeddedFont>
      <p:font typeface="Arimo" panose="020B0604020202020204" charset="0"/>
      <p:regular r:id="rId32"/>
    </p:embeddedFont>
    <p:embeddedFont>
      <p:font typeface="Corben" panose="020B0604020202020204" charset="0"/>
      <p:regular r:id="rId33"/>
    </p:embeddedFont>
    <p:embeddedFont>
      <p:font typeface="Times New Roman Bold" panose="02020803070505020304" pitchFamily="18" charset="0"/>
      <p:regular r:id="rId34"/>
      <p:bold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6102" autoAdjust="0"/>
    <p:restoredTop sz="94622" autoAdjust="0"/>
  </p:normalViewPr>
  <p:slideViewPr>
    <p:cSldViewPr>
      <p:cViewPr varScale="1">
        <p:scale>
          <a:sx n="48" d="100"/>
          <a:sy n="48" d="100"/>
        </p:scale>
        <p:origin x="77" y="25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01.09.2026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DCE37-D028-AA17-14BB-AF4B860D01AE}"/>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7A26B76D-068B-50E0-E207-9AC3B56012A3}"/>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9E6BE15D-480D-B7A7-94C8-6740629222A9}"/>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C12C202E-8FAF-7924-5E0D-E5A05A52F9F7}"/>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43542434-50BE-7A5D-6F11-548A51402C7A}"/>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a:extLst>
              <a:ext uri="{FF2B5EF4-FFF2-40B4-BE49-F238E27FC236}">
                <a16:creationId xmlns:a16="http://schemas.microsoft.com/office/drawing/2014/main" id="{D46DEB97-1C23-89A3-14B3-D28FFFC1DD60}"/>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F1F91B91-B3C5-11C7-9C4E-ACFAF73F09CE}"/>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9870779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6B28B-F5F5-FCD8-B63E-231EF036ADF1}"/>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CE6946DF-C260-CAB1-4170-FE71D10671C9}"/>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200A4FBE-E972-3F07-2788-716CE28AF2AD}"/>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541EC8A3-F722-28A0-0A6E-B6B5D8CEF844}"/>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8A913294-F72E-4CED-8908-059C672F2CB4}"/>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a:extLst>
              <a:ext uri="{FF2B5EF4-FFF2-40B4-BE49-F238E27FC236}">
                <a16:creationId xmlns:a16="http://schemas.microsoft.com/office/drawing/2014/main" id="{E13B87C7-EC7A-4BB8-B82D-18DD0B718596}"/>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D4D87AF5-E531-DB39-EB80-4B3313DD131F}"/>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0470514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AA91E-BB17-25F6-2979-325912D5960C}"/>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5DE48904-660C-BCDB-C977-44B4A98CBDC8}"/>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773EFD5E-AF8F-B786-C71C-338B9929F2D0}"/>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36B552F8-4768-5F66-28A9-0132D0A1F22B}"/>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2B15059E-E2A1-C391-C384-20EDE56A8E9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a:t>
            </a:r>
          </a:p>
        </p:txBody>
      </p:sp>
      <p:sp>
        <p:nvSpPr>
          <p:cNvPr id="6" name="Footer Placeholder 5">
            <a:extLst>
              <a:ext uri="{FF2B5EF4-FFF2-40B4-BE49-F238E27FC236}">
                <a16:creationId xmlns:a16="http://schemas.microsoft.com/office/drawing/2014/main" id="{3FAB621B-FEEF-7F58-A58D-B2E2FFC14B1E}"/>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9D647334-5144-2B90-F34B-9EAE48FF3593}"/>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414962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7FBC3-7968-280E-A2D4-BE7B9CDDC6D8}"/>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57A48213-75D6-3E19-492F-E81934C5784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1261B879-95E4-FA49-E2C7-853905DDA26A}"/>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BBEB3CB0-3B1D-4050-F865-243BE9A12167}"/>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C4AAC12D-17DA-BBBC-C3AF-AF5CBE39E7D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a:t>
            </a:r>
          </a:p>
        </p:txBody>
      </p:sp>
      <p:sp>
        <p:nvSpPr>
          <p:cNvPr id="6" name="Footer Placeholder 5">
            <a:extLst>
              <a:ext uri="{FF2B5EF4-FFF2-40B4-BE49-F238E27FC236}">
                <a16:creationId xmlns:a16="http://schemas.microsoft.com/office/drawing/2014/main" id="{70F15A8A-A779-8D83-FD2B-41A301DBD294}"/>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C8AE6BAC-5234-715A-C988-4C2510BD1302}"/>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9207278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008F0-99FD-EDF1-92F0-339930346608}"/>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0E8B8DB9-DAD1-5049-DCAE-E2465F455EA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71C5AB61-DC8B-3C07-35DE-9BB22461BC10}"/>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3D4B32E0-17FC-E189-DF75-B3578301891A}"/>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728BE99A-13B4-51AC-5F53-724122B3C0A3}"/>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a:t>
            </a:r>
          </a:p>
        </p:txBody>
      </p:sp>
      <p:sp>
        <p:nvSpPr>
          <p:cNvPr id="6" name="Footer Placeholder 5">
            <a:extLst>
              <a:ext uri="{FF2B5EF4-FFF2-40B4-BE49-F238E27FC236}">
                <a16:creationId xmlns:a16="http://schemas.microsoft.com/office/drawing/2014/main" id="{CAA2518F-E8EC-191C-2865-05B37CC0E878}"/>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D16AFF5D-5A87-8B3C-E347-5827AB086335}"/>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9642725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DF431-66DA-86FE-A3B6-A26E3CADBC53}"/>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989880EA-B4AC-6901-F63D-54668C32DCE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769E53D8-01A6-7B49-3311-E3FB5FE89A4D}"/>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9D719FB2-510E-2D04-1361-78F1C87E255D}"/>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C5403C95-2E83-06F7-C023-C9BB31165CC2}"/>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a:t>
            </a:r>
          </a:p>
        </p:txBody>
      </p:sp>
      <p:sp>
        <p:nvSpPr>
          <p:cNvPr id="6" name="Footer Placeholder 5">
            <a:extLst>
              <a:ext uri="{FF2B5EF4-FFF2-40B4-BE49-F238E27FC236}">
                <a16:creationId xmlns:a16="http://schemas.microsoft.com/office/drawing/2014/main" id="{F62A5CD6-EF7F-43B9-E7FB-ED8DB56BCAF6}"/>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7CF5F94B-7C47-4831-33B8-CFF2CD3B091F}"/>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8534323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15FBD-D0A6-63A4-F471-E5A8757D4171}"/>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D7624E53-F524-0D97-6B92-91B7A3F955A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AF30DC3B-9D05-57F5-2783-E742B0F3FE69}"/>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C29E80FC-5863-EDFF-452E-501A08DC6FCE}"/>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241DAC7D-3DA7-F773-D7D1-B57CC3C7988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a:t>
            </a:r>
          </a:p>
        </p:txBody>
      </p:sp>
      <p:sp>
        <p:nvSpPr>
          <p:cNvPr id="6" name="Footer Placeholder 5">
            <a:extLst>
              <a:ext uri="{FF2B5EF4-FFF2-40B4-BE49-F238E27FC236}">
                <a16:creationId xmlns:a16="http://schemas.microsoft.com/office/drawing/2014/main" id="{F28639DA-48D0-C5B0-94B9-34C26B4E9815}"/>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A1C80AED-2C20-F2E9-6724-06D84BC22B79}"/>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1725123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53061-4398-D674-B7A5-DE9672C90C98}"/>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EB45AA3D-B96C-BFDF-7327-C884FF226D85}"/>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51E76E53-0D12-9A2B-4174-2886D95CED37}"/>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A781601A-4D28-E802-0CB0-40DBD2FAF134}"/>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2CB8C528-04F7-E192-017E-5B2BAA5819A1}"/>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a:t>
            </a:r>
          </a:p>
        </p:txBody>
      </p:sp>
      <p:sp>
        <p:nvSpPr>
          <p:cNvPr id="6" name="Footer Placeholder 5">
            <a:extLst>
              <a:ext uri="{FF2B5EF4-FFF2-40B4-BE49-F238E27FC236}">
                <a16:creationId xmlns:a16="http://schemas.microsoft.com/office/drawing/2014/main" id="{FC4A3283-9062-148C-A282-8B852A9E7774}"/>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3EB091F3-C38B-0DFB-CEC2-A6E5E9116374}"/>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6571322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EDFB7-743B-B532-05CF-8183824675B5}"/>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AC069F9D-49E4-6156-6A3D-D9CA43ED508D}"/>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8795F042-A0B9-491C-0BE7-CCE548821CE8}"/>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9B8B98AD-72DE-75B8-6409-0D6CFF20B70D}"/>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E534427F-457E-2C82-3F27-89CA898E71D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a:t>
            </a:r>
          </a:p>
        </p:txBody>
      </p:sp>
      <p:sp>
        <p:nvSpPr>
          <p:cNvPr id="6" name="Footer Placeholder 5">
            <a:extLst>
              <a:ext uri="{FF2B5EF4-FFF2-40B4-BE49-F238E27FC236}">
                <a16:creationId xmlns:a16="http://schemas.microsoft.com/office/drawing/2014/main" id="{A8DC66BF-D710-4E80-E385-3FF28FD5DD91}"/>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B8A6FCE3-9EAF-1C08-0A4C-C41E16783251}"/>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6967700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9402D-E6E1-52AB-8B15-578EA41D47CC}"/>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6D50FF10-13CF-525E-397C-90864EFEC49B}"/>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73C545F6-2564-F352-484B-9DF7E89C2693}"/>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C6B65ECD-1E31-C2D6-9120-ECCA92A4DA4D}"/>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ED3AF233-A3AA-3C34-549E-989BB6629C5F}"/>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a:t>
            </a:r>
          </a:p>
        </p:txBody>
      </p:sp>
      <p:sp>
        <p:nvSpPr>
          <p:cNvPr id="6" name="Footer Placeholder 5">
            <a:extLst>
              <a:ext uri="{FF2B5EF4-FFF2-40B4-BE49-F238E27FC236}">
                <a16:creationId xmlns:a16="http://schemas.microsoft.com/office/drawing/2014/main" id="{C8B2707B-2638-11CF-E95F-DDBE91209708}"/>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8FCC332-E6DC-3D74-EBC9-1E112DBF79E0}"/>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8130104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6550255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A3741-167A-7985-921C-0B463F4404D4}"/>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CB3AB144-6EB6-A773-BC41-D65266C42B61}"/>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C0E360F2-AD49-0D17-5C68-7FE45187AF0F}"/>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5EDA2337-578E-2CC6-92E8-C77A3EE53ACA}"/>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434AAA1C-D045-6F08-28E3-FE25DAFD9623}"/>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p>
        </p:txBody>
      </p:sp>
      <p:sp>
        <p:nvSpPr>
          <p:cNvPr id="6" name="Footer Placeholder 5">
            <a:extLst>
              <a:ext uri="{FF2B5EF4-FFF2-40B4-BE49-F238E27FC236}">
                <a16:creationId xmlns:a16="http://schemas.microsoft.com/office/drawing/2014/main" id="{646B76CA-CC48-05F9-3EFB-4FD3977FFCDD}"/>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F54382B8-4907-6ED1-ECBF-B778695A39EF}"/>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4918588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https://gamma.app/?utm_source=made-with-gamma"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4.png"/><Relationship Id="rId4" Type="http://schemas.openxmlformats.org/officeDocument/2006/relationships/hyperlink" Target="https://gamma.app/?utm_source=made-with-gamma"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hyperlink" Target="https://gamma.app/?utm_source=made-with-gamma"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hyperlink" Target="https://gamma.app/?utm_source=made-with-gamma" TargetMode="External"/></Relationships>
</file>

<file path=ppt/slides/_rels/slide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jpe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hyperlink" Target="https://gamma.app/?utm_source=made-with-gamma" TargetMode="External"/><Relationship Id="rId9"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https://gamma.app/?utm_source=made-with-gamma"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10.png"/><Relationship Id="rId4" Type="http://schemas.openxmlformats.org/officeDocument/2006/relationships/hyperlink" Target="https://gamma.app/?utm_source=made-with-gamma"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11.png"/><Relationship Id="rId4" Type="http://schemas.openxmlformats.org/officeDocument/2006/relationships/hyperlink" Target="https://gamma.app/?utm_source=made-with-gamma"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12.png"/><Relationship Id="rId4" Type="http://schemas.openxmlformats.org/officeDocument/2006/relationships/hyperlink" Target="https://gamma.app/?utm_source=made-with-gamma"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13.jpeg"/><Relationship Id="rId4" Type="http://schemas.openxmlformats.org/officeDocument/2006/relationships/hyperlink" Target="https://gamma.app/?utm_source=made-with-gamma"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14.jpeg"/><Relationship Id="rId4" Type="http://schemas.openxmlformats.org/officeDocument/2006/relationships/hyperlink" Target="https://gamma.app/?utm_source=made-with-gamma"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15.jpeg"/><Relationship Id="rId4" Type="http://schemas.openxmlformats.org/officeDocument/2006/relationships/hyperlink" Target="https://gamma.app/?utm_source=made-with-gamma"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https://gamma.app/?utm_source=made-with-gamma"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https://gamma.app/?utm_source=made-with-gamma"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https://gamma.app/?utm_source=made-with-gamma"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https://gamma.app/?utm_source=made-with-gamma" TargetMode="External"/></Relationships>
</file>

<file path=ppt/slides/_rels/slide1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jpeg"/><Relationship Id="rId7"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https://gamma.app/?utm_source=made-with-gamma" TargetMode="External"/></Relationships>
</file>

<file path=ppt/slides/_rels/slide1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jpeg"/><Relationship Id="rId7"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https://gamma.app/?utm_source=made-with-gamma"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https://gamma.app/?utm_source=made-with-gamma"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https://gamma.app/?utm_source=made-with-gamma"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https://gamma.app/?utm_source=made-with-gamma" TargetMode="External"/></Relationships>
</file>

<file path=ppt/slides/_rels/slide22.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jpeg"/><Relationship Id="rId7"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https://gamma.app/?utm_source=made-with-gamma" TargetMode="External"/></Relationships>
</file>

<file path=ppt/slides/_rels/slide23.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1.jpeg"/><Relationship Id="rId7" Type="http://schemas.openxmlformats.org/officeDocument/2006/relationships/image" Target="../media/image29.png"/><Relationship Id="rId12"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28.png"/><Relationship Id="rId11" Type="http://schemas.openxmlformats.org/officeDocument/2006/relationships/image" Target="../media/image2.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hyperlink" Target="https://gamma.app/?utm_source=made-with-gamma" TargetMode="External"/><Relationship Id="rId9"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https://gamma.app/?utm_source=made-with-gamma"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33.jpeg"/><Relationship Id="rId4" Type="http://schemas.openxmlformats.org/officeDocument/2006/relationships/hyperlink" Target="https://gamma.app/?utm_source=made-with-gamma"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34.png"/><Relationship Id="rId4" Type="http://schemas.openxmlformats.org/officeDocument/2006/relationships/hyperlink" Target="https://gamma.app/?utm_source=made-with-gamma"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https://gamma.app/?utm_source=made-with-gamma"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https://gamma.app/?utm_source=made-with-gamma"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hyperlink" Target="https://gamma.app/?utm_source=made-with-gamma"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7543" cy="10287000"/>
            <a:chOff x="0" y="0"/>
            <a:chExt cx="24383390" cy="13716000"/>
          </a:xfrm>
        </p:grpSpPr>
        <p:sp>
          <p:nvSpPr>
            <p:cNvPr id="3" name="Freeform 3" descr="preencoded.png"/>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lnTo>
                    <a:pt x="0" y="0"/>
                  </a:lnTo>
                  <a:close/>
                </a:path>
              </a:pathLst>
            </a:custGeom>
            <a:blipFill>
              <a:blip r:embed="rId3"/>
              <a:stretch>
                <a:fillRect l="-1" r="-1"/>
              </a:stretch>
            </a:blipFill>
          </p:spPr>
        </p:sp>
      </p:grpSp>
      <p:grpSp>
        <p:nvGrpSpPr>
          <p:cNvPr id="4" name="Group 4"/>
          <p:cNvGrpSpPr/>
          <p:nvPr/>
        </p:nvGrpSpPr>
        <p:grpSpPr>
          <a:xfrm>
            <a:off x="0" y="0"/>
            <a:ext cx="18287543" cy="10287000"/>
            <a:chOff x="0" y="0"/>
            <a:chExt cx="24383390" cy="13716000"/>
          </a:xfrm>
        </p:grpSpPr>
        <p:sp>
          <p:nvSpPr>
            <p:cNvPr id="5" name="Freeform 5"/>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close/>
                </a:path>
              </a:pathLst>
            </a:custGeom>
            <a:solidFill>
              <a:srgbClr val="F9F9FF">
                <a:alpha val="90196"/>
              </a:srgbClr>
            </a:solidFill>
          </p:spPr>
        </p:sp>
      </p:grpSp>
      <p:grpSp>
        <p:nvGrpSpPr>
          <p:cNvPr id="6" name="Group 6"/>
          <p:cNvGrpSpPr/>
          <p:nvPr/>
        </p:nvGrpSpPr>
        <p:grpSpPr>
          <a:xfrm>
            <a:off x="16615315" y="9838487"/>
            <a:ext cx="1607763" cy="384048"/>
            <a:chOff x="0" y="0"/>
            <a:chExt cx="2143684" cy="512064"/>
          </a:xfrm>
        </p:grpSpPr>
        <p:sp>
          <p:nvSpPr>
            <p:cNvPr id="7" name="Freeform 7" descr="preencoded.png">
              <a:hlinkClick r:id="rId4" tooltip="https://gamma.app/?utm_source=made-with-gamma"/>
            </p:cNvPr>
            <p:cNvSpPr/>
            <p:nvPr/>
          </p:nvSpPr>
          <p:spPr>
            <a:xfrm>
              <a:off x="0" y="0"/>
              <a:ext cx="2143633" cy="512064"/>
            </a:xfrm>
            <a:custGeom>
              <a:avLst/>
              <a:gdLst/>
              <a:ahLst/>
              <a:cxnLst/>
              <a:rect l="l" t="t" r="r" b="b"/>
              <a:pathLst>
                <a:path w="2143633" h="512064">
                  <a:moveTo>
                    <a:pt x="0" y="0"/>
                  </a:moveTo>
                  <a:lnTo>
                    <a:pt x="2143633" y="0"/>
                  </a:lnTo>
                  <a:lnTo>
                    <a:pt x="2143633" y="512064"/>
                  </a:lnTo>
                  <a:lnTo>
                    <a:pt x="0" y="512064"/>
                  </a:lnTo>
                  <a:lnTo>
                    <a:pt x="0" y="0"/>
                  </a:lnTo>
                  <a:close/>
                </a:path>
              </a:pathLst>
            </a:custGeom>
            <a:solidFill>
              <a:srgbClr val="F9F9FF"/>
            </a:solidFill>
          </p:spPr>
        </p:sp>
      </p:grpSp>
      <p:sp>
        <p:nvSpPr>
          <p:cNvPr id="8" name="TextBox 8"/>
          <p:cNvSpPr txBox="1"/>
          <p:nvPr/>
        </p:nvSpPr>
        <p:spPr>
          <a:xfrm>
            <a:off x="992210" y="2545404"/>
            <a:ext cx="16606923" cy="2715073"/>
          </a:xfrm>
          <a:prstGeom prst="rect">
            <a:avLst/>
          </a:prstGeom>
        </p:spPr>
        <p:txBody>
          <a:bodyPr lIns="0" tIns="0" rIns="0" bIns="0" rtlCol="0" anchor="t">
            <a:spAutoFit/>
          </a:bodyPr>
          <a:lstStyle/>
          <a:p>
            <a:pPr algn="ctr">
              <a:lnSpc>
                <a:spcPts val="6926"/>
              </a:lnSpc>
            </a:pPr>
            <a:r>
              <a:rPr lang="en-US" sz="5550" b="1">
                <a:solidFill>
                  <a:srgbClr val="1B1B27"/>
                </a:solidFill>
                <a:latin typeface="Times New Roman Bold"/>
                <a:ea typeface="Times New Roman Bold"/>
                <a:cs typeface="Times New Roman Bold"/>
                <a:sym typeface="Times New Roman Bold"/>
              </a:rPr>
              <a:t>DataMesh Connect: Distributed Open Data Collaboration Platform</a:t>
            </a:r>
          </a:p>
        </p:txBody>
      </p:sp>
      <p:sp>
        <p:nvSpPr>
          <p:cNvPr id="9" name="TextBox 9"/>
          <p:cNvSpPr txBox="1"/>
          <p:nvPr/>
        </p:nvSpPr>
        <p:spPr>
          <a:xfrm>
            <a:off x="2653960" y="6205899"/>
            <a:ext cx="9445285" cy="2017814"/>
          </a:xfrm>
          <a:prstGeom prst="rect">
            <a:avLst/>
          </a:prstGeom>
        </p:spPr>
        <p:txBody>
          <a:bodyPr lIns="0" tIns="0" rIns="0" bIns="0" rtlCol="0" anchor="t">
            <a:spAutoFit/>
          </a:bodyPr>
          <a:lstStyle/>
          <a:p>
            <a:pPr algn="l">
              <a:lnSpc>
                <a:spcPts val="5040"/>
              </a:lnSpc>
            </a:pPr>
            <a:r>
              <a:rPr lang="en-US" sz="4200" b="1">
                <a:solidFill>
                  <a:srgbClr val="404155"/>
                </a:solidFill>
                <a:latin typeface="Times New Roman Bold"/>
                <a:ea typeface="Times New Roman Bold"/>
                <a:cs typeface="Times New Roman Bold"/>
                <a:sym typeface="Times New Roman Bold"/>
              </a:rPr>
              <a:t>Guided by </a:t>
            </a:r>
          </a:p>
          <a:p>
            <a:pPr algn="l">
              <a:lnSpc>
                <a:spcPts val="5040"/>
              </a:lnSpc>
            </a:pPr>
            <a:r>
              <a:rPr lang="en-US" sz="4200">
                <a:solidFill>
                  <a:srgbClr val="404155"/>
                </a:solidFill>
                <a:latin typeface="Times New Roman"/>
                <a:ea typeface="Times New Roman"/>
                <a:cs typeface="Times New Roman"/>
                <a:sym typeface="Times New Roman"/>
              </a:rPr>
              <a:t>Dr R Kesavan</a:t>
            </a:r>
          </a:p>
        </p:txBody>
      </p:sp>
      <p:grpSp>
        <p:nvGrpSpPr>
          <p:cNvPr id="10" name="Group 10"/>
          <p:cNvGrpSpPr/>
          <p:nvPr/>
        </p:nvGrpSpPr>
        <p:grpSpPr>
          <a:xfrm>
            <a:off x="289541" y="354149"/>
            <a:ext cx="1579493" cy="1498616"/>
            <a:chOff x="0" y="0"/>
            <a:chExt cx="2105990" cy="1998154"/>
          </a:xfrm>
        </p:grpSpPr>
        <p:sp>
          <p:nvSpPr>
            <p:cNvPr id="11" name="Freeform 11" descr="logo 2.png"/>
            <p:cNvSpPr/>
            <p:nvPr/>
          </p:nvSpPr>
          <p:spPr>
            <a:xfrm>
              <a:off x="0" y="0"/>
              <a:ext cx="2106041" cy="1998218"/>
            </a:xfrm>
            <a:custGeom>
              <a:avLst/>
              <a:gdLst/>
              <a:ahLst/>
              <a:cxnLst/>
              <a:rect l="l" t="t" r="r" b="b"/>
              <a:pathLst>
                <a:path w="2106041" h="1998218">
                  <a:moveTo>
                    <a:pt x="0" y="0"/>
                  </a:moveTo>
                  <a:lnTo>
                    <a:pt x="2106041" y="0"/>
                  </a:lnTo>
                  <a:lnTo>
                    <a:pt x="2106041" y="1998218"/>
                  </a:lnTo>
                  <a:lnTo>
                    <a:pt x="0" y="1998218"/>
                  </a:lnTo>
                  <a:lnTo>
                    <a:pt x="0" y="0"/>
                  </a:lnTo>
                  <a:close/>
                </a:path>
              </a:pathLst>
            </a:custGeom>
            <a:blipFill>
              <a:blip r:embed="rId5"/>
              <a:stretch>
                <a:fillRect t="-140" r="2" b="-136"/>
              </a:stretch>
            </a:blipFill>
          </p:spPr>
        </p:sp>
      </p:grpSp>
      <p:grpSp>
        <p:nvGrpSpPr>
          <p:cNvPr id="12" name="Group 12"/>
          <p:cNvGrpSpPr/>
          <p:nvPr/>
        </p:nvGrpSpPr>
        <p:grpSpPr>
          <a:xfrm>
            <a:off x="16028651" y="237582"/>
            <a:ext cx="1570482" cy="1706528"/>
            <a:chOff x="0" y="0"/>
            <a:chExt cx="2093976" cy="2275370"/>
          </a:xfrm>
        </p:grpSpPr>
        <p:sp>
          <p:nvSpPr>
            <p:cNvPr id="13" name="Freeform 13" descr="logo3.png"/>
            <p:cNvSpPr/>
            <p:nvPr/>
          </p:nvSpPr>
          <p:spPr>
            <a:xfrm>
              <a:off x="0" y="0"/>
              <a:ext cx="2093976" cy="2275332"/>
            </a:xfrm>
            <a:custGeom>
              <a:avLst/>
              <a:gdLst/>
              <a:ahLst/>
              <a:cxnLst/>
              <a:rect l="l" t="t" r="r" b="b"/>
              <a:pathLst>
                <a:path w="2093976" h="2275332">
                  <a:moveTo>
                    <a:pt x="0" y="0"/>
                  </a:moveTo>
                  <a:lnTo>
                    <a:pt x="2093976" y="0"/>
                  </a:lnTo>
                  <a:lnTo>
                    <a:pt x="2093976" y="2275332"/>
                  </a:lnTo>
                  <a:lnTo>
                    <a:pt x="0" y="2275332"/>
                  </a:lnTo>
                  <a:lnTo>
                    <a:pt x="0" y="0"/>
                  </a:lnTo>
                  <a:close/>
                </a:path>
              </a:pathLst>
            </a:custGeom>
            <a:blipFill>
              <a:blip r:embed="rId6"/>
              <a:stretch>
                <a:fillRect t="-30" b="-32"/>
              </a:stretch>
            </a:blipFill>
          </p:spPr>
        </p:sp>
      </p:grpSp>
      <p:sp>
        <p:nvSpPr>
          <p:cNvPr id="14" name="TextBox 14"/>
          <p:cNvSpPr txBox="1"/>
          <p:nvPr/>
        </p:nvSpPr>
        <p:spPr>
          <a:xfrm>
            <a:off x="4575515" y="1631794"/>
            <a:ext cx="9682086" cy="712441"/>
          </a:xfrm>
          <a:prstGeom prst="rect">
            <a:avLst/>
          </a:prstGeom>
        </p:spPr>
        <p:txBody>
          <a:bodyPr lIns="0" tIns="0" rIns="0" bIns="0" rtlCol="0" anchor="t">
            <a:spAutoFit/>
          </a:bodyPr>
          <a:lstStyle/>
          <a:p>
            <a:pPr algn="ctr">
              <a:lnSpc>
                <a:spcPts val="5040"/>
              </a:lnSpc>
            </a:pPr>
            <a:r>
              <a:rPr lang="en-US" sz="4200">
                <a:solidFill>
                  <a:srgbClr val="000000"/>
                </a:solidFill>
                <a:latin typeface="Times New Roman"/>
                <a:ea typeface="Times New Roman"/>
                <a:cs typeface="Times New Roman"/>
                <a:sym typeface="Times New Roman"/>
              </a:rPr>
              <a:t>CAPSTONE PROJECT PRESENTATION</a:t>
            </a:r>
          </a:p>
        </p:txBody>
      </p:sp>
      <p:sp>
        <p:nvSpPr>
          <p:cNvPr id="15" name="TextBox 15"/>
          <p:cNvSpPr txBox="1"/>
          <p:nvPr/>
        </p:nvSpPr>
        <p:spPr>
          <a:xfrm>
            <a:off x="3942474" y="4389358"/>
            <a:ext cx="10948178" cy="1358770"/>
          </a:xfrm>
          <a:prstGeom prst="rect">
            <a:avLst/>
          </a:prstGeom>
        </p:spPr>
        <p:txBody>
          <a:bodyPr lIns="0" tIns="0" rIns="0" bIns="0" rtlCol="0" anchor="t">
            <a:spAutoFit/>
          </a:bodyPr>
          <a:lstStyle/>
          <a:p>
            <a:pPr algn="ctr">
              <a:lnSpc>
                <a:spcPts val="5040"/>
              </a:lnSpc>
            </a:pPr>
            <a:r>
              <a:rPr lang="en-US" sz="4200">
                <a:solidFill>
                  <a:srgbClr val="404155"/>
                </a:solidFill>
                <a:latin typeface="Times New Roman"/>
                <a:ea typeface="Times New Roman"/>
                <a:cs typeface="Times New Roman"/>
                <a:sym typeface="Times New Roman"/>
              </a:rPr>
              <a:t>CSA0509: Database Management Systems</a:t>
            </a:r>
          </a:p>
          <a:p>
            <a:pPr algn="ctr">
              <a:lnSpc>
                <a:spcPts val="5040"/>
              </a:lnSpc>
            </a:pPr>
            <a:endParaRPr lang="en-US" sz="4200">
              <a:solidFill>
                <a:srgbClr val="404155"/>
              </a:solidFill>
              <a:latin typeface="Times New Roman"/>
              <a:ea typeface="Times New Roman"/>
              <a:cs typeface="Times New Roman"/>
              <a:sym typeface="Times New Roman"/>
            </a:endParaRPr>
          </a:p>
        </p:txBody>
      </p:sp>
      <p:sp>
        <p:nvSpPr>
          <p:cNvPr id="16" name="TextBox 16"/>
          <p:cNvSpPr txBox="1"/>
          <p:nvPr/>
        </p:nvSpPr>
        <p:spPr>
          <a:xfrm>
            <a:off x="11380765" y="5915549"/>
            <a:ext cx="5269668" cy="2718330"/>
          </a:xfrm>
          <a:prstGeom prst="rect">
            <a:avLst/>
          </a:prstGeom>
        </p:spPr>
        <p:txBody>
          <a:bodyPr lIns="0" tIns="0" rIns="0" bIns="0" rtlCol="0" anchor="t">
            <a:spAutoFit/>
          </a:bodyPr>
          <a:lstStyle/>
          <a:p>
            <a:pPr algn="l">
              <a:lnSpc>
                <a:spcPts val="6703"/>
              </a:lnSpc>
            </a:pPr>
            <a:r>
              <a:rPr lang="en-US" sz="4200" b="1">
                <a:solidFill>
                  <a:srgbClr val="404155"/>
                </a:solidFill>
                <a:latin typeface="Times New Roman Bold"/>
                <a:ea typeface="Times New Roman Bold"/>
                <a:cs typeface="Times New Roman Bold"/>
                <a:sym typeface="Times New Roman Bold"/>
              </a:rPr>
              <a:t>Presented by </a:t>
            </a:r>
          </a:p>
          <a:p>
            <a:pPr algn="l">
              <a:lnSpc>
                <a:spcPts val="6703"/>
              </a:lnSpc>
            </a:pPr>
            <a:r>
              <a:rPr lang="en-US" sz="4200">
                <a:solidFill>
                  <a:srgbClr val="404155"/>
                </a:solidFill>
                <a:latin typeface="Times New Roman"/>
                <a:ea typeface="Times New Roman"/>
                <a:cs typeface="Times New Roman"/>
                <a:sym typeface="Times New Roman"/>
              </a:rPr>
              <a:t> Reg No: 192520055</a:t>
            </a:r>
          </a:p>
          <a:p>
            <a:pPr algn="l">
              <a:lnSpc>
                <a:spcPts val="6703"/>
              </a:lnSpc>
            </a:pPr>
            <a:r>
              <a:rPr lang="en-US" sz="4200">
                <a:solidFill>
                  <a:srgbClr val="404155"/>
                </a:solidFill>
                <a:latin typeface="Times New Roman"/>
                <a:ea typeface="Times New Roman"/>
                <a:cs typeface="Times New Roman"/>
                <a:sym typeface="Times New Roman"/>
              </a:rPr>
              <a:t>Judy Allen J</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7543" cy="10287000"/>
            <a:chOff x="0" y="0"/>
            <a:chExt cx="24383390" cy="13716000"/>
          </a:xfrm>
        </p:grpSpPr>
        <p:sp>
          <p:nvSpPr>
            <p:cNvPr id="3" name="Freeform 3" descr="preencoded.png"/>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lnTo>
                    <a:pt x="0" y="0"/>
                  </a:lnTo>
                  <a:close/>
                </a:path>
              </a:pathLst>
            </a:custGeom>
            <a:blipFill>
              <a:blip r:embed="rId3"/>
              <a:stretch>
                <a:fillRect l="-1" r="-1"/>
              </a:stretch>
            </a:blipFill>
          </p:spPr>
        </p:sp>
      </p:grpSp>
      <p:grpSp>
        <p:nvGrpSpPr>
          <p:cNvPr id="4" name="Group 4"/>
          <p:cNvGrpSpPr/>
          <p:nvPr/>
        </p:nvGrpSpPr>
        <p:grpSpPr>
          <a:xfrm>
            <a:off x="0" y="0"/>
            <a:ext cx="18287543" cy="10287000"/>
            <a:chOff x="0" y="0"/>
            <a:chExt cx="24383390" cy="13716000"/>
          </a:xfrm>
        </p:grpSpPr>
        <p:sp>
          <p:nvSpPr>
            <p:cNvPr id="5" name="Freeform 5"/>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close/>
                </a:path>
              </a:pathLst>
            </a:custGeom>
            <a:solidFill>
              <a:srgbClr val="F9F9FF">
                <a:alpha val="90196"/>
              </a:srgbClr>
            </a:solidFill>
          </p:spPr>
        </p:sp>
      </p:grpSp>
      <p:grpSp>
        <p:nvGrpSpPr>
          <p:cNvPr id="6" name="Group 6"/>
          <p:cNvGrpSpPr/>
          <p:nvPr/>
        </p:nvGrpSpPr>
        <p:grpSpPr>
          <a:xfrm>
            <a:off x="16615315" y="9838487"/>
            <a:ext cx="1607763" cy="384048"/>
            <a:chOff x="0" y="0"/>
            <a:chExt cx="2143684" cy="512064"/>
          </a:xfrm>
        </p:grpSpPr>
        <p:sp>
          <p:nvSpPr>
            <p:cNvPr id="7" name="Freeform 7" descr="preencoded.png">
              <a:hlinkClick r:id="rId4" tooltip="https://gamma.app/?utm_source=made-with-gamma"/>
            </p:cNvPr>
            <p:cNvSpPr/>
            <p:nvPr/>
          </p:nvSpPr>
          <p:spPr>
            <a:xfrm>
              <a:off x="0" y="0"/>
              <a:ext cx="2143633" cy="512064"/>
            </a:xfrm>
            <a:custGeom>
              <a:avLst/>
              <a:gdLst/>
              <a:ahLst/>
              <a:cxnLst/>
              <a:rect l="l" t="t" r="r" b="b"/>
              <a:pathLst>
                <a:path w="2143633" h="512064">
                  <a:moveTo>
                    <a:pt x="0" y="0"/>
                  </a:moveTo>
                  <a:lnTo>
                    <a:pt x="2143633" y="0"/>
                  </a:lnTo>
                  <a:lnTo>
                    <a:pt x="2143633" y="512064"/>
                  </a:lnTo>
                  <a:lnTo>
                    <a:pt x="0" y="512064"/>
                  </a:lnTo>
                  <a:lnTo>
                    <a:pt x="0" y="0"/>
                  </a:lnTo>
                  <a:close/>
                </a:path>
              </a:pathLst>
            </a:custGeom>
            <a:solidFill>
              <a:srgbClr val="F9F9FF"/>
            </a:solidFill>
          </p:spPr>
        </p:sp>
      </p:grpSp>
      <p:grpSp>
        <p:nvGrpSpPr>
          <p:cNvPr id="8" name="Group 8"/>
          <p:cNvGrpSpPr/>
          <p:nvPr/>
        </p:nvGrpSpPr>
        <p:grpSpPr>
          <a:xfrm>
            <a:off x="0" y="0"/>
            <a:ext cx="6857829" cy="10287000"/>
            <a:chOff x="0" y="0"/>
            <a:chExt cx="9143771" cy="13716000"/>
          </a:xfrm>
        </p:grpSpPr>
        <p:sp>
          <p:nvSpPr>
            <p:cNvPr id="9" name="Freeform 9"/>
            <p:cNvSpPr/>
            <p:nvPr/>
          </p:nvSpPr>
          <p:spPr>
            <a:xfrm>
              <a:off x="0" y="0"/>
              <a:ext cx="9143746" cy="13716000"/>
            </a:xfrm>
            <a:custGeom>
              <a:avLst/>
              <a:gdLst/>
              <a:ahLst/>
              <a:cxnLst/>
              <a:rect l="l" t="t" r="r" b="b"/>
              <a:pathLst>
                <a:path w="9143746" h="13716000">
                  <a:moveTo>
                    <a:pt x="0" y="0"/>
                  </a:moveTo>
                  <a:lnTo>
                    <a:pt x="9143746" y="0"/>
                  </a:lnTo>
                  <a:lnTo>
                    <a:pt x="9143746" y="13716000"/>
                  </a:lnTo>
                  <a:lnTo>
                    <a:pt x="0" y="13716000"/>
                  </a:lnTo>
                  <a:close/>
                </a:path>
              </a:pathLst>
            </a:custGeom>
            <a:solidFill>
              <a:srgbClr val="D2D9F9"/>
            </a:solidFill>
          </p:spPr>
        </p:sp>
      </p:grpSp>
      <p:grpSp>
        <p:nvGrpSpPr>
          <p:cNvPr id="10" name="Group 10"/>
          <p:cNvGrpSpPr/>
          <p:nvPr/>
        </p:nvGrpSpPr>
        <p:grpSpPr>
          <a:xfrm>
            <a:off x="141684" y="212522"/>
            <a:ext cx="6574469" cy="9861947"/>
            <a:chOff x="0" y="0"/>
            <a:chExt cx="8765959" cy="13149262"/>
          </a:xfrm>
        </p:grpSpPr>
        <p:sp>
          <p:nvSpPr>
            <p:cNvPr id="11" name="Freeform 11" descr="preencoded.png"/>
            <p:cNvSpPr/>
            <p:nvPr/>
          </p:nvSpPr>
          <p:spPr>
            <a:xfrm>
              <a:off x="0" y="0"/>
              <a:ext cx="8765921" cy="13149199"/>
            </a:xfrm>
            <a:custGeom>
              <a:avLst/>
              <a:gdLst/>
              <a:ahLst/>
              <a:cxnLst/>
              <a:rect l="l" t="t" r="r" b="b"/>
              <a:pathLst>
                <a:path w="8765921" h="13149199">
                  <a:moveTo>
                    <a:pt x="0" y="0"/>
                  </a:moveTo>
                  <a:lnTo>
                    <a:pt x="8765921" y="0"/>
                  </a:lnTo>
                  <a:lnTo>
                    <a:pt x="8765921" y="13149199"/>
                  </a:lnTo>
                  <a:lnTo>
                    <a:pt x="0" y="13149199"/>
                  </a:lnTo>
                  <a:lnTo>
                    <a:pt x="0" y="0"/>
                  </a:lnTo>
                  <a:close/>
                </a:path>
              </a:pathLst>
            </a:custGeom>
            <a:blipFill>
              <a:blip r:embed="rId5"/>
              <a:stretch>
                <a:fillRect l="-25" r="-25"/>
              </a:stretch>
            </a:blipFill>
          </p:spPr>
        </p:sp>
      </p:grpSp>
      <p:sp>
        <p:nvSpPr>
          <p:cNvPr id="12" name="TextBox 12"/>
          <p:cNvSpPr txBox="1"/>
          <p:nvPr/>
        </p:nvSpPr>
        <p:spPr>
          <a:xfrm>
            <a:off x="7460075" y="2222611"/>
            <a:ext cx="9445285" cy="914552"/>
          </a:xfrm>
          <a:prstGeom prst="rect">
            <a:avLst/>
          </a:prstGeom>
        </p:spPr>
        <p:txBody>
          <a:bodyPr lIns="0" tIns="0" rIns="0" bIns="0" rtlCol="0" anchor="t">
            <a:spAutoFit/>
          </a:bodyPr>
          <a:lstStyle/>
          <a:p>
            <a:pPr algn="ctr">
              <a:lnSpc>
                <a:spcPts val="6926"/>
              </a:lnSpc>
            </a:pPr>
            <a:r>
              <a:rPr lang="en-US" sz="5550">
                <a:solidFill>
                  <a:srgbClr val="1B1B27"/>
                </a:solidFill>
                <a:latin typeface="Corben"/>
                <a:ea typeface="Corben"/>
                <a:cs typeface="Corben"/>
                <a:sym typeface="Corben"/>
              </a:rPr>
              <a:t>Introduction</a:t>
            </a:r>
          </a:p>
        </p:txBody>
      </p:sp>
      <p:sp>
        <p:nvSpPr>
          <p:cNvPr id="13" name="TextBox 13"/>
          <p:cNvSpPr txBox="1"/>
          <p:nvPr/>
        </p:nvSpPr>
        <p:spPr>
          <a:xfrm>
            <a:off x="7460075" y="3330921"/>
            <a:ext cx="10343826" cy="6377854"/>
          </a:xfrm>
          <a:prstGeom prst="rect">
            <a:avLst/>
          </a:prstGeom>
        </p:spPr>
        <p:txBody>
          <a:bodyPr lIns="0" tIns="0" rIns="0" bIns="0" rtlCol="0" anchor="t">
            <a:spAutoFit/>
          </a:bodyPr>
          <a:lstStyle/>
          <a:p>
            <a:pPr marL="542925" lvl="1" indent="-271462" algn="l">
              <a:lnSpc>
                <a:spcPts val="5400"/>
              </a:lnSpc>
              <a:buFont typeface="Arial"/>
              <a:buChar char="•"/>
            </a:pPr>
            <a:r>
              <a:rPr lang="en-US" sz="3000">
                <a:solidFill>
                  <a:srgbClr val="404155"/>
                </a:solidFill>
                <a:latin typeface="Times New Roman"/>
                <a:ea typeface="Times New Roman"/>
                <a:cs typeface="Times New Roman"/>
                <a:sym typeface="Times New Roman"/>
              </a:rPr>
              <a:t> DataMesh Connect is a secure platform for storing, sharing, and managing academic datasets. </a:t>
            </a:r>
          </a:p>
          <a:p>
            <a:pPr marL="542925" lvl="1" indent="-271462" algn="l">
              <a:lnSpc>
                <a:spcPts val="5400"/>
              </a:lnSpc>
              <a:buFont typeface="Arial"/>
              <a:buChar char="•"/>
            </a:pPr>
            <a:r>
              <a:rPr lang="en-US" sz="3000">
                <a:solidFill>
                  <a:srgbClr val="404155"/>
                </a:solidFill>
                <a:latin typeface="Times New Roman"/>
                <a:ea typeface="Times New Roman"/>
                <a:cs typeface="Times New Roman"/>
                <a:sym typeface="Times New Roman"/>
              </a:rPr>
              <a:t>It provides dedicated interfaces for researchers and administrators, enabling dataset submission, controlled discovery, and request-based access to restricted data. </a:t>
            </a:r>
          </a:p>
          <a:p>
            <a:pPr marL="542925" lvl="1" indent="-271462" algn="l">
              <a:lnSpc>
                <a:spcPts val="5400"/>
              </a:lnSpc>
              <a:buFont typeface="Arial"/>
              <a:buChar char="•"/>
            </a:pPr>
            <a:r>
              <a:rPr lang="en-US" sz="3000">
                <a:solidFill>
                  <a:srgbClr val="404155"/>
                </a:solidFill>
                <a:latin typeface="Times New Roman"/>
                <a:ea typeface="Times New Roman"/>
                <a:cs typeface="Times New Roman"/>
                <a:sym typeface="Times New Roman"/>
              </a:rPr>
              <a:t>Authentication and cloud data services are powered by Firebase.</a:t>
            </a:r>
          </a:p>
        </p:txBody>
      </p:sp>
      <p:grpSp>
        <p:nvGrpSpPr>
          <p:cNvPr id="14" name="Group 14"/>
          <p:cNvGrpSpPr/>
          <p:nvPr/>
        </p:nvGrpSpPr>
        <p:grpSpPr>
          <a:xfrm>
            <a:off x="289541" y="354149"/>
            <a:ext cx="1579493" cy="1498616"/>
            <a:chOff x="0" y="0"/>
            <a:chExt cx="2105990" cy="1998154"/>
          </a:xfrm>
        </p:grpSpPr>
        <p:sp>
          <p:nvSpPr>
            <p:cNvPr id="15" name="Freeform 15" descr="logo 2.png"/>
            <p:cNvSpPr/>
            <p:nvPr/>
          </p:nvSpPr>
          <p:spPr>
            <a:xfrm>
              <a:off x="0" y="0"/>
              <a:ext cx="2106041" cy="1998218"/>
            </a:xfrm>
            <a:custGeom>
              <a:avLst/>
              <a:gdLst/>
              <a:ahLst/>
              <a:cxnLst/>
              <a:rect l="l" t="t" r="r" b="b"/>
              <a:pathLst>
                <a:path w="2106041" h="1998218">
                  <a:moveTo>
                    <a:pt x="0" y="0"/>
                  </a:moveTo>
                  <a:lnTo>
                    <a:pt x="2106041" y="0"/>
                  </a:lnTo>
                  <a:lnTo>
                    <a:pt x="2106041" y="1998218"/>
                  </a:lnTo>
                  <a:lnTo>
                    <a:pt x="0" y="1998218"/>
                  </a:lnTo>
                  <a:lnTo>
                    <a:pt x="0" y="0"/>
                  </a:lnTo>
                  <a:close/>
                </a:path>
              </a:pathLst>
            </a:custGeom>
            <a:blipFill>
              <a:blip r:embed="rId6"/>
              <a:stretch>
                <a:fillRect t="-140" r="2" b="-136"/>
              </a:stretch>
            </a:blipFill>
          </p:spPr>
        </p:sp>
      </p:grpSp>
      <p:grpSp>
        <p:nvGrpSpPr>
          <p:cNvPr id="16" name="Group 16"/>
          <p:cNvGrpSpPr/>
          <p:nvPr/>
        </p:nvGrpSpPr>
        <p:grpSpPr>
          <a:xfrm>
            <a:off x="16028651" y="237582"/>
            <a:ext cx="1570482" cy="1706528"/>
            <a:chOff x="0" y="0"/>
            <a:chExt cx="2093976" cy="2275370"/>
          </a:xfrm>
        </p:grpSpPr>
        <p:sp>
          <p:nvSpPr>
            <p:cNvPr id="17" name="Freeform 17" descr="logo3.png"/>
            <p:cNvSpPr/>
            <p:nvPr/>
          </p:nvSpPr>
          <p:spPr>
            <a:xfrm>
              <a:off x="0" y="0"/>
              <a:ext cx="2093976" cy="2275332"/>
            </a:xfrm>
            <a:custGeom>
              <a:avLst/>
              <a:gdLst/>
              <a:ahLst/>
              <a:cxnLst/>
              <a:rect l="l" t="t" r="r" b="b"/>
              <a:pathLst>
                <a:path w="2093976" h="2275332">
                  <a:moveTo>
                    <a:pt x="0" y="0"/>
                  </a:moveTo>
                  <a:lnTo>
                    <a:pt x="2093976" y="0"/>
                  </a:lnTo>
                  <a:lnTo>
                    <a:pt x="2093976" y="2275332"/>
                  </a:lnTo>
                  <a:lnTo>
                    <a:pt x="0" y="2275332"/>
                  </a:lnTo>
                  <a:lnTo>
                    <a:pt x="0" y="0"/>
                  </a:lnTo>
                  <a:close/>
                </a:path>
              </a:pathLst>
            </a:custGeom>
            <a:blipFill>
              <a:blip r:embed="rId7"/>
              <a:stretch>
                <a:fillRect t="-30" b="-32"/>
              </a:stretch>
            </a:blipFill>
          </p:spPr>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7543" cy="10287000"/>
            <a:chOff x="0" y="0"/>
            <a:chExt cx="24383390" cy="13716000"/>
          </a:xfrm>
        </p:grpSpPr>
        <p:sp>
          <p:nvSpPr>
            <p:cNvPr id="3" name="Freeform 3" descr="preencoded.png"/>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lnTo>
                    <a:pt x="0" y="0"/>
                  </a:lnTo>
                  <a:close/>
                </a:path>
              </a:pathLst>
            </a:custGeom>
            <a:blipFill>
              <a:blip r:embed="rId3"/>
              <a:stretch>
                <a:fillRect l="-1" r="-1"/>
              </a:stretch>
            </a:blipFill>
          </p:spPr>
        </p:sp>
      </p:grpSp>
      <p:grpSp>
        <p:nvGrpSpPr>
          <p:cNvPr id="4" name="Group 4"/>
          <p:cNvGrpSpPr/>
          <p:nvPr/>
        </p:nvGrpSpPr>
        <p:grpSpPr>
          <a:xfrm>
            <a:off x="0" y="0"/>
            <a:ext cx="18287543" cy="10287000"/>
            <a:chOff x="0" y="0"/>
            <a:chExt cx="24383390" cy="13716000"/>
          </a:xfrm>
        </p:grpSpPr>
        <p:sp>
          <p:nvSpPr>
            <p:cNvPr id="5" name="Freeform 5"/>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close/>
                </a:path>
              </a:pathLst>
            </a:custGeom>
            <a:solidFill>
              <a:srgbClr val="F9F9FF">
                <a:alpha val="90196"/>
              </a:srgbClr>
            </a:solidFill>
          </p:spPr>
        </p:sp>
      </p:grpSp>
      <p:grpSp>
        <p:nvGrpSpPr>
          <p:cNvPr id="6" name="Group 6"/>
          <p:cNvGrpSpPr/>
          <p:nvPr/>
        </p:nvGrpSpPr>
        <p:grpSpPr>
          <a:xfrm>
            <a:off x="16615315" y="9838487"/>
            <a:ext cx="1607763" cy="384048"/>
            <a:chOff x="0" y="0"/>
            <a:chExt cx="2143684" cy="512064"/>
          </a:xfrm>
        </p:grpSpPr>
        <p:sp>
          <p:nvSpPr>
            <p:cNvPr id="7" name="Freeform 7" descr="preencoded.png">
              <a:hlinkClick r:id="rId4" tooltip="https://gamma.app/?utm_source=made-with-gamma"/>
            </p:cNvPr>
            <p:cNvSpPr/>
            <p:nvPr/>
          </p:nvSpPr>
          <p:spPr>
            <a:xfrm>
              <a:off x="0" y="0"/>
              <a:ext cx="2143633" cy="512064"/>
            </a:xfrm>
            <a:custGeom>
              <a:avLst/>
              <a:gdLst/>
              <a:ahLst/>
              <a:cxnLst/>
              <a:rect l="l" t="t" r="r" b="b"/>
              <a:pathLst>
                <a:path w="2143633" h="512064">
                  <a:moveTo>
                    <a:pt x="0" y="0"/>
                  </a:moveTo>
                  <a:lnTo>
                    <a:pt x="2143633" y="0"/>
                  </a:lnTo>
                  <a:lnTo>
                    <a:pt x="2143633" y="512064"/>
                  </a:lnTo>
                  <a:lnTo>
                    <a:pt x="0" y="512064"/>
                  </a:lnTo>
                  <a:lnTo>
                    <a:pt x="0" y="0"/>
                  </a:lnTo>
                  <a:close/>
                </a:path>
              </a:pathLst>
            </a:custGeom>
            <a:solidFill>
              <a:srgbClr val="F9F9FF"/>
            </a:solidFill>
          </p:spPr>
        </p:sp>
      </p:grpSp>
      <p:sp>
        <p:nvSpPr>
          <p:cNvPr id="8" name="TextBox 8"/>
          <p:cNvSpPr txBox="1"/>
          <p:nvPr/>
        </p:nvSpPr>
        <p:spPr>
          <a:xfrm>
            <a:off x="992210" y="901151"/>
            <a:ext cx="16303114" cy="870347"/>
          </a:xfrm>
          <a:prstGeom prst="rect">
            <a:avLst/>
          </a:prstGeom>
        </p:spPr>
        <p:txBody>
          <a:bodyPr lIns="0" tIns="0" rIns="0" bIns="0" rtlCol="0" anchor="t">
            <a:spAutoFit/>
          </a:bodyPr>
          <a:lstStyle/>
          <a:p>
            <a:pPr algn="ctr">
              <a:lnSpc>
                <a:spcPts val="6552"/>
              </a:lnSpc>
            </a:pPr>
            <a:r>
              <a:rPr lang="en-US" sz="5250">
                <a:solidFill>
                  <a:srgbClr val="1B1B27"/>
                </a:solidFill>
                <a:latin typeface="Corben"/>
                <a:ea typeface="Corben"/>
                <a:cs typeface="Corben"/>
                <a:sym typeface="Corben"/>
              </a:rPr>
              <a:t>Problem Statement</a:t>
            </a:r>
          </a:p>
        </p:txBody>
      </p:sp>
      <p:grpSp>
        <p:nvGrpSpPr>
          <p:cNvPr id="9" name="Group 9"/>
          <p:cNvGrpSpPr/>
          <p:nvPr/>
        </p:nvGrpSpPr>
        <p:grpSpPr>
          <a:xfrm>
            <a:off x="1166632" y="2443162"/>
            <a:ext cx="6625961" cy="6626123"/>
            <a:chOff x="0" y="0"/>
            <a:chExt cx="8834615" cy="8834831"/>
          </a:xfrm>
        </p:grpSpPr>
        <p:sp>
          <p:nvSpPr>
            <p:cNvPr id="10" name="Freeform 10" descr="preencoded.png"/>
            <p:cNvSpPr/>
            <p:nvPr/>
          </p:nvSpPr>
          <p:spPr>
            <a:xfrm>
              <a:off x="0" y="0"/>
              <a:ext cx="8834628" cy="8834882"/>
            </a:xfrm>
            <a:custGeom>
              <a:avLst/>
              <a:gdLst/>
              <a:ahLst/>
              <a:cxnLst/>
              <a:rect l="l" t="t" r="r" b="b"/>
              <a:pathLst>
                <a:path w="8834628" h="8834882">
                  <a:moveTo>
                    <a:pt x="0" y="0"/>
                  </a:moveTo>
                  <a:lnTo>
                    <a:pt x="8834628" y="0"/>
                  </a:lnTo>
                  <a:lnTo>
                    <a:pt x="8834628" y="8834882"/>
                  </a:lnTo>
                  <a:lnTo>
                    <a:pt x="0" y="8834882"/>
                  </a:lnTo>
                  <a:lnTo>
                    <a:pt x="0" y="0"/>
                  </a:lnTo>
                  <a:close/>
                </a:path>
              </a:pathLst>
            </a:custGeom>
            <a:blipFill>
              <a:blip r:embed="rId5"/>
              <a:stretch>
                <a:fillRect l="-1" r="-1"/>
              </a:stretch>
            </a:blipFill>
          </p:spPr>
        </p:sp>
      </p:grpSp>
      <p:grpSp>
        <p:nvGrpSpPr>
          <p:cNvPr id="11" name="Group 11"/>
          <p:cNvGrpSpPr/>
          <p:nvPr/>
        </p:nvGrpSpPr>
        <p:grpSpPr>
          <a:xfrm>
            <a:off x="8027889" y="3820982"/>
            <a:ext cx="9276807" cy="3171225"/>
            <a:chOff x="0" y="0"/>
            <a:chExt cx="12369076" cy="4228300"/>
          </a:xfrm>
        </p:grpSpPr>
        <p:sp>
          <p:nvSpPr>
            <p:cNvPr id="12" name="Freeform 12"/>
            <p:cNvSpPr/>
            <p:nvPr/>
          </p:nvSpPr>
          <p:spPr>
            <a:xfrm>
              <a:off x="0" y="0"/>
              <a:ext cx="12369038" cy="4228338"/>
            </a:xfrm>
            <a:custGeom>
              <a:avLst/>
              <a:gdLst/>
              <a:ahLst/>
              <a:cxnLst/>
              <a:rect l="l" t="t" r="r" b="b"/>
              <a:pathLst>
                <a:path w="12369038" h="4228338">
                  <a:moveTo>
                    <a:pt x="0" y="0"/>
                  </a:moveTo>
                  <a:lnTo>
                    <a:pt x="12369038" y="0"/>
                  </a:lnTo>
                  <a:lnTo>
                    <a:pt x="12369038" y="4228338"/>
                  </a:lnTo>
                  <a:lnTo>
                    <a:pt x="0" y="4228338"/>
                  </a:lnTo>
                  <a:close/>
                </a:path>
              </a:pathLst>
            </a:custGeom>
            <a:solidFill>
              <a:srgbClr val="C9C9C9"/>
            </a:solidFill>
          </p:spPr>
        </p:sp>
        <p:sp>
          <p:nvSpPr>
            <p:cNvPr id="13" name="TextBox 13"/>
            <p:cNvSpPr txBox="1"/>
            <p:nvPr/>
          </p:nvSpPr>
          <p:spPr>
            <a:xfrm>
              <a:off x="0" y="-19050"/>
              <a:ext cx="12369076" cy="4247350"/>
            </a:xfrm>
            <a:prstGeom prst="rect">
              <a:avLst/>
            </a:prstGeom>
          </p:spPr>
          <p:txBody>
            <a:bodyPr lIns="50800" tIns="50800" rIns="50800" bIns="50800" rtlCol="0" anchor="t"/>
            <a:lstStyle/>
            <a:p>
              <a:pPr algn="just">
                <a:lnSpc>
                  <a:spcPts val="2943"/>
                </a:lnSpc>
              </a:pPr>
              <a:r>
                <a:rPr lang="en-US" sz="2358">
                  <a:solidFill>
                    <a:srgbClr val="404155"/>
                  </a:solidFill>
                  <a:latin typeface="Times New Roman"/>
                  <a:ea typeface="Times New Roman"/>
                  <a:cs typeface="Times New Roman"/>
                  <a:sym typeface="Times New Roman"/>
                </a:rPr>
                <a:t>       Many academic repositories lack strong access control, formal dataset verification, and secure sharing workflows. This creates risks: unauthorised access to sensitive data, duplicate or unsafe submissions, and unclear admin oversight.     </a:t>
              </a:r>
            </a:p>
            <a:p>
              <a:pPr algn="just">
                <a:lnSpc>
                  <a:spcPts val="2943"/>
                </a:lnSpc>
              </a:pPr>
              <a:r>
                <a:rPr lang="en-US" sz="2358">
                  <a:solidFill>
                    <a:srgbClr val="404155"/>
                  </a:solidFill>
                  <a:latin typeface="Times New Roman"/>
                  <a:ea typeface="Times New Roman"/>
                  <a:cs typeface="Times New Roman"/>
                  <a:sym typeface="Times New Roman"/>
                </a:rPr>
                <a:t> DataMesh Connect addresses these gaps with role-based controls, submission approval, duplicate and security audits, and a transparent request/approval process.</a:t>
              </a:r>
            </a:p>
          </p:txBody>
        </p:sp>
      </p:grpSp>
      <p:grpSp>
        <p:nvGrpSpPr>
          <p:cNvPr id="14" name="Group 14"/>
          <p:cNvGrpSpPr/>
          <p:nvPr/>
        </p:nvGrpSpPr>
        <p:grpSpPr>
          <a:xfrm>
            <a:off x="289541" y="354149"/>
            <a:ext cx="1579493" cy="1498616"/>
            <a:chOff x="0" y="0"/>
            <a:chExt cx="2105990" cy="1998154"/>
          </a:xfrm>
        </p:grpSpPr>
        <p:sp>
          <p:nvSpPr>
            <p:cNvPr id="15" name="Freeform 15" descr="logo 2.png"/>
            <p:cNvSpPr/>
            <p:nvPr/>
          </p:nvSpPr>
          <p:spPr>
            <a:xfrm>
              <a:off x="0" y="0"/>
              <a:ext cx="2106041" cy="1998218"/>
            </a:xfrm>
            <a:custGeom>
              <a:avLst/>
              <a:gdLst/>
              <a:ahLst/>
              <a:cxnLst/>
              <a:rect l="l" t="t" r="r" b="b"/>
              <a:pathLst>
                <a:path w="2106041" h="1998218">
                  <a:moveTo>
                    <a:pt x="0" y="0"/>
                  </a:moveTo>
                  <a:lnTo>
                    <a:pt x="2106041" y="0"/>
                  </a:lnTo>
                  <a:lnTo>
                    <a:pt x="2106041" y="1998218"/>
                  </a:lnTo>
                  <a:lnTo>
                    <a:pt x="0" y="1998218"/>
                  </a:lnTo>
                  <a:lnTo>
                    <a:pt x="0" y="0"/>
                  </a:lnTo>
                  <a:close/>
                </a:path>
              </a:pathLst>
            </a:custGeom>
            <a:blipFill>
              <a:blip r:embed="rId6"/>
              <a:stretch>
                <a:fillRect t="-140" r="2" b="-136"/>
              </a:stretch>
            </a:blipFill>
          </p:spPr>
        </p:sp>
      </p:grpSp>
      <p:grpSp>
        <p:nvGrpSpPr>
          <p:cNvPr id="16" name="Group 16"/>
          <p:cNvGrpSpPr/>
          <p:nvPr/>
        </p:nvGrpSpPr>
        <p:grpSpPr>
          <a:xfrm>
            <a:off x="16028651" y="237582"/>
            <a:ext cx="1570482" cy="1706528"/>
            <a:chOff x="0" y="0"/>
            <a:chExt cx="2093976" cy="2275370"/>
          </a:xfrm>
        </p:grpSpPr>
        <p:sp>
          <p:nvSpPr>
            <p:cNvPr id="17" name="Freeform 17" descr="logo3.png"/>
            <p:cNvSpPr/>
            <p:nvPr/>
          </p:nvSpPr>
          <p:spPr>
            <a:xfrm>
              <a:off x="0" y="0"/>
              <a:ext cx="2093976" cy="2275332"/>
            </a:xfrm>
            <a:custGeom>
              <a:avLst/>
              <a:gdLst/>
              <a:ahLst/>
              <a:cxnLst/>
              <a:rect l="l" t="t" r="r" b="b"/>
              <a:pathLst>
                <a:path w="2093976" h="2275332">
                  <a:moveTo>
                    <a:pt x="0" y="0"/>
                  </a:moveTo>
                  <a:lnTo>
                    <a:pt x="2093976" y="0"/>
                  </a:lnTo>
                  <a:lnTo>
                    <a:pt x="2093976" y="2275332"/>
                  </a:lnTo>
                  <a:lnTo>
                    <a:pt x="0" y="2275332"/>
                  </a:lnTo>
                  <a:lnTo>
                    <a:pt x="0" y="0"/>
                  </a:lnTo>
                  <a:close/>
                </a:path>
              </a:pathLst>
            </a:custGeom>
            <a:blipFill>
              <a:blip r:embed="rId7"/>
              <a:stretch>
                <a:fillRect t="-30" b="-32"/>
              </a:stretch>
            </a:blipFill>
          </p:spPr>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7543" cy="10287000"/>
            <a:chOff x="0" y="0"/>
            <a:chExt cx="24383390" cy="13716000"/>
          </a:xfrm>
        </p:grpSpPr>
        <p:sp>
          <p:nvSpPr>
            <p:cNvPr id="3" name="Freeform 3" descr="preencoded.png"/>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lnTo>
                    <a:pt x="0" y="0"/>
                  </a:lnTo>
                  <a:close/>
                </a:path>
              </a:pathLst>
            </a:custGeom>
            <a:blipFill>
              <a:blip r:embed="rId3"/>
              <a:stretch>
                <a:fillRect l="-1" r="-1"/>
              </a:stretch>
            </a:blipFill>
          </p:spPr>
        </p:sp>
      </p:grpSp>
      <p:grpSp>
        <p:nvGrpSpPr>
          <p:cNvPr id="4" name="Group 4"/>
          <p:cNvGrpSpPr/>
          <p:nvPr/>
        </p:nvGrpSpPr>
        <p:grpSpPr>
          <a:xfrm>
            <a:off x="0" y="0"/>
            <a:ext cx="18287543" cy="10287000"/>
            <a:chOff x="0" y="0"/>
            <a:chExt cx="24383390" cy="13716000"/>
          </a:xfrm>
        </p:grpSpPr>
        <p:sp>
          <p:nvSpPr>
            <p:cNvPr id="5" name="Freeform 5"/>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close/>
                </a:path>
              </a:pathLst>
            </a:custGeom>
            <a:solidFill>
              <a:srgbClr val="F9F9FF">
                <a:alpha val="90196"/>
              </a:srgbClr>
            </a:solidFill>
          </p:spPr>
        </p:sp>
      </p:grpSp>
      <p:grpSp>
        <p:nvGrpSpPr>
          <p:cNvPr id="6" name="Group 6"/>
          <p:cNvGrpSpPr/>
          <p:nvPr/>
        </p:nvGrpSpPr>
        <p:grpSpPr>
          <a:xfrm>
            <a:off x="16615315" y="9838487"/>
            <a:ext cx="1607763" cy="384048"/>
            <a:chOff x="0" y="0"/>
            <a:chExt cx="2143684" cy="512064"/>
          </a:xfrm>
        </p:grpSpPr>
        <p:sp>
          <p:nvSpPr>
            <p:cNvPr id="7" name="Freeform 7" descr="preencoded.png">
              <a:hlinkClick r:id="rId4" tooltip="https://gamma.app/?utm_source=made-with-gamma"/>
            </p:cNvPr>
            <p:cNvSpPr/>
            <p:nvPr/>
          </p:nvSpPr>
          <p:spPr>
            <a:xfrm>
              <a:off x="0" y="0"/>
              <a:ext cx="2143633" cy="512064"/>
            </a:xfrm>
            <a:custGeom>
              <a:avLst/>
              <a:gdLst/>
              <a:ahLst/>
              <a:cxnLst/>
              <a:rect l="l" t="t" r="r" b="b"/>
              <a:pathLst>
                <a:path w="2143633" h="512064">
                  <a:moveTo>
                    <a:pt x="0" y="0"/>
                  </a:moveTo>
                  <a:lnTo>
                    <a:pt x="2143633" y="0"/>
                  </a:lnTo>
                  <a:lnTo>
                    <a:pt x="2143633" y="512064"/>
                  </a:lnTo>
                  <a:lnTo>
                    <a:pt x="0" y="512064"/>
                  </a:lnTo>
                  <a:lnTo>
                    <a:pt x="0" y="0"/>
                  </a:lnTo>
                  <a:close/>
                </a:path>
              </a:pathLst>
            </a:custGeom>
            <a:solidFill>
              <a:srgbClr val="F9F9FF"/>
            </a:solidFill>
          </p:spPr>
        </p:sp>
      </p:grpSp>
      <p:grpSp>
        <p:nvGrpSpPr>
          <p:cNvPr id="8" name="Group 8"/>
          <p:cNvGrpSpPr/>
          <p:nvPr/>
        </p:nvGrpSpPr>
        <p:grpSpPr>
          <a:xfrm>
            <a:off x="0" y="0"/>
            <a:ext cx="6857829" cy="10287000"/>
            <a:chOff x="0" y="0"/>
            <a:chExt cx="9143771" cy="13716000"/>
          </a:xfrm>
        </p:grpSpPr>
        <p:sp>
          <p:nvSpPr>
            <p:cNvPr id="9" name="Freeform 9"/>
            <p:cNvSpPr/>
            <p:nvPr/>
          </p:nvSpPr>
          <p:spPr>
            <a:xfrm>
              <a:off x="0" y="0"/>
              <a:ext cx="9143746" cy="13716000"/>
            </a:xfrm>
            <a:custGeom>
              <a:avLst/>
              <a:gdLst/>
              <a:ahLst/>
              <a:cxnLst/>
              <a:rect l="l" t="t" r="r" b="b"/>
              <a:pathLst>
                <a:path w="9143746" h="13716000">
                  <a:moveTo>
                    <a:pt x="0" y="0"/>
                  </a:moveTo>
                  <a:lnTo>
                    <a:pt x="9143746" y="0"/>
                  </a:lnTo>
                  <a:lnTo>
                    <a:pt x="9143746" y="13716000"/>
                  </a:lnTo>
                  <a:lnTo>
                    <a:pt x="0" y="13716000"/>
                  </a:lnTo>
                  <a:close/>
                </a:path>
              </a:pathLst>
            </a:custGeom>
            <a:solidFill>
              <a:srgbClr val="D2D9F9"/>
            </a:solidFill>
          </p:spPr>
        </p:sp>
      </p:grpSp>
      <p:grpSp>
        <p:nvGrpSpPr>
          <p:cNvPr id="10" name="Group 10"/>
          <p:cNvGrpSpPr/>
          <p:nvPr/>
        </p:nvGrpSpPr>
        <p:grpSpPr>
          <a:xfrm>
            <a:off x="141684" y="212522"/>
            <a:ext cx="6574469" cy="9861947"/>
            <a:chOff x="0" y="0"/>
            <a:chExt cx="8765959" cy="13149262"/>
          </a:xfrm>
        </p:grpSpPr>
        <p:sp>
          <p:nvSpPr>
            <p:cNvPr id="11" name="Freeform 11" descr="preencoded.png"/>
            <p:cNvSpPr/>
            <p:nvPr/>
          </p:nvSpPr>
          <p:spPr>
            <a:xfrm>
              <a:off x="0" y="0"/>
              <a:ext cx="8765921" cy="13149199"/>
            </a:xfrm>
            <a:custGeom>
              <a:avLst/>
              <a:gdLst/>
              <a:ahLst/>
              <a:cxnLst/>
              <a:rect l="l" t="t" r="r" b="b"/>
              <a:pathLst>
                <a:path w="8765921" h="13149199">
                  <a:moveTo>
                    <a:pt x="0" y="0"/>
                  </a:moveTo>
                  <a:lnTo>
                    <a:pt x="8765921" y="0"/>
                  </a:lnTo>
                  <a:lnTo>
                    <a:pt x="8765921" y="13149199"/>
                  </a:lnTo>
                  <a:lnTo>
                    <a:pt x="0" y="13149199"/>
                  </a:lnTo>
                  <a:lnTo>
                    <a:pt x="0" y="0"/>
                  </a:lnTo>
                  <a:close/>
                </a:path>
              </a:pathLst>
            </a:custGeom>
            <a:blipFill>
              <a:blip r:embed="rId5"/>
              <a:stretch>
                <a:fillRect l="-25" r="-25"/>
              </a:stretch>
            </a:blipFill>
          </p:spPr>
        </p:sp>
      </p:grpSp>
      <p:sp>
        <p:nvSpPr>
          <p:cNvPr id="12" name="TextBox 12"/>
          <p:cNvSpPr txBox="1"/>
          <p:nvPr/>
        </p:nvSpPr>
        <p:spPr>
          <a:xfrm>
            <a:off x="7850038" y="1465812"/>
            <a:ext cx="9445285" cy="914552"/>
          </a:xfrm>
          <a:prstGeom prst="rect">
            <a:avLst/>
          </a:prstGeom>
        </p:spPr>
        <p:txBody>
          <a:bodyPr lIns="0" tIns="0" rIns="0" bIns="0" rtlCol="0" anchor="t">
            <a:spAutoFit/>
          </a:bodyPr>
          <a:lstStyle/>
          <a:p>
            <a:pPr algn="ctr">
              <a:lnSpc>
                <a:spcPts val="6926"/>
              </a:lnSpc>
            </a:pPr>
            <a:r>
              <a:rPr lang="en-US" sz="5550">
                <a:solidFill>
                  <a:srgbClr val="1B1B27"/>
                </a:solidFill>
                <a:latin typeface="Corben"/>
                <a:ea typeface="Corben"/>
                <a:cs typeface="Corben"/>
                <a:sym typeface="Corben"/>
              </a:rPr>
              <a:t>Objectives</a:t>
            </a:r>
          </a:p>
        </p:txBody>
      </p:sp>
      <p:grpSp>
        <p:nvGrpSpPr>
          <p:cNvPr id="13" name="Group 13"/>
          <p:cNvGrpSpPr/>
          <p:nvPr/>
        </p:nvGrpSpPr>
        <p:grpSpPr>
          <a:xfrm>
            <a:off x="7845276" y="2800798"/>
            <a:ext cx="647386" cy="647405"/>
            <a:chOff x="0" y="0"/>
            <a:chExt cx="863181" cy="863206"/>
          </a:xfrm>
        </p:grpSpPr>
        <p:sp>
          <p:nvSpPr>
            <p:cNvPr id="14" name="Freeform 14"/>
            <p:cNvSpPr/>
            <p:nvPr/>
          </p:nvSpPr>
          <p:spPr>
            <a:xfrm>
              <a:off x="0" y="0"/>
              <a:ext cx="863219" cy="863219"/>
            </a:xfrm>
            <a:custGeom>
              <a:avLst/>
              <a:gdLst/>
              <a:ahLst/>
              <a:cxnLst/>
              <a:rect l="l" t="t" r="r" b="b"/>
              <a:pathLst>
                <a:path w="863219" h="863219">
                  <a:moveTo>
                    <a:pt x="0" y="161163"/>
                  </a:moveTo>
                  <a:cubicBezTo>
                    <a:pt x="0" y="72136"/>
                    <a:pt x="72136" y="0"/>
                    <a:pt x="161163" y="0"/>
                  </a:cubicBezTo>
                  <a:lnTo>
                    <a:pt x="702056" y="0"/>
                  </a:lnTo>
                  <a:cubicBezTo>
                    <a:pt x="791083" y="0"/>
                    <a:pt x="863219" y="72136"/>
                    <a:pt x="863219" y="161163"/>
                  </a:cubicBezTo>
                  <a:lnTo>
                    <a:pt x="863219" y="702056"/>
                  </a:lnTo>
                  <a:cubicBezTo>
                    <a:pt x="863219" y="791083"/>
                    <a:pt x="791083" y="863219"/>
                    <a:pt x="702056" y="863219"/>
                  </a:cubicBezTo>
                  <a:lnTo>
                    <a:pt x="161163" y="863219"/>
                  </a:lnTo>
                  <a:cubicBezTo>
                    <a:pt x="72136" y="863219"/>
                    <a:pt x="0" y="791083"/>
                    <a:pt x="0" y="702056"/>
                  </a:cubicBezTo>
                  <a:close/>
                </a:path>
              </a:pathLst>
            </a:custGeom>
            <a:solidFill>
              <a:srgbClr val="D2D9F9"/>
            </a:solidFill>
            <a:ln w="9525" cap="sq">
              <a:solidFill>
                <a:srgbClr val="B8BFDF"/>
              </a:solidFill>
              <a:prstDash val="solid"/>
              <a:miter/>
            </a:ln>
          </p:spPr>
        </p:sp>
      </p:grpSp>
      <p:sp>
        <p:nvSpPr>
          <p:cNvPr id="15" name="TextBox 15"/>
          <p:cNvSpPr txBox="1"/>
          <p:nvPr/>
        </p:nvSpPr>
        <p:spPr>
          <a:xfrm>
            <a:off x="8771411" y="2767460"/>
            <a:ext cx="8523922" cy="481012"/>
          </a:xfrm>
          <a:prstGeom prst="rect">
            <a:avLst/>
          </a:prstGeom>
        </p:spPr>
        <p:txBody>
          <a:bodyPr lIns="0" tIns="0" rIns="0" bIns="0" rtlCol="0" anchor="t">
            <a:spAutoFit/>
          </a:bodyPr>
          <a:lstStyle/>
          <a:p>
            <a:pPr algn="l">
              <a:lnSpc>
                <a:spcPts val="4492"/>
              </a:lnSpc>
            </a:pPr>
            <a:r>
              <a:rPr lang="en-US" sz="3600">
                <a:solidFill>
                  <a:srgbClr val="404155"/>
                </a:solidFill>
                <a:latin typeface="Times New Roman"/>
                <a:ea typeface="Times New Roman"/>
                <a:cs typeface="Times New Roman"/>
                <a:sym typeface="Times New Roman"/>
              </a:rPr>
              <a:t>Secure repository</a:t>
            </a:r>
          </a:p>
        </p:txBody>
      </p:sp>
      <p:sp>
        <p:nvSpPr>
          <p:cNvPr id="16" name="TextBox 16"/>
          <p:cNvSpPr txBox="1"/>
          <p:nvPr/>
        </p:nvSpPr>
        <p:spPr>
          <a:xfrm>
            <a:off x="8771411" y="3449241"/>
            <a:ext cx="8523922" cy="973931"/>
          </a:xfrm>
          <a:prstGeom prst="rect">
            <a:avLst/>
          </a:prstGeom>
        </p:spPr>
        <p:txBody>
          <a:bodyPr lIns="0" tIns="0" rIns="0" bIns="0" rtlCol="0" anchor="t">
            <a:spAutoFit/>
          </a:bodyPr>
          <a:lstStyle/>
          <a:p>
            <a:pPr algn="l">
              <a:lnSpc>
                <a:spcPts val="3447"/>
              </a:lnSpc>
            </a:pPr>
            <a:r>
              <a:rPr lang="en-US" sz="2400">
                <a:solidFill>
                  <a:srgbClr val="404155"/>
                </a:solidFill>
                <a:latin typeface="Times New Roman"/>
                <a:ea typeface="Times New Roman"/>
                <a:cs typeface="Times New Roman"/>
                <a:sym typeface="Times New Roman"/>
              </a:rPr>
              <a:t>Provide a robust system for submitting, storing, and sharing academic datasets with clear status tracking.</a:t>
            </a:r>
          </a:p>
        </p:txBody>
      </p:sp>
      <p:grpSp>
        <p:nvGrpSpPr>
          <p:cNvPr id="17" name="Group 17"/>
          <p:cNvGrpSpPr/>
          <p:nvPr/>
        </p:nvGrpSpPr>
        <p:grpSpPr>
          <a:xfrm>
            <a:off x="7845276" y="4985442"/>
            <a:ext cx="647386" cy="647405"/>
            <a:chOff x="0" y="0"/>
            <a:chExt cx="863181" cy="863206"/>
          </a:xfrm>
        </p:grpSpPr>
        <p:sp>
          <p:nvSpPr>
            <p:cNvPr id="18" name="Freeform 18"/>
            <p:cNvSpPr/>
            <p:nvPr/>
          </p:nvSpPr>
          <p:spPr>
            <a:xfrm>
              <a:off x="0" y="0"/>
              <a:ext cx="863219" cy="863219"/>
            </a:xfrm>
            <a:custGeom>
              <a:avLst/>
              <a:gdLst/>
              <a:ahLst/>
              <a:cxnLst/>
              <a:rect l="l" t="t" r="r" b="b"/>
              <a:pathLst>
                <a:path w="863219" h="863219">
                  <a:moveTo>
                    <a:pt x="0" y="161163"/>
                  </a:moveTo>
                  <a:cubicBezTo>
                    <a:pt x="0" y="72136"/>
                    <a:pt x="72136" y="0"/>
                    <a:pt x="161163" y="0"/>
                  </a:cubicBezTo>
                  <a:lnTo>
                    <a:pt x="702056" y="0"/>
                  </a:lnTo>
                  <a:cubicBezTo>
                    <a:pt x="791083" y="0"/>
                    <a:pt x="863219" y="72136"/>
                    <a:pt x="863219" y="161163"/>
                  </a:cubicBezTo>
                  <a:lnTo>
                    <a:pt x="863219" y="702056"/>
                  </a:lnTo>
                  <a:cubicBezTo>
                    <a:pt x="863219" y="791083"/>
                    <a:pt x="791083" y="863219"/>
                    <a:pt x="702056" y="863219"/>
                  </a:cubicBezTo>
                  <a:lnTo>
                    <a:pt x="161163" y="863219"/>
                  </a:lnTo>
                  <a:cubicBezTo>
                    <a:pt x="72136" y="863219"/>
                    <a:pt x="0" y="791083"/>
                    <a:pt x="0" y="702056"/>
                  </a:cubicBezTo>
                  <a:close/>
                </a:path>
              </a:pathLst>
            </a:custGeom>
            <a:solidFill>
              <a:srgbClr val="D2D9F9"/>
            </a:solidFill>
            <a:ln w="9525" cap="sq">
              <a:solidFill>
                <a:srgbClr val="B8BFDF"/>
              </a:solidFill>
              <a:prstDash val="solid"/>
              <a:miter/>
            </a:ln>
          </p:spPr>
        </p:sp>
      </p:grpSp>
      <p:sp>
        <p:nvSpPr>
          <p:cNvPr id="19" name="TextBox 19"/>
          <p:cNvSpPr txBox="1"/>
          <p:nvPr/>
        </p:nvSpPr>
        <p:spPr>
          <a:xfrm>
            <a:off x="8771411" y="4972555"/>
            <a:ext cx="8523922" cy="481012"/>
          </a:xfrm>
          <a:prstGeom prst="rect">
            <a:avLst/>
          </a:prstGeom>
        </p:spPr>
        <p:txBody>
          <a:bodyPr lIns="0" tIns="0" rIns="0" bIns="0" rtlCol="0" anchor="t">
            <a:spAutoFit/>
          </a:bodyPr>
          <a:lstStyle/>
          <a:p>
            <a:pPr algn="l">
              <a:lnSpc>
                <a:spcPts val="4492"/>
              </a:lnSpc>
            </a:pPr>
            <a:r>
              <a:rPr lang="en-US" sz="3600">
                <a:solidFill>
                  <a:srgbClr val="404155"/>
                </a:solidFill>
                <a:latin typeface="Times New Roman"/>
                <a:ea typeface="Times New Roman"/>
                <a:cs typeface="Times New Roman"/>
                <a:sym typeface="Times New Roman"/>
              </a:rPr>
              <a:t>Role-based access</a:t>
            </a:r>
          </a:p>
        </p:txBody>
      </p:sp>
      <p:sp>
        <p:nvSpPr>
          <p:cNvPr id="20" name="TextBox 20"/>
          <p:cNvSpPr txBox="1"/>
          <p:nvPr/>
        </p:nvSpPr>
        <p:spPr>
          <a:xfrm>
            <a:off x="8771411" y="5633885"/>
            <a:ext cx="8523922" cy="973931"/>
          </a:xfrm>
          <a:prstGeom prst="rect">
            <a:avLst/>
          </a:prstGeom>
        </p:spPr>
        <p:txBody>
          <a:bodyPr lIns="0" tIns="0" rIns="0" bIns="0" rtlCol="0" anchor="t">
            <a:spAutoFit/>
          </a:bodyPr>
          <a:lstStyle/>
          <a:p>
            <a:pPr algn="l">
              <a:lnSpc>
                <a:spcPts val="3447"/>
              </a:lnSpc>
            </a:pPr>
            <a:r>
              <a:rPr lang="en-US" sz="2400">
                <a:solidFill>
                  <a:srgbClr val="404155"/>
                </a:solidFill>
                <a:latin typeface="Times New Roman"/>
                <a:ea typeface="Times New Roman"/>
                <a:cs typeface="Times New Roman"/>
                <a:sym typeface="Times New Roman"/>
              </a:rPr>
              <a:t>Implement distinct researcher and admin interfaces with permissioned actions.</a:t>
            </a:r>
          </a:p>
        </p:txBody>
      </p:sp>
      <p:grpSp>
        <p:nvGrpSpPr>
          <p:cNvPr id="21" name="Group 21"/>
          <p:cNvGrpSpPr/>
          <p:nvPr/>
        </p:nvGrpSpPr>
        <p:grpSpPr>
          <a:xfrm>
            <a:off x="7845276" y="7170096"/>
            <a:ext cx="647386" cy="647405"/>
            <a:chOff x="0" y="0"/>
            <a:chExt cx="863181" cy="863206"/>
          </a:xfrm>
        </p:grpSpPr>
        <p:sp>
          <p:nvSpPr>
            <p:cNvPr id="22" name="Freeform 22"/>
            <p:cNvSpPr/>
            <p:nvPr/>
          </p:nvSpPr>
          <p:spPr>
            <a:xfrm>
              <a:off x="0" y="0"/>
              <a:ext cx="863219" cy="863219"/>
            </a:xfrm>
            <a:custGeom>
              <a:avLst/>
              <a:gdLst/>
              <a:ahLst/>
              <a:cxnLst/>
              <a:rect l="l" t="t" r="r" b="b"/>
              <a:pathLst>
                <a:path w="863219" h="863219">
                  <a:moveTo>
                    <a:pt x="0" y="161163"/>
                  </a:moveTo>
                  <a:cubicBezTo>
                    <a:pt x="0" y="72136"/>
                    <a:pt x="72136" y="0"/>
                    <a:pt x="161163" y="0"/>
                  </a:cubicBezTo>
                  <a:lnTo>
                    <a:pt x="702056" y="0"/>
                  </a:lnTo>
                  <a:cubicBezTo>
                    <a:pt x="791083" y="0"/>
                    <a:pt x="863219" y="72136"/>
                    <a:pt x="863219" y="161163"/>
                  </a:cubicBezTo>
                  <a:lnTo>
                    <a:pt x="863219" y="702056"/>
                  </a:lnTo>
                  <a:cubicBezTo>
                    <a:pt x="863219" y="791083"/>
                    <a:pt x="791083" y="863219"/>
                    <a:pt x="702056" y="863219"/>
                  </a:cubicBezTo>
                  <a:lnTo>
                    <a:pt x="161163" y="863219"/>
                  </a:lnTo>
                  <a:cubicBezTo>
                    <a:pt x="72136" y="863219"/>
                    <a:pt x="0" y="791083"/>
                    <a:pt x="0" y="702056"/>
                  </a:cubicBezTo>
                  <a:close/>
                </a:path>
              </a:pathLst>
            </a:custGeom>
            <a:solidFill>
              <a:srgbClr val="D2D9F9"/>
            </a:solidFill>
            <a:ln w="9525" cap="sq">
              <a:solidFill>
                <a:srgbClr val="B8BFDF"/>
              </a:solidFill>
              <a:prstDash val="solid"/>
              <a:miter/>
            </a:ln>
          </p:spPr>
        </p:sp>
      </p:grpSp>
      <p:sp>
        <p:nvSpPr>
          <p:cNvPr id="23" name="TextBox 23"/>
          <p:cNvSpPr txBox="1"/>
          <p:nvPr/>
        </p:nvSpPr>
        <p:spPr>
          <a:xfrm>
            <a:off x="8771411" y="7136759"/>
            <a:ext cx="8523922" cy="481012"/>
          </a:xfrm>
          <a:prstGeom prst="rect">
            <a:avLst/>
          </a:prstGeom>
        </p:spPr>
        <p:txBody>
          <a:bodyPr lIns="0" tIns="0" rIns="0" bIns="0" rtlCol="0" anchor="t">
            <a:spAutoFit/>
          </a:bodyPr>
          <a:lstStyle/>
          <a:p>
            <a:pPr algn="l">
              <a:lnSpc>
                <a:spcPts val="4492"/>
              </a:lnSpc>
            </a:pPr>
            <a:r>
              <a:rPr lang="en-US" sz="3600">
                <a:solidFill>
                  <a:srgbClr val="404155"/>
                </a:solidFill>
                <a:latin typeface="Times New Roman"/>
                <a:ea typeface="Times New Roman"/>
                <a:cs typeface="Times New Roman"/>
                <a:sym typeface="Times New Roman"/>
              </a:rPr>
              <a:t>Approval &amp; audits</a:t>
            </a:r>
          </a:p>
        </p:txBody>
      </p:sp>
      <p:sp>
        <p:nvSpPr>
          <p:cNvPr id="24" name="TextBox 24"/>
          <p:cNvSpPr txBox="1"/>
          <p:nvPr/>
        </p:nvSpPr>
        <p:spPr>
          <a:xfrm>
            <a:off x="8771411" y="7818539"/>
            <a:ext cx="8523922" cy="973931"/>
          </a:xfrm>
          <a:prstGeom prst="rect">
            <a:avLst/>
          </a:prstGeom>
        </p:spPr>
        <p:txBody>
          <a:bodyPr lIns="0" tIns="0" rIns="0" bIns="0" rtlCol="0" anchor="t">
            <a:spAutoFit/>
          </a:bodyPr>
          <a:lstStyle/>
          <a:p>
            <a:pPr algn="l">
              <a:lnSpc>
                <a:spcPts val="3447"/>
              </a:lnSpc>
            </a:pPr>
            <a:r>
              <a:rPr lang="en-US" sz="2400">
                <a:solidFill>
                  <a:srgbClr val="404155"/>
                </a:solidFill>
                <a:latin typeface="Times New Roman"/>
                <a:ea typeface="Times New Roman"/>
                <a:cs typeface="Times New Roman"/>
                <a:sym typeface="Times New Roman"/>
              </a:rPr>
              <a:t>Enable dataset approval/rejection, restricted-access requests, duplicate detection, and security audits.</a:t>
            </a:r>
          </a:p>
        </p:txBody>
      </p:sp>
      <p:grpSp>
        <p:nvGrpSpPr>
          <p:cNvPr id="25" name="Group 25"/>
          <p:cNvGrpSpPr/>
          <p:nvPr/>
        </p:nvGrpSpPr>
        <p:grpSpPr>
          <a:xfrm>
            <a:off x="289541" y="354149"/>
            <a:ext cx="1579493" cy="1498616"/>
            <a:chOff x="0" y="0"/>
            <a:chExt cx="2105990" cy="1998154"/>
          </a:xfrm>
        </p:grpSpPr>
        <p:sp>
          <p:nvSpPr>
            <p:cNvPr id="26" name="Freeform 26" descr="logo 2.png"/>
            <p:cNvSpPr/>
            <p:nvPr/>
          </p:nvSpPr>
          <p:spPr>
            <a:xfrm>
              <a:off x="0" y="0"/>
              <a:ext cx="2106041" cy="1998218"/>
            </a:xfrm>
            <a:custGeom>
              <a:avLst/>
              <a:gdLst/>
              <a:ahLst/>
              <a:cxnLst/>
              <a:rect l="l" t="t" r="r" b="b"/>
              <a:pathLst>
                <a:path w="2106041" h="1998218">
                  <a:moveTo>
                    <a:pt x="0" y="0"/>
                  </a:moveTo>
                  <a:lnTo>
                    <a:pt x="2106041" y="0"/>
                  </a:lnTo>
                  <a:lnTo>
                    <a:pt x="2106041" y="1998218"/>
                  </a:lnTo>
                  <a:lnTo>
                    <a:pt x="0" y="1998218"/>
                  </a:lnTo>
                  <a:lnTo>
                    <a:pt x="0" y="0"/>
                  </a:lnTo>
                  <a:close/>
                </a:path>
              </a:pathLst>
            </a:custGeom>
            <a:blipFill>
              <a:blip r:embed="rId6"/>
              <a:stretch>
                <a:fillRect t="-140" r="2" b="-136"/>
              </a:stretch>
            </a:blipFill>
          </p:spPr>
        </p:sp>
      </p:grpSp>
      <p:grpSp>
        <p:nvGrpSpPr>
          <p:cNvPr id="27" name="Group 27"/>
          <p:cNvGrpSpPr/>
          <p:nvPr/>
        </p:nvGrpSpPr>
        <p:grpSpPr>
          <a:xfrm>
            <a:off x="16028651" y="237582"/>
            <a:ext cx="1570482" cy="1706528"/>
            <a:chOff x="0" y="0"/>
            <a:chExt cx="2093976" cy="2275370"/>
          </a:xfrm>
        </p:grpSpPr>
        <p:sp>
          <p:nvSpPr>
            <p:cNvPr id="28" name="Freeform 28" descr="logo3.png"/>
            <p:cNvSpPr/>
            <p:nvPr/>
          </p:nvSpPr>
          <p:spPr>
            <a:xfrm>
              <a:off x="0" y="0"/>
              <a:ext cx="2093976" cy="2275332"/>
            </a:xfrm>
            <a:custGeom>
              <a:avLst/>
              <a:gdLst/>
              <a:ahLst/>
              <a:cxnLst/>
              <a:rect l="l" t="t" r="r" b="b"/>
              <a:pathLst>
                <a:path w="2093976" h="2275332">
                  <a:moveTo>
                    <a:pt x="0" y="0"/>
                  </a:moveTo>
                  <a:lnTo>
                    <a:pt x="2093976" y="0"/>
                  </a:lnTo>
                  <a:lnTo>
                    <a:pt x="2093976" y="2275332"/>
                  </a:lnTo>
                  <a:lnTo>
                    <a:pt x="0" y="2275332"/>
                  </a:lnTo>
                  <a:lnTo>
                    <a:pt x="0" y="0"/>
                  </a:lnTo>
                  <a:close/>
                </a:path>
              </a:pathLst>
            </a:custGeom>
            <a:blipFill>
              <a:blip r:embed="rId7"/>
              <a:stretch>
                <a:fillRect t="-30" b="-32"/>
              </a:stretch>
            </a:blipFill>
          </p:spPr>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7543" cy="10287000"/>
            <a:chOff x="0" y="0"/>
            <a:chExt cx="24383390" cy="13716000"/>
          </a:xfrm>
        </p:grpSpPr>
        <p:sp>
          <p:nvSpPr>
            <p:cNvPr id="3" name="Freeform 3" descr="preencoded.png"/>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lnTo>
                    <a:pt x="0" y="0"/>
                  </a:lnTo>
                  <a:close/>
                </a:path>
              </a:pathLst>
            </a:custGeom>
            <a:blipFill>
              <a:blip r:embed="rId3"/>
              <a:stretch>
                <a:fillRect l="-1" r="-1"/>
              </a:stretch>
            </a:blipFill>
          </p:spPr>
        </p:sp>
      </p:grpSp>
      <p:grpSp>
        <p:nvGrpSpPr>
          <p:cNvPr id="4" name="Group 4"/>
          <p:cNvGrpSpPr/>
          <p:nvPr/>
        </p:nvGrpSpPr>
        <p:grpSpPr>
          <a:xfrm>
            <a:off x="0" y="0"/>
            <a:ext cx="18287543" cy="10287000"/>
            <a:chOff x="0" y="0"/>
            <a:chExt cx="24383390" cy="13716000"/>
          </a:xfrm>
        </p:grpSpPr>
        <p:sp>
          <p:nvSpPr>
            <p:cNvPr id="5" name="Freeform 5"/>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close/>
                </a:path>
              </a:pathLst>
            </a:custGeom>
            <a:solidFill>
              <a:srgbClr val="F9F9FF">
                <a:alpha val="90196"/>
              </a:srgbClr>
            </a:solidFill>
          </p:spPr>
        </p:sp>
      </p:grpSp>
      <p:grpSp>
        <p:nvGrpSpPr>
          <p:cNvPr id="6" name="Group 6"/>
          <p:cNvGrpSpPr/>
          <p:nvPr/>
        </p:nvGrpSpPr>
        <p:grpSpPr>
          <a:xfrm>
            <a:off x="16615315" y="9838487"/>
            <a:ext cx="1607763" cy="384048"/>
            <a:chOff x="0" y="0"/>
            <a:chExt cx="2143684" cy="512064"/>
          </a:xfrm>
        </p:grpSpPr>
        <p:sp>
          <p:nvSpPr>
            <p:cNvPr id="7" name="Freeform 7" descr="preencoded.png">
              <a:hlinkClick r:id="rId4" tooltip="https://gamma.app/?utm_source=made-with-gamma"/>
            </p:cNvPr>
            <p:cNvSpPr/>
            <p:nvPr/>
          </p:nvSpPr>
          <p:spPr>
            <a:xfrm>
              <a:off x="0" y="0"/>
              <a:ext cx="2143633" cy="512064"/>
            </a:xfrm>
            <a:custGeom>
              <a:avLst/>
              <a:gdLst/>
              <a:ahLst/>
              <a:cxnLst/>
              <a:rect l="l" t="t" r="r" b="b"/>
              <a:pathLst>
                <a:path w="2143633" h="512064">
                  <a:moveTo>
                    <a:pt x="0" y="0"/>
                  </a:moveTo>
                  <a:lnTo>
                    <a:pt x="2143633" y="0"/>
                  </a:lnTo>
                  <a:lnTo>
                    <a:pt x="2143633" y="512064"/>
                  </a:lnTo>
                  <a:lnTo>
                    <a:pt x="0" y="512064"/>
                  </a:lnTo>
                  <a:lnTo>
                    <a:pt x="0" y="0"/>
                  </a:lnTo>
                  <a:close/>
                </a:path>
              </a:pathLst>
            </a:custGeom>
            <a:solidFill>
              <a:srgbClr val="F9F9FF"/>
            </a:solidFill>
          </p:spPr>
        </p:sp>
      </p:grpSp>
      <p:sp>
        <p:nvSpPr>
          <p:cNvPr id="8" name="TextBox 8"/>
          <p:cNvSpPr txBox="1"/>
          <p:nvPr/>
        </p:nvSpPr>
        <p:spPr>
          <a:xfrm>
            <a:off x="1516647" y="1483890"/>
            <a:ext cx="16303114" cy="914552"/>
          </a:xfrm>
          <a:prstGeom prst="rect">
            <a:avLst/>
          </a:prstGeom>
        </p:spPr>
        <p:txBody>
          <a:bodyPr lIns="0" tIns="0" rIns="0" bIns="0" rtlCol="0" anchor="t">
            <a:spAutoFit/>
          </a:bodyPr>
          <a:lstStyle/>
          <a:p>
            <a:pPr algn="ctr">
              <a:lnSpc>
                <a:spcPts val="6926"/>
              </a:lnSpc>
            </a:pPr>
            <a:r>
              <a:rPr lang="en-US" sz="5550">
                <a:solidFill>
                  <a:srgbClr val="1B1B27"/>
                </a:solidFill>
                <a:latin typeface="Corben"/>
                <a:ea typeface="Corben"/>
                <a:cs typeface="Corben"/>
                <a:sym typeface="Corben"/>
              </a:rPr>
              <a:t>Proposed System — Core Components</a:t>
            </a:r>
          </a:p>
        </p:txBody>
      </p:sp>
      <p:grpSp>
        <p:nvGrpSpPr>
          <p:cNvPr id="9" name="Group 9"/>
          <p:cNvGrpSpPr/>
          <p:nvPr/>
        </p:nvGrpSpPr>
        <p:grpSpPr>
          <a:xfrm>
            <a:off x="992210" y="4202611"/>
            <a:ext cx="1507446" cy="931659"/>
            <a:chOff x="0" y="0"/>
            <a:chExt cx="2009927" cy="1242212"/>
          </a:xfrm>
        </p:grpSpPr>
        <p:sp>
          <p:nvSpPr>
            <p:cNvPr id="10" name="Freeform 10" descr="preencoded.png"/>
            <p:cNvSpPr/>
            <p:nvPr/>
          </p:nvSpPr>
          <p:spPr>
            <a:xfrm>
              <a:off x="0" y="0"/>
              <a:ext cx="2009902" cy="1242187"/>
            </a:xfrm>
            <a:custGeom>
              <a:avLst/>
              <a:gdLst/>
              <a:ahLst/>
              <a:cxnLst/>
              <a:rect l="l" t="t" r="r" b="b"/>
              <a:pathLst>
                <a:path w="2009902" h="1242187">
                  <a:moveTo>
                    <a:pt x="0" y="0"/>
                  </a:moveTo>
                  <a:lnTo>
                    <a:pt x="2009902" y="0"/>
                  </a:lnTo>
                  <a:lnTo>
                    <a:pt x="2009902" y="1242187"/>
                  </a:lnTo>
                  <a:lnTo>
                    <a:pt x="0" y="1242187"/>
                  </a:lnTo>
                  <a:lnTo>
                    <a:pt x="0" y="0"/>
                  </a:lnTo>
                  <a:close/>
                </a:path>
              </a:pathLst>
            </a:custGeom>
            <a:blipFill>
              <a:blip r:embed="rId5"/>
              <a:stretch>
                <a:fillRect l="-137" r="-138" b="-2"/>
              </a:stretch>
            </a:blipFill>
          </p:spPr>
        </p:sp>
      </p:grpSp>
      <p:sp>
        <p:nvSpPr>
          <p:cNvPr id="11" name="TextBox 11"/>
          <p:cNvSpPr txBox="1"/>
          <p:nvPr/>
        </p:nvSpPr>
        <p:spPr>
          <a:xfrm>
            <a:off x="2854004" y="4164511"/>
            <a:ext cx="3336341" cy="481012"/>
          </a:xfrm>
          <a:prstGeom prst="rect">
            <a:avLst/>
          </a:prstGeom>
        </p:spPr>
        <p:txBody>
          <a:bodyPr lIns="0" tIns="0" rIns="0" bIns="0" rtlCol="0" anchor="t">
            <a:spAutoFit/>
          </a:bodyPr>
          <a:lstStyle/>
          <a:p>
            <a:pPr algn="l">
              <a:lnSpc>
                <a:spcPts val="3744"/>
              </a:lnSpc>
            </a:pPr>
            <a:r>
              <a:rPr lang="en-US" sz="3000">
                <a:solidFill>
                  <a:srgbClr val="404155"/>
                </a:solidFill>
                <a:latin typeface="Times New Roman"/>
                <a:ea typeface="Times New Roman"/>
                <a:cs typeface="Times New Roman"/>
                <a:sym typeface="Times New Roman"/>
              </a:rPr>
              <a:t>Researcher Portal</a:t>
            </a:r>
          </a:p>
        </p:txBody>
      </p:sp>
      <p:sp>
        <p:nvSpPr>
          <p:cNvPr id="12" name="TextBox 12"/>
          <p:cNvSpPr txBox="1"/>
          <p:nvPr/>
        </p:nvSpPr>
        <p:spPr>
          <a:xfrm>
            <a:off x="2854004" y="4691805"/>
            <a:ext cx="3336341" cy="2845594"/>
          </a:xfrm>
          <a:prstGeom prst="rect">
            <a:avLst/>
          </a:prstGeom>
        </p:spPr>
        <p:txBody>
          <a:bodyPr lIns="0" tIns="0" rIns="0" bIns="0" rtlCol="0" anchor="t">
            <a:spAutoFit/>
          </a:bodyPr>
          <a:lstStyle/>
          <a:p>
            <a:pPr algn="l">
              <a:lnSpc>
                <a:spcPts val="4309"/>
              </a:lnSpc>
            </a:pPr>
            <a:r>
              <a:rPr lang="en-US" sz="2700">
                <a:solidFill>
                  <a:srgbClr val="404155"/>
                </a:solidFill>
                <a:latin typeface="Times New Roman"/>
                <a:ea typeface="Times New Roman"/>
                <a:cs typeface="Times New Roman"/>
                <a:sym typeface="Times New Roman"/>
              </a:rPr>
              <a:t>Register/login, submit datasets, explore public datasets, request restricted access, and monitor submission status.</a:t>
            </a:r>
          </a:p>
        </p:txBody>
      </p:sp>
      <p:grpSp>
        <p:nvGrpSpPr>
          <p:cNvPr id="13" name="Group 13"/>
          <p:cNvGrpSpPr/>
          <p:nvPr/>
        </p:nvGrpSpPr>
        <p:grpSpPr>
          <a:xfrm>
            <a:off x="6544704" y="4202611"/>
            <a:ext cx="1507446" cy="931659"/>
            <a:chOff x="0" y="0"/>
            <a:chExt cx="2009927" cy="1242212"/>
          </a:xfrm>
        </p:grpSpPr>
        <p:sp>
          <p:nvSpPr>
            <p:cNvPr id="14" name="Freeform 14" descr="preencoded.png"/>
            <p:cNvSpPr/>
            <p:nvPr/>
          </p:nvSpPr>
          <p:spPr>
            <a:xfrm>
              <a:off x="0" y="0"/>
              <a:ext cx="2009902" cy="1242187"/>
            </a:xfrm>
            <a:custGeom>
              <a:avLst/>
              <a:gdLst/>
              <a:ahLst/>
              <a:cxnLst/>
              <a:rect l="l" t="t" r="r" b="b"/>
              <a:pathLst>
                <a:path w="2009902" h="1242187">
                  <a:moveTo>
                    <a:pt x="0" y="0"/>
                  </a:moveTo>
                  <a:lnTo>
                    <a:pt x="2009902" y="0"/>
                  </a:lnTo>
                  <a:lnTo>
                    <a:pt x="2009902" y="1242187"/>
                  </a:lnTo>
                  <a:lnTo>
                    <a:pt x="0" y="1242187"/>
                  </a:lnTo>
                  <a:lnTo>
                    <a:pt x="0" y="0"/>
                  </a:lnTo>
                  <a:close/>
                </a:path>
              </a:pathLst>
            </a:custGeom>
            <a:blipFill>
              <a:blip r:embed="rId6"/>
              <a:stretch>
                <a:fillRect l="-137" r="-138" b="-2"/>
              </a:stretch>
            </a:blipFill>
          </p:spPr>
        </p:sp>
      </p:grpSp>
      <p:sp>
        <p:nvSpPr>
          <p:cNvPr id="15" name="TextBox 15"/>
          <p:cNvSpPr txBox="1"/>
          <p:nvPr/>
        </p:nvSpPr>
        <p:spPr>
          <a:xfrm>
            <a:off x="8406498" y="4164511"/>
            <a:ext cx="3336341" cy="481012"/>
          </a:xfrm>
          <a:prstGeom prst="rect">
            <a:avLst/>
          </a:prstGeom>
        </p:spPr>
        <p:txBody>
          <a:bodyPr lIns="0" tIns="0" rIns="0" bIns="0" rtlCol="0" anchor="t">
            <a:spAutoFit/>
          </a:bodyPr>
          <a:lstStyle/>
          <a:p>
            <a:pPr algn="l">
              <a:lnSpc>
                <a:spcPts val="3744"/>
              </a:lnSpc>
            </a:pPr>
            <a:r>
              <a:rPr lang="en-US" sz="3000">
                <a:solidFill>
                  <a:srgbClr val="404155"/>
                </a:solidFill>
                <a:latin typeface="Times New Roman"/>
                <a:ea typeface="Times New Roman"/>
                <a:cs typeface="Times New Roman"/>
                <a:sym typeface="Times New Roman"/>
              </a:rPr>
              <a:t>Admin Portal</a:t>
            </a:r>
          </a:p>
        </p:txBody>
      </p:sp>
      <p:sp>
        <p:nvSpPr>
          <p:cNvPr id="16" name="TextBox 16"/>
          <p:cNvSpPr txBox="1"/>
          <p:nvPr/>
        </p:nvSpPr>
        <p:spPr>
          <a:xfrm>
            <a:off x="8406498" y="4691805"/>
            <a:ext cx="3336341" cy="2391966"/>
          </a:xfrm>
          <a:prstGeom prst="rect">
            <a:avLst/>
          </a:prstGeom>
        </p:spPr>
        <p:txBody>
          <a:bodyPr lIns="0" tIns="0" rIns="0" bIns="0" rtlCol="0" anchor="t">
            <a:spAutoFit/>
          </a:bodyPr>
          <a:lstStyle/>
          <a:p>
            <a:pPr algn="l">
              <a:lnSpc>
                <a:spcPts val="4309"/>
              </a:lnSpc>
            </a:pPr>
            <a:r>
              <a:rPr lang="en-US" sz="2700">
                <a:solidFill>
                  <a:srgbClr val="404155"/>
                </a:solidFill>
                <a:latin typeface="Times New Roman"/>
                <a:ea typeface="Times New Roman"/>
                <a:cs typeface="Times New Roman"/>
                <a:sym typeface="Times New Roman"/>
              </a:rPr>
              <a:t>Review submissions and access requests, approve/reject, manage users, and run security &amp; duplicate audits.</a:t>
            </a:r>
          </a:p>
        </p:txBody>
      </p:sp>
      <p:grpSp>
        <p:nvGrpSpPr>
          <p:cNvPr id="17" name="Group 17"/>
          <p:cNvGrpSpPr/>
          <p:nvPr/>
        </p:nvGrpSpPr>
        <p:grpSpPr>
          <a:xfrm>
            <a:off x="12097188" y="4202611"/>
            <a:ext cx="1507446" cy="931659"/>
            <a:chOff x="0" y="0"/>
            <a:chExt cx="2009927" cy="1242212"/>
          </a:xfrm>
        </p:grpSpPr>
        <p:sp>
          <p:nvSpPr>
            <p:cNvPr id="18" name="Freeform 18" descr="preencoded.png"/>
            <p:cNvSpPr/>
            <p:nvPr/>
          </p:nvSpPr>
          <p:spPr>
            <a:xfrm>
              <a:off x="0" y="0"/>
              <a:ext cx="2009902" cy="1242187"/>
            </a:xfrm>
            <a:custGeom>
              <a:avLst/>
              <a:gdLst/>
              <a:ahLst/>
              <a:cxnLst/>
              <a:rect l="l" t="t" r="r" b="b"/>
              <a:pathLst>
                <a:path w="2009902" h="1242187">
                  <a:moveTo>
                    <a:pt x="0" y="0"/>
                  </a:moveTo>
                  <a:lnTo>
                    <a:pt x="2009902" y="0"/>
                  </a:lnTo>
                  <a:lnTo>
                    <a:pt x="2009902" y="1242187"/>
                  </a:lnTo>
                  <a:lnTo>
                    <a:pt x="0" y="1242187"/>
                  </a:lnTo>
                  <a:lnTo>
                    <a:pt x="0" y="0"/>
                  </a:lnTo>
                  <a:close/>
                </a:path>
              </a:pathLst>
            </a:custGeom>
            <a:blipFill>
              <a:blip r:embed="rId7"/>
              <a:stretch>
                <a:fillRect l="-137" r="-138" b="-2"/>
              </a:stretch>
            </a:blipFill>
          </p:spPr>
        </p:sp>
      </p:grpSp>
      <p:sp>
        <p:nvSpPr>
          <p:cNvPr id="19" name="TextBox 19"/>
          <p:cNvSpPr txBox="1"/>
          <p:nvPr/>
        </p:nvSpPr>
        <p:spPr>
          <a:xfrm>
            <a:off x="13958983" y="4164511"/>
            <a:ext cx="3336341" cy="481012"/>
          </a:xfrm>
          <a:prstGeom prst="rect">
            <a:avLst/>
          </a:prstGeom>
        </p:spPr>
        <p:txBody>
          <a:bodyPr lIns="0" tIns="0" rIns="0" bIns="0" rtlCol="0" anchor="t">
            <a:spAutoFit/>
          </a:bodyPr>
          <a:lstStyle/>
          <a:p>
            <a:pPr algn="l">
              <a:lnSpc>
                <a:spcPts val="3744"/>
              </a:lnSpc>
            </a:pPr>
            <a:r>
              <a:rPr lang="en-US" sz="3000">
                <a:solidFill>
                  <a:srgbClr val="404155"/>
                </a:solidFill>
                <a:latin typeface="Times New Roman"/>
                <a:ea typeface="Times New Roman"/>
                <a:cs typeface="Times New Roman"/>
                <a:sym typeface="Times New Roman"/>
              </a:rPr>
              <a:t>Backend Services</a:t>
            </a:r>
          </a:p>
        </p:txBody>
      </p:sp>
      <p:sp>
        <p:nvSpPr>
          <p:cNvPr id="20" name="TextBox 20"/>
          <p:cNvSpPr txBox="1"/>
          <p:nvPr/>
        </p:nvSpPr>
        <p:spPr>
          <a:xfrm>
            <a:off x="13958983" y="4691805"/>
            <a:ext cx="3336341" cy="2391966"/>
          </a:xfrm>
          <a:prstGeom prst="rect">
            <a:avLst/>
          </a:prstGeom>
        </p:spPr>
        <p:txBody>
          <a:bodyPr lIns="0" tIns="0" rIns="0" bIns="0" rtlCol="0" anchor="t">
            <a:spAutoFit/>
          </a:bodyPr>
          <a:lstStyle/>
          <a:p>
            <a:pPr algn="l">
              <a:lnSpc>
                <a:spcPts val="4309"/>
              </a:lnSpc>
            </a:pPr>
            <a:r>
              <a:rPr lang="en-US" sz="2700">
                <a:solidFill>
                  <a:srgbClr val="404155"/>
                </a:solidFill>
                <a:latin typeface="Times New Roman"/>
                <a:ea typeface="Times New Roman"/>
                <a:cs typeface="Times New Roman"/>
                <a:sym typeface="Times New Roman"/>
              </a:rPr>
              <a:t>Firebase Authentication for identity, Firestore for dataset and request storage, and server rules for access enforcement.</a:t>
            </a:r>
          </a:p>
        </p:txBody>
      </p:sp>
      <p:grpSp>
        <p:nvGrpSpPr>
          <p:cNvPr id="21" name="Group 21"/>
          <p:cNvGrpSpPr/>
          <p:nvPr/>
        </p:nvGrpSpPr>
        <p:grpSpPr>
          <a:xfrm>
            <a:off x="289541" y="354149"/>
            <a:ext cx="1579493" cy="1498616"/>
            <a:chOff x="0" y="0"/>
            <a:chExt cx="2105990" cy="1998154"/>
          </a:xfrm>
        </p:grpSpPr>
        <p:sp>
          <p:nvSpPr>
            <p:cNvPr id="22" name="Freeform 22" descr="logo 2.png"/>
            <p:cNvSpPr/>
            <p:nvPr/>
          </p:nvSpPr>
          <p:spPr>
            <a:xfrm>
              <a:off x="0" y="0"/>
              <a:ext cx="2106041" cy="1998218"/>
            </a:xfrm>
            <a:custGeom>
              <a:avLst/>
              <a:gdLst/>
              <a:ahLst/>
              <a:cxnLst/>
              <a:rect l="l" t="t" r="r" b="b"/>
              <a:pathLst>
                <a:path w="2106041" h="1998218">
                  <a:moveTo>
                    <a:pt x="0" y="0"/>
                  </a:moveTo>
                  <a:lnTo>
                    <a:pt x="2106041" y="0"/>
                  </a:lnTo>
                  <a:lnTo>
                    <a:pt x="2106041" y="1998218"/>
                  </a:lnTo>
                  <a:lnTo>
                    <a:pt x="0" y="1998218"/>
                  </a:lnTo>
                  <a:lnTo>
                    <a:pt x="0" y="0"/>
                  </a:lnTo>
                  <a:close/>
                </a:path>
              </a:pathLst>
            </a:custGeom>
            <a:blipFill>
              <a:blip r:embed="rId8"/>
              <a:stretch>
                <a:fillRect t="-140" r="2" b="-136"/>
              </a:stretch>
            </a:blipFill>
          </p:spPr>
        </p:sp>
      </p:grpSp>
      <p:grpSp>
        <p:nvGrpSpPr>
          <p:cNvPr id="23" name="Group 23"/>
          <p:cNvGrpSpPr/>
          <p:nvPr/>
        </p:nvGrpSpPr>
        <p:grpSpPr>
          <a:xfrm>
            <a:off x="16028651" y="237582"/>
            <a:ext cx="1570482" cy="1706528"/>
            <a:chOff x="0" y="0"/>
            <a:chExt cx="2093976" cy="2275370"/>
          </a:xfrm>
        </p:grpSpPr>
        <p:sp>
          <p:nvSpPr>
            <p:cNvPr id="24" name="Freeform 24" descr="logo3.png"/>
            <p:cNvSpPr/>
            <p:nvPr/>
          </p:nvSpPr>
          <p:spPr>
            <a:xfrm>
              <a:off x="0" y="0"/>
              <a:ext cx="2093976" cy="2275332"/>
            </a:xfrm>
            <a:custGeom>
              <a:avLst/>
              <a:gdLst/>
              <a:ahLst/>
              <a:cxnLst/>
              <a:rect l="l" t="t" r="r" b="b"/>
              <a:pathLst>
                <a:path w="2093976" h="2275332">
                  <a:moveTo>
                    <a:pt x="0" y="0"/>
                  </a:moveTo>
                  <a:lnTo>
                    <a:pt x="2093976" y="0"/>
                  </a:lnTo>
                  <a:lnTo>
                    <a:pt x="2093976" y="2275332"/>
                  </a:lnTo>
                  <a:lnTo>
                    <a:pt x="0" y="2275332"/>
                  </a:lnTo>
                  <a:lnTo>
                    <a:pt x="0" y="0"/>
                  </a:lnTo>
                  <a:close/>
                </a:path>
              </a:pathLst>
            </a:custGeom>
            <a:blipFill>
              <a:blip r:embed="rId9"/>
              <a:stretch>
                <a:fillRect t="-30" b="-32"/>
              </a:stretch>
            </a:blipFill>
          </p:spPr>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7543" cy="10287000"/>
            <a:chOff x="0" y="0"/>
            <a:chExt cx="24383390" cy="13716000"/>
          </a:xfrm>
        </p:grpSpPr>
        <p:sp>
          <p:nvSpPr>
            <p:cNvPr id="3" name="Freeform 3" descr="preencoded.png"/>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lnTo>
                    <a:pt x="0" y="0"/>
                  </a:lnTo>
                  <a:close/>
                </a:path>
              </a:pathLst>
            </a:custGeom>
            <a:blipFill>
              <a:blip r:embed="rId3"/>
              <a:stretch>
                <a:fillRect l="-1" r="-1"/>
              </a:stretch>
            </a:blipFill>
          </p:spPr>
        </p:sp>
      </p:grpSp>
      <p:grpSp>
        <p:nvGrpSpPr>
          <p:cNvPr id="4" name="Group 4"/>
          <p:cNvGrpSpPr/>
          <p:nvPr/>
        </p:nvGrpSpPr>
        <p:grpSpPr>
          <a:xfrm>
            <a:off x="0" y="0"/>
            <a:ext cx="18287543" cy="10287000"/>
            <a:chOff x="0" y="0"/>
            <a:chExt cx="24383390" cy="13716000"/>
          </a:xfrm>
        </p:grpSpPr>
        <p:sp>
          <p:nvSpPr>
            <p:cNvPr id="5" name="Freeform 5"/>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close/>
                </a:path>
              </a:pathLst>
            </a:custGeom>
            <a:solidFill>
              <a:srgbClr val="F9F9FF">
                <a:alpha val="90196"/>
              </a:srgbClr>
            </a:solidFill>
          </p:spPr>
        </p:sp>
      </p:grpSp>
      <p:grpSp>
        <p:nvGrpSpPr>
          <p:cNvPr id="6" name="Group 6"/>
          <p:cNvGrpSpPr/>
          <p:nvPr/>
        </p:nvGrpSpPr>
        <p:grpSpPr>
          <a:xfrm>
            <a:off x="16615315" y="9838487"/>
            <a:ext cx="1607763" cy="384048"/>
            <a:chOff x="0" y="0"/>
            <a:chExt cx="2143684" cy="512064"/>
          </a:xfrm>
        </p:grpSpPr>
        <p:sp>
          <p:nvSpPr>
            <p:cNvPr id="7" name="Freeform 7" descr="preencoded.png">
              <a:hlinkClick r:id="rId4" tooltip="https://gamma.app/?utm_source=made-with-gamma"/>
            </p:cNvPr>
            <p:cNvSpPr/>
            <p:nvPr/>
          </p:nvSpPr>
          <p:spPr>
            <a:xfrm>
              <a:off x="0" y="0"/>
              <a:ext cx="2143633" cy="512064"/>
            </a:xfrm>
            <a:custGeom>
              <a:avLst/>
              <a:gdLst/>
              <a:ahLst/>
              <a:cxnLst/>
              <a:rect l="l" t="t" r="r" b="b"/>
              <a:pathLst>
                <a:path w="2143633" h="512064">
                  <a:moveTo>
                    <a:pt x="0" y="0"/>
                  </a:moveTo>
                  <a:lnTo>
                    <a:pt x="2143633" y="0"/>
                  </a:lnTo>
                  <a:lnTo>
                    <a:pt x="2143633" y="512064"/>
                  </a:lnTo>
                  <a:lnTo>
                    <a:pt x="0" y="512064"/>
                  </a:lnTo>
                  <a:lnTo>
                    <a:pt x="0" y="0"/>
                  </a:lnTo>
                  <a:close/>
                </a:path>
              </a:pathLst>
            </a:custGeom>
            <a:solidFill>
              <a:srgbClr val="F9F9FF"/>
            </a:solidFill>
          </p:spPr>
        </p:sp>
      </p:grpSp>
      <p:sp>
        <p:nvSpPr>
          <p:cNvPr id="8" name="TextBox 8"/>
          <p:cNvSpPr txBox="1"/>
          <p:nvPr/>
        </p:nvSpPr>
        <p:spPr>
          <a:xfrm>
            <a:off x="1347607" y="1531058"/>
            <a:ext cx="16303114" cy="914552"/>
          </a:xfrm>
          <a:prstGeom prst="rect">
            <a:avLst/>
          </a:prstGeom>
        </p:spPr>
        <p:txBody>
          <a:bodyPr lIns="0" tIns="0" rIns="0" bIns="0" rtlCol="0" anchor="t">
            <a:spAutoFit/>
          </a:bodyPr>
          <a:lstStyle/>
          <a:p>
            <a:pPr algn="ctr">
              <a:lnSpc>
                <a:spcPts val="6926"/>
              </a:lnSpc>
            </a:pPr>
            <a:r>
              <a:rPr lang="en-US" sz="5550">
                <a:solidFill>
                  <a:srgbClr val="1B1B27"/>
                </a:solidFill>
                <a:latin typeface="Corben"/>
                <a:ea typeface="Corben"/>
                <a:cs typeface="Corben"/>
                <a:sym typeface="Corben"/>
              </a:rPr>
              <a:t>Modules — User &amp; Admin Workflows</a:t>
            </a:r>
          </a:p>
        </p:txBody>
      </p:sp>
      <p:sp>
        <p:nvSpPr>
          <p:cNvPr id="9" name="TextBox 9"/>
          <p:cNvSpPr txBox="1"/>
          <p:nvPr/>
        </p:nvSpPr>
        <p:spPr>
          <a:xfrm>
            <a:off x="1507579" y="3425504"/>
            <a:ext cx="7805690" cy="481012"/>
          </a:xfrm>
          <a:prstGeom prst="rect">
            <a:avLst/>
          </a:prstGeom>
        </p:spPr>
        <p:txBody>
          <a:bodyPr lIns="0" tIns="0" rIns="0" bIns="0" rtlCol="0" anchor="t">
            <a:spAutoFit/>
          </a:bodyPr>
          <a:lstStyle/>
          <a:p>
            <a:pPr algn="l">
              <a:lnSpc>
                <a:spcPts val="3744"/>
              </a:lnSpc>
            </a:pPr>
            <a:r>
              <a:rPr lang="en-US" sz="3000">
                <a:solidFill>
                  <a:srgbClr val="1B1B27"/>
                </a:solidFill>
                <a:latin typeface="Times New Roman"/>
                <a:ea typeface="Times New Roman"/>
                <a:cs typeface="Times New Roman"/>
                <a:sym typeface="Times New Roman"/>
              </a:rPr>
              <a:t>USER</a:t>
            </a:r>
          </a:p>
        </p:txBody>
      </p:sp>
      <p:sp>
        <p:nvSpPr>
          <p:cNvPr id="10" name="TextBox 10"/>
          <p:cNvSpPr txBox="1"/>
          <p:nvPr/>
        </p:nvSpPr>
        <p:spPr>
          <a:xfrm>
            <a:off x="1301496" y="4201506"/>
            <a:ext cx="7805690" cy="2160089"/>
          </a:xfrm>
          <a:prstGeom prst="rect">
            <a:avLst/>
          </a:prstGeom>
        </p:spPr>
        <p:txBody>
          <a:bodyPr lIns="0" tIns="0" rIns="0" bIns="0" rtlCol="0" anchor="t">
            <a:spAutoFit/>
          </a:bodyPr>
          <a:lstStyle/>
          <a:p>
            <a:pPr marL="488632" lvl="1" indent="-244316" algn="l">
              <a:lnSpc>
                <a:spcPts val="4309"/>
              </a:lnSpc>
              <a:buFont typeface="Arial"/>
              <a:buChar char="•"/>
            </a:pPr>
            <a:r>
              <a:rPr lang="en-US" sz="2700">
                <a:solidFill>
                  <a:srgbClr val="404155"/>
                </a:solidFill>
                <a:latin typeface="Times New Roman"/>
                <a:ea typeface="Times New Roman"/>
                <a:cs typeface="Times New Roman"/>
                <a:sym typeface="Times New Roman"/>
              </a:rPr>
              <a:t>Register / Login</a:t>
            </a:r>
          </a:p>
          <a:p>
            <a:pPr marL="488632" lvl="1" indent="-244316" algn="l">
              <a:lnSpc>
                <a:spcPts val="4309"/>
              </a:lnSpc>
              <a:buFont typeface="Arial"/>
              <a:buChar char="•"/>
            </a:pPr>
            <a:r>
              <a:rPr lang="en-US" sz="2700">
                <a:solidFill>
                  <a:srgbClr val="404155"/>
                </a:solidFill>
                <a:latin typeface="Times New Roman"/>
                <a:ea typeface="Times New Roman"/>
                <a:cs typeface="Times New Roman"/>
                <a:sym typeface="Times New Roman"/>
              </a:rPr>
              <a:t>Explore datasets (search &amp; filters)</a:t>
            </a:r>
          </a:p>
          <a:p>
            <a:pPr marL="488632" lvl="1" indent="-244316" algn="l">
              <a:lnSpc>
                <a:spcPts val="4309"/>
              </a:lnSpc>
              <a:buFont typeface="Arial"/>
              <a:buChar char="•"/>
            </a:pPr>
            <a:r>
              <a:rPr lang="en-US" sz="2700">
                <a:solidFill>
                  <a:srgbClr val="404155"/>
                </a:solidFill>
                <a:latin typeface="Times New Roman"/>
                <a:ea typeface="Times New Roman"/>
                <a:cs typeface="Times New Roman"/>
                <a:sym typeface="Times New Roman"/>
              </a:rPr>
              <a:t>Submit datasets with metadata</a:t>
            </a:r>
          </a:p>
          <a:p>
            <a:pPr marL="488632" lvl="1" indent="-244316" algn="l">
              <a:lnSpc>
                <a:spcPts val="4309"/>
              </a:lnSpc>
              <a:buFont typeface="Arial"/>
              <a:buChar char="•"/>
            </a:pPr>
            <a:r>
              <a:rPr lang="en-US" sz="2700">
                <a:solidFill>
                  <a:srgbClr val="404155"/>
                </a:solidFill>
                <a:latin typeface="Times New Roman"/>
                <a:ea typeface="Times New Roman"/>
                <a:cs typeface="Times New Roman"/>
                <a:sym typeface="Times New Roman"/>
              </a:rPr>
              <a:t>Request restricted access &amp; track requests</a:t>
            </a:r>
          </a:p>
        </p:txBody>
      </p:sp>
      <p:sp>
        <p:nvSpPr>
          <p:cNvPr id="11" name="TextBox 11"/>
          <p:cNvSpPr txBox="1"/>
          <p:nvPr/>
        </p:nvSpPr>
        <p:spPr>
          <a:xfrm>
            <a:off x="9284018" y="3425504"/>
            <a:ext cx="7805690" cy="481012"/>
          </a:xfrm>
          <a:prstGeom prst="rect">
            <a:avLst/>
          </a:prstGeom>
        </p:spPr>
        <p:txBody>
          <a:bodyPr lIns="0" tIns="0" rIns="0" bIns="0" rtlCol="0" anchor="t">
            <a:spAutoFit/>
          </a:bodyPr>
          <a:lstStyle/>
          <a:p>
            <a:pPr algn="l">
              <a:lnSpc>
                <a:spcPts val="3744"/>
              </a:lnSpc>
            </a:pPr>
            <a:r>
              <a:rPr lang="en-US" sz="3000">
                <a:solidFill>
                  <a:srgbClr val="1B1B27"/>
                </a:solidFill>
                <a:latin typeface="Times New Roman"/>
                <a:ea typeface="Times New Roman"/>
                <a:cs typeface="Times New Roman"/>
                <a:sym typeface="Times New Roman"/>
              </a:rPr>
              <a:t>ADMIN</a:t>
            </a:r>
          </a:p>
        </p:txBody>
      </p:sp>
      <p:sp>
        <p:nvSpPr>
          <p:cNvPr id="12" name="TextBox 12"/>
          <p:cNvSpPr txBox="1"/>
          <p:nvPr/>
        </p:nvSpPr>
        <p:spPr>
          <a:xfrm>
            <a:off x="9367066" y="4201506"/>
            <a:ext cx="7805690" cy="2160089"/>
          </a:xfrm>
          <a:prstGeom prst="rect">
            <a:avLst/>
          </a:prstGeom>
        </p:spPr>
        <p:txBody>
          <a:bodyPr lIns="0" tIns="0" rIns="0" bIns="0" rtlCol="0" anchor="t">
            <a:spAutoFit/>
          </a:bodyPr>
          <a:lstStyle/>
          <a:p>
            <a:pPr marL="488632" lvl="1" indent="-244316" algn="l">
              <a:lnSpc>
                <a:spcPts val="4309"/>
              </a:lnSpc>
              <a:buFont typeface="Arial"/>
              <a:buChar char="•"/>
            </a:pPr>
            <a:r>
              <a:rPr lang="en-US" sz="2700">
                <a:solidFill>
                  <a:srgbClr val="404155"/>
                </a:solidFill>
                <a:latin typeface="Times New Roman"/>
                <a:ea typeface="Times New Roman"/>
                <a:cs typeface="Times New Roman"/>
                <a:sym typeface="Times New Roman"/>
              </a:rPr>
              <a:t>Admin authentication and dashboard</a:t>
            </a:r>
          </a:p>
          <a:p>
            <a:pPr marL="488632" lvl="1" indent="-244316" algn="l">
              <a:lnSpc>
                <a:spcPts val="4309"/>
              </a:lnSpc>
              <a:buFont typeface="Arial"/>
              <a:buChar char="•"/>
            </a:pPr>
            <a:r>
              <a:rPr lang="en-US" sz="2700">
                <a:solidFill>
                  <a:srgbClr val="404155"/>
                </a:solidFill>
                <a:latin typeface="Times New Roman"/>
                <a:ea typeface="Times New Roman"/>
                <a:cs typeface="Times New Roman"/>
                <a:sym typeface="Times New Roman"/>
              </a:rPr>
              <a:t>Review and moderate dataset submissions</a:t>
            </a:r>
          </a:p>
          <a:p>
            <a:pPr marL="488632" lvl="1" indent="-244316" algn="l">
              <a:lnSpc>
                <a:spcPts val="4309"/>
              </a:lnSpc>
              <a:buFont typeface="Arial"/>
              <a:buChar char="•"/>
            </a:pPr>
            <a:r>
              <a:rPr lang="en-US" sz="2700">
                <a:solidFill>
                  <a:srgbClr val="404155"/>
                </a:solidFill>
                <a:latin typeface="Times New Roman"/>
                <a:ea typeface="Times New Roman"/>
                <a:cs typeface="Times New Roman"/>
                <a:sym typeface="Times New Roman"/>
              </a:rPr>
              <a:t>Approve/Reject access requests</a:t>
            </a:r>
          </a:p>
          <a:p>
            <a:pPr marL="488632" lvl="1" indent="-244316" algn="l">
              <a:lnSpc>
                <a:spcPts val="4309"/>
              </a:lnSpc>
              <a:buFont typeface="Arial"/>
              <a:buChar char="•"/>
            </a:pPr>
            <a:r>
              <a:rPr lang="en-US" sz="2700">
                <a:solidFill>
                  <a:srgbClr val="404155"/>
                </a:solidFill>
                <a:latin typeface="Times New Roman"/>
                <a:ea typeface="Times New Roman"/>
                <a:cs typeface="Times New Roman"/>
                <a:sym typeface="Times New Roman"/>
              </a:rPr>
              <a:t>User management, security, and duplicate audits</a:t>
            </a:r>
          </a:p>
        </p:txBody>
      </p:sp>
      <p:grpSp>
        <p:nvGrpSpPr>
          <p:cNvPr id="13" name="Group 13"/>
          <p:cNvGrpSpPr/>
          <p:nvPr/>
        </p:nvGrpSpPr>
        <p:grpSpPr>
          <a:xfrm>
            <a:off x="289541" y="354149"/>
            <a:ext cx="1579493" cy="1498616"/>
            <a:chOff x="0" y="0"/>
            <a:chExt cx="2105990" cy="1998154"/>
          </a:xfrm>
        </p:grpSpPr>
        <p:sp>
          <p:nvSpPr>
            <p:cNvPr id="14" name="Freeform 14" descr="logo 2.png"/>
            <p:cNvSpPr/>
            <p:nvPr/>
          </p:nvSpPr>
          <p:spPr>
            <a:xfrm>
              <a:off x="0" y="0"/>
              <a:ext cx="2106041" cy="1998218"/>
            </a:xfrm>
            <a:custGeom>
              <a:avLst/>
              <a:gdLst/>
              <a:ahLst/>
              <a:cxnLst/>
              <a:rect l="l" t="t" r="r" b="b"/>
              <a:pathLst>
                <a:path w="2106041" h="1998218">
                  <a:moveTo>
                    <a:pt x="0" y="0"/>
                  </a:moveTo>
                  <a:lnTo>
                    <a:pt x="2106041" y="0"/>
                  </a:lnTo>
                  <a:lnTo>
                    <a:pt x="2106041" y="1998218"/>
                  </a:lnTo>
                  <a:lnTo>
                    <a:pt x="0" y="1998218"/>
                  </a:lnTo>
                  <a:lnTo>
                    <a:pt x="0" y="0"/>
                  </a:lnTo>
                  <a:close/>
                </a:path>
              </a:pathLst>
            </a:custGeom>
            <a:blipFill>
              <a:blip r:embed="rId5"/>
              <a:stretch>
                <a:fillRect t="-140" r="2" b="-136"/>
              </a:stretch>
            </a:blipFill>
          </p:spPr>
        </p:sp>
      </p:grpSp>
      <p:grpSp>
        <p:nvGrpSpPr>
          <p:cNvPr id="15" name="Group 15"/>
          <p:cNvGrpSpPr/>
          <p:nvPr/>
        </p:nvGrpSpPr>
        <p:grpSpPr>
          <a:xfrm>
            <a:off x="16028651" y="237582"/>
            <a:ext cx="1570482" cy="1706528"/>
            <a:chOff x="0" y="0"/>
            <a:chExt cx="2093976" cy="2275370"/>
          </a:xfrm>
        </p:grpSpPr>
        <p:sp>
          <p:nvSpPr>
            <p:cNvPr id="16" name="Freeform 16" descr="logo3.png"/>
            <p:cNvSpPr/>
            <p:nvPr/>
          </p:nvSpPr>
          <p:spPr>
            <a:xfrm>
              <a:off x="0" y="0"/>
              <a:ext cx="2093976" cy="2275332"/>
            </a:xfrm>
            <a:custGeom>
              <a:avLst/>
              <a:gdLst/>
              <a:ahLst/>
              <a:cxnLst/>
              <a:rect l="l" t="t" r="r" b="b"/>
              <a:pathLst>
                <a:path w="2093976" h="2275332">
                  <a:moveTo>
                    <a:pt x="0" y="0"/>
                  </a:moveTo>
                  <a:lnTo>
                    <a:pt x="2093976" y="0"/>
                  </a:lnTo>
                  <a:lnTo>
                    <a:pt x="2093976" y="2275332"/>
                  </a:lnTo>
                  <a:lnTo>
                    <a:pt x="0" y="2275332"/>
                  </a:lnTo>
                  <a:lnTo>
                    <a:pt x="0" y="0"/>
                  </a:lnTo>
                  <a:close/>
                </a:path>
              </a:pathLst>
            </a:custGeom>
            <a:blipFill>
              <a:blip r:embed="rId6"/>
              <a:stretch>
                <a:fillRect t="-30" b="-32"/>
              </a:stretch>
            </a:blipFill>
          </p:spPr>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7543" cy="10287000"/>
            <a:chOff x="0" y="0"/>
            <a:chExt cx="24383390" cy="13716000"/>
          </a:xfrm>
        </p:grpSpPr>
        <p:sp>
          <p:nvSpPr>
            <p:cNvPr id="3" name="Freeform 3" descr="preencoded.png"/>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lnTo>
                    <a:pt x="0" y="0"/>
                  </a:lnTo>
                  <a:close/>
                </a:path>
              </a:pathLst>
            </a:custGeom>
            <a:blipFill>
              <a:blip r:embed="rId3"/>
              <a:stretch>
                <a:fillRect l="-1" r="-1"/>
              </a:stretch>
            </a:blipFill>
          </p:spPr>
        </p:sp>
      </p:grpSp>
      <p:grpSp>
        <p:nvGrpSpPr>
          <p:cNvPr id="4" name="Group 4"/>
          <p:cNvGrpSpPr/>
          <p:nvPr/>
        </p:nvGrpSpPr>
        <p:grpSpPr>
          <a:xfrm>
            <a:off x="0" y="0"/>
            <a:ext cx="18287543" cy="10287000"/>
            <a:chOff x="0" y="0"/>
            <a:chExt cx="24383390" cy="13716000"/>
          </a:xfrm>
        </p:grpSpPr>
        <p:sp>
          <p:nvSpPr>
            <p:cNvPr id="5" name="Freeform 5"/>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close/>
                </a:path>
              </a:pathLst>
            </a:custGeom>
            <a:solidFill>
              <a:srgbClr val="F9F9FF">
                <a:alpha val="90196"/>
              </a:srgbClr>
            </a:solidFill>
          </p:spPr>
        </p:sp>
      </p:grpSp>
      <p:grpSp>
        <p:nvGrpSpPr>
          <p:cNvPr id="6" name="Group 6"/>
          <p:cNvGrpSpPr/>
          <p:nvPr/>
        </p:nvGrpSpPr>
        <p:grpSpPr>
          <a:xfrm>
            <a:off x="16615315" y="9838487"/>
            <a:ext cx="1607763" cy="384048"/>
            <a:chOff x="0" y="0"/>
            <a:chExt cx="2143684" cy="512064"/>
          </a:xfrm>
        </p:grpSpPr>
        <p:sp>
          <p:nvSpPr>
            <p:cNvPr id="7" name="Freeform 7" descr="preencoded.png">
              <a:hlinkClick r:id="rId4" tooltip="https://gamma.app/?utm_source=made-with-gamma"/>
            </p:cNvPr>
            <p:cNvSpPr/>
            <p:nvPr/>
          </p:nvSpPr>
          <p:spPr>
            <a:xfrm>
              <a:off x="0" y="0"/>
              <a:ext cx="2143633" cy="512064"/>
            </a:xfrm>
            <a:custGeom>
              <a:avLst/>
              <a:gdLst/>
              <a:ahLst/>
              <a:cxnLst/>
              <a:rect l="l" t="t" r="r" b="b"/>
              <a:pathLst>
                <a:path w="2143633" h="512064">
                  <a:moveTo>
                    <a:pt x="0" y="0"/>
                  </a:moveTo>
                  <a:lnTo>
                    <a:pt x="2143633" y="0"/>
                  </a:lnTo>
                  <a:lnTo>
                    <a:pt x="2143633" y="512064"/>
                  </a:lnTo>
                  <a:lnTo>
                    <a:pt x="0" y="512064"/>
                  </a:lnTo>
                  <a:lnTo>
                    <a:pt x="0" y="0"/>
                  </a:lnTo>
                  <a:close/>
                </a:path>
              </a:pathLst>
            </a:custGeom>
            <a:solidFill>
              <a:srgbClr val="F9F9FF"/>
            </a:solidFill>
          </p:spPr>
        </p:sp>
      </p:grpSp>
      <p:sp>
        <p:nvSpPr>
          <p:cNvPr id="8" name="TextBox 8"/>
          <p:cNvSpPr txBox="1"/>
          <p:nvPr/>
        </p:nvSpPr>
        <p:spPr>
          <a:xfrm>
            <a:off x="992210" y="771373"/>
            <a:ext cx="16303114" cy="835819"/>
          </a:xfrm>
          <a:prstGeom prst="rect">
            <a:avLst/>
          </a:prstGeom>
        </p:spPr>
        <p:txBody>
          <a:bodyPr lIns="0" tIns="0" rIns="0" bIns="0" rtlCol="0" anchor="t">
            <a:spAutoFit/>
          </a:bodyPr>
          <a:lstStyle/>
          <a:p>
            <a:pPr algn="ctr">
              <a:lnSpc>
                <a:spcPts val="6364"/>
              </a:lnSpc>
            </a:pPr>
            <a:r>
              <a:rPr lang="en-US" sz="5100">
                <a:solidFill>
                  <a:srgbClr val="1B1B27"/>
                </a:solidFill>
                <a:latin typeface="Corben"/>
                <a:ea typeface="Corben"/>
                <a:cs typeface="Corben"/>
                <a:sym typeface="Corben"/>
              </a:rPr>
              <a:t>Database Design — Schemas &amp; Key Fields</a:t>
            </a:r>
          </a:p>
        </p:txBody>
      </p:sp>
      <p:grpSp>
        <p:nvGrpSpPr>
          <p:cNvPr id="9" name="Group 9"/>
          <p:cNvGrpSpPr/>
          <p:nvPr/>
        </p:nvGrpSpPr>
        <p:grpSpPr>
          <a:xfrm>
            <a:off x="992210" y="2239566"/>
            <a:ext cx="6985664" cy="6985845"/>
            <a:chOff x="0" y="0"/>
            <a:chExt cx="9314218" cy="9314459"/>
          </a:xfrm>
        </p:grpSpPr>
        <p:sp>
          <p:nvSpPr>
            <p:cNvPr id="10" name="Freeform 10" descr="preencoded.png"/>
            <p:cNvSpPr/>
            <p:nvPr/>
          </p:nvSpPr>
          <p:spPr>
            <a:xfrm>
              <a:off x="0" y="0"/>
              <a:ext cx="9314180" cy="9314434"/>
            </a:xfrm>
            <a:custGeom>
              <a:avLst/>
              <a:gdLst/>
              <a:ahLst/>
              <a:cxnLst/>
              <a:rect l="l" t="t" r="r" b="b"/>
              <a:pathLst>
                <a:path w="9314180" h="9314434">
                  <a:moveTo>
                    <a:pt x="0" y="0"/>
                  </a:moveTo>
                  <a:lnTo>
                    <a:pt x="9314180" y="0"/>
                  </a:lnTo>
                  <a:lnTo>
                    <a:pt x="9314180" y="9314434"/>
                  </a:lnTo>
                  <a:lnTo>
                    <a:pt x="0" y="9314434"/>
                  </a:lnTo>
                  <a:lnTo>
                    <a:pt x="0" y="0"/>
                  </a:lnTo>
                  <a:close/>
                </a:path>
              </a:pathLst>
            </a:custGeom>
            <a:blipFill>
              <a:blip r:embed="rId5"/>
              <a:stretch>
                <a:fillRect l="-1" r="-1"/>
              </a:stretch>
            </a:blipFill>
          </p:spPr>
        </p:sp>
      </p:grpSp>
      <p:sp>
        <p:nvSpPr>
          <p:cNvPr id="11" name="TextBox 11"/>
          <p:cNvSpPr txBox="1"/>
          <p:nvPr/>
        </p:nvSpPr>
        <p:spPr>
          <a:xfrm>
            <a:off x="8624973" y="3042342"/>
            <a:ext cx="8679732" cy="446332"/>
          </a:xfrm>
          <a:prstGeom prst="rect">
            <a:avLst/>
          </a:prstGeom>
        </p:spPr>
        <p:txBody>
          <a:bodyPr lIns="0" tIns="0" rIns="0" bIns="0" rtlCol="0" anchor="t">
            <a:spAutoFit/>
          </a:bodyPr>
          <a:lstStyle/>
          <a:p>
            <a:pPr algn="l">
              <a:lnSpc>
                <a:spcPts val="3744"/>
              </a:lnSpc>
            </a:pPr>
            <a:r>
              <a:rPr lang="en-US" sz="3000">
                <a:solidFill>
                  <a:srgbClr val="1B1B27"/>
                </a:solidFill>
                <a:latin typeface="Times New Roman"/>
                <a:ea typeface="Times New Roman"/>
                <a:cs typeface="Times New Roman"/>
                <a:sym typeface="Times New Roman"/>
              </a:rPr>
              <a:t>Users</a:t>
            </a:r>
          </a:p>
        </p:txBody>
      </p:sp>
      <p:sp>
        <p:nvSpPr>
          <p:cNvPr id="12" name="TextBox 12"/>
          <p:cNvSpPr txBox="1"/>
          <p:nvPr/>
        </p:nvSpPr>
        <p:spPr>
          <a:xfrm>
            <a:off x="8624973" y="3643913"/>
            <a:ext cx="9594113" cy="487413"/>
          </a:xfrm>
          <a:prstGeom prst="rect">
            <a:avLst/>
          </a:prstGeom>
        </p:spPr>
        <p:txBody>
          <a:bodyPr lIns="0" tIns="0" rIns="0" bIns="0" rtlCol="0" anchor="t">
            <a:spAutoFit/>
          </a:bodyPr>
          <a:lstStyle/>
          <a:p>
            <a:pPr algn="l">
              <a:lnSpc>
                <a:spcPts val="3686"/>
              </a:lnSpc>
            </a:pPr>
            <a:r>
              <a:rPr lang="en-US" sz="2400">
                <a:solidFill>
                  <a:srgbClr val="404155"/>
                </a:solidFill>
                <a:latin typeface="Times New Roman"/>
                <a:ea typeface="Times New Roman"/>
                <a:cs typeface="Times New Roman"/>
                <a:sym typeface="Times New Roman"/>
              </a:rPr>
              <a:t>UserID (Firebase UID), Name, Email, PasswordHash, Role</a:t>
            </a:r>
          </a:p>
        </p:txBody>
      </p:sp>
      <p:sp>
        <p:nvSpPr>
          <p:cNvPr id="13" name="TextBox 13"/>
          <p:cNvSpPr txBox="1"/>
          <p:nvPr/>
        </p:nvSpPr>
        <p:spPr>
          <a:xfrm>
            <a:off x="8624973" y="4334170"/>
            <a:ext cx="8679732" cy="446332"/>
          </a:xfrm>
          <a:prstGeom prst="rect">
            <a:avLst/>
          </a:prstGeom>
        </p:spPr>
        <p:txBody>
          <a:bodyPr lIns="0" tIns="0" rIns="0" bIns="0" rtlCol="0" anchor="t">
            <a:spAutoFit/>
          </a:bodyPr>
          <a:lstStyle/>
          <a:p>
            <a:pPr algn="l">
              <a:lnSpc>
                <a:spcPts val="3744"/>
              </a:lnSpc>
            </a:pPr>
            <a:r>
              <a:rPr lang="en-US" sz="3000">
                <a:solidFill>
                  <a:srgbClr val="1B1B27"/>
                </a:solidFill>
                <a:latin typeface="Times New Roman"/>
                <a:ea typeface="Times New Roman"/>
                <a:cs typeface="Times New Roman"/>
                <a:sym typeface="Times New Roman"/>
              </a:rPr>
              <a:t>Datasets</a:t>
            </a:r>
          </a:p>
        </p:txBody>
      </p:sp>
      <p:sp>
        <p:nvSpPr>
          <p:cNvPr id="14" name="TextBox 14"/>
          <p:cNvSpPr txBox="1"/>
          <p:nvPr/>
        </p:nvSpPr>
        <p:spPr>
          <a:xfrm>
            <a:off x="8624973" y="4935741"/>
            <a:ext cx="8679732" cy="889102"/>
          </a:xfrm>
          <a:prstGeom prst="rect">
            <a:avLst/>
          </a:prstGeom>
        </p:spPr>
        <p:txBody>
          <a:bodyPr lIns="0" tIns="0" rIns="0" bIns="0" rtlCol="0" anchor="t">
            <a:spAutoFit/>
          </a:bodyPr>
          <a:lstStyle/>
          <a:p>
            <a:pPr algn="l">
              <a:lnSpc>
                <a:spcPts val="3686"/>
              </a:lnSpc>
            </a:pPr>
            <a:r>
              <a:rPr lang="en-US" sz="2400">
                <a:solidFill>
                  <a:srgbClr val="404155"/>
                </a:solidFill>
                <a:latin typeface="Times New Roman"/>
                <a:ea typeface="Times New Roman"/>
                <a:cs typeface="Times New Roman"/>
                <a:sym typeface="Times New Roman"/>
              </a:rPr>
              <a:t>DatasetID, Title, Category, AccessType (Public/Restricted), Status, OwnerID, FileURL, UploadDate</a:t>
            </a:r>
          </a:p>
        </p:txBody>
      </p:sp>
      <p:sp>
        <p:nvSpPr>
          <p:cNvPr id="15" name="TextBox 15"/>
          <p:cNvSpPr txBox="1"/>
          <p:nvPr/>
        </p:nvSpPr>
        <p:spPr>
          <a:xfrm>
            <a:off x="8624973" y="6027687"/>
            <a:ext cx="8679732" cy="446332"/>
          </a:xfrm>
          <a:prstGeom prst="rect">
            <a:avLst/>
          </a:prstGeom>
        </p:spPr>
        <p:txBody>
          <a:bodyPr lIns="0" tIns="0" rIns="0" bIns="0" rtlCol="0" anchor="t">
            <a:spAutoFit/>
          </a:bodyPr>
          <a:lstStyle/>
          <a:p>
            <a:pPr algn="l">
              <a:lnSpc>
                <a:spcPts val="3744"/>
              </a:lnSpc>
            </a:pPr>
            <a:r>
              <a:rPr lang="en-US" sz="3000">
                <a:solidFill>
                  <a:srgbClr val="1B1B27"/>
                </a:solidFill>
                <a:latin typeface="Times New Roman"/>
                <a:ea typeface="Times New Roman"/>
                <a:cs typeface="Times New Roman"/>
                <a:sym typeface="Times New Roman"/>
              </a:rPr>
              <a:t>Access Requests</a:t>
            </a:r>
          </a:p>
        </p:txBody>
      </p:sp>
      <p:sp>
        <p:nvSpPr>
          <p:cNvPr id="16" name="TextBox 16"/>
          <p:cNvSpPr txBox="1"/>
          <p:nvPr/>
        </p:nvSpPr>
        <p:spPr>
          <a:xfrm>
            <a:off x="8624973" y="6629248"/>
            <a:ext cx="9594113" cy="487413"/>
          </a:xfrm>
          <a:prstGeom prst="rect">
            <a:avLst/>
          </a:prstGeom>
        </p:spPr>
        <p:txBody>
          <a:bodyPr lIns="0" tIns="0" rIns="0" bIns="0" rtlCol="0" anchor="t">
            <a:spAutoFit/>
          </a:bodyPr>
          <a:lstStyle/>
          <a:p>
            <a:pPr algn="l">
              <a:lnSpc>
                <a:spcPts val="3686"/>
              </a:lnSpc>
            </a:pPr>
            <a:r>
              <a:rPr lang="en-US" sz="2400">
                <a:solidFill>
                  <a:srgbClr val="404155"/>
                </a:solidFill>
                <a:latin typeface="Times New Roman"/>
                <a:ea typeface="Times New Roman"/>
                <a:cs typeface="Times New Roman"/>
                <a:sym typeface="Times New Roman"/>
              </a:rPr>
              <a:t>RequestID, DatasetID, UserID, Reason, Status, RequestDate</a:t>
            </a:r>
          </a:p>
        </p:txBody>
      </p:sp>
      <p:sp>
        <p:nvSpPr>
          <p:cNvPr id="17" name="TextBox 17"/>
          <p:cNvSpPr txBox="1"/>
          <p:nvPr/>
        </p:nvSpPr>
        <p:spPr>
          <a:xfrm>
            <a:off x="8624973" y="7319515"/>
            <a:ext cx="8679732" cy="446332"/>
          </a:xfrm>
          <a:prstGeom prst="rect">
            <a:avLst/>
          </a:prstGeom>
        </p:spPr>
        <p:txBody>
          <a:bodyPr lIns="0" tIns="0" rIns="0" bIns="0" rtlCol="0" anchor="t">
            <a:spAutoFit/>
          </a:bodyPr>
          <a:lstStyle/>
          <a:p>
            <a:pPr algn="l">
              <a:lnSpc>
                <a:spcPts val="3744"/>
              </a:lnSpc>
            </a:pPr>
            <a:r>
              <a:rPr lang="en-US" sz="3000">
                <a:solidFill>
                  <a:srgbClr val="1B1B27"/>
                </a:solidFill>
                <a:latin typeface="Times New Roman"/>
                <a:ea typeface="Times New Roman"/>
                <a:cs typeface="Times New Roman"/>
                <a:sym typeface="Times New Roman"/>
              </a:rPr>
              <a:t>Audit / Security</a:t>
            </a:r>
          </a:p>
        </p:txBody>
      </p:sp>
      <p:sp>
        <p:nvSpPr>
          <p:cNvPr id="18" name="TextBox 18"/>
          <p:cNvSpPr txBox="1"/>
          <p:nvPr/>
        </p:nvSpPr>
        <p:spPr>
          <a:xfrm>
            <a:off x="8624973" y="7921076"/>
            <a:ext cx="9594113" cy="487413"/>
          </a:xfrm>
          <a:prstGeom prst="rect">
            <a:avLst/>
          </a:prstGeom>
        </p:spPr>
        <p:txBody>
          <a:bodyPr lIns="0" tIns="0" rIns="0" bIns="0" rtlCol="0" anchor="t">
            <a:spAutoFit/>
          </a:bodyPr>
          <a:lstStyle/>
          <a:p>
            <a:pPr algn="l">
              <a:lnSpc>
                <a:spcPts val="3686"/>
              </a:lnSpc>
            </a:pPr>
            <a:r>
              <a:rPr lang="en-US" sz="2400">
                <a:solidFill>
                  <a:srgbClr val="404155"/>
                </a:solidFill>
                <a:latin typeface="Times New Roman"/>
                <a:ea typeface="Times New Roman"/>
                <a:cs typeface="Times New Roman"/>
                <a:sym typeface="Times New Roman"/>
              </a:rPr>
              <a:t>ActivityID, DatasetID, Action, RiskStatus, Timestamp, Notes</a:t>
            </a:r>
          </a:p>
        </p:txBody>
      </p:sp>
      <p:grpSp>
        <p:nvGrpSpPr>
          <p:cNvPr id="19" name="Group 19"/>
          <p:cNvGrpSpPr/>
          <p:nvPr/>
        </p:nvGrpSpPr>
        <p:grpSpPr>
          <a:xfrm>
            <a:off x="289541" y="354149"/>
            <a:ext cx="1579493" cy="1498616"/>
            <a:chOff x="0" y="0"/>
            <a:chExt cx="2105990" cy="1998154"/>
          </a:xfrm>
        </p:grpSpPr>
        <p:sp>
          <p:nvSpPr>
            <p:cNvPr id="20" name="Freeform 20" descr="logo 2.png"/>
            <p:cNvSpPr/>
            <p:nvPr/>
          </p:nvSpPr>
          <p:spPr>
            <a:xfrm>
              <a:off x="0" y="0"/>
              <a:ext cx="2106041" cy="1998218"/>
            </a:xfrm>
            <a:custGeom>
              <a:avLst/>
              <a:gdLst/>
              <a:ahLst/>
              <a:cxnLst/>
              <a:rect l="l" t="t" r="r" b="b"/>
              <a:pathLst>
                <a:path w="2106041" h="1998218">
                  <a:moveTo>
                    <a:pt x="0" y="0"/>
                  </a:moveTo>
                  <a:lnTo>
                    <a:pt x="2106041" y="0"/>
                  </a:lnTo>
                  <a:lnTo>
                    <a:pt x="2106041" y="1998218"/>
                  </a:lnTo>
                  <a:lnTo>
                    <a:pt x="0" y="1998218"/>
                  </a:lnTo>
                  <a:lnTo>
                    <a:pt x="0" y="0"/>
                  </a:lnTo>
                  <a:close/>
                </a:path>
              </a:pathLst>
            </a:custGeom>
            <a:blipFill>
              <a:blip r:embed="rId6"/>
              <a:stretch>
                <a:fillRect t="-140" r="2" b="-136"/>
              </a:stretch>
            </a:blipFill>
          </p:spPr>
        </p:sp>
      </p:grpSp>
      <p:grpSp>
        <p:nvGrpSpPr>
          <p:cNvPr id="21" name="Group 21"/>
          <p:cNvGrpSpPr/>
          <p:nvPr/>
        </p:nvGrpSpPr>
        <p:grpSpPr>
          <a:xfrm>
            <a:off x="16028651" y="237582"/>
            <a:ext cx="1570482" cy="1706528"/>
            <a:chOff x="0" y="0"/>
            <a:chExt cx="2093976" cy="2275370"/>
          </a:xfrm>
        </p:grpSpPr>
        <p:sp>
          <p:nvSpPr>
            <p:cNvPr id="22" name="Freeform 22" descr="logo3.png"/>
            <p:cNvSpPr/>
            <p:nvPr/>
          </p:nvSpPr>
          <p:spPr>
            <a:xfrm>
              <a:off x="0" y="0"/>
              <a:ext cx="2093976" cy="2275332"/>
            </a:xfrm>
            <a:custGeom>
              <a:avLst/>
              <a:gdLst/>
              <a:ahLst/>
              <a:cxnLst/>
              <a:rect l="l" t="t" r="r" b="b"/>
              <a:pathLst>
                <a:path w="2093976" h="2275332">
                  <a:moveTo>
                    <a:pt x="0" y="0"/>
                  </a:moveTo>
                  <a:lnTo>
                    <a:pt x="2093976" y="0"/>
                  </a:lnTo>
                  <a:lnTo>
                    <a:pt x="2093976" y="2275332"/>
                  </a:lnTo>
                  <a:lnTo>
                    <a:pt x="0" y="2275332"/>
                  </a:lnTo>
                  <a:lnTo>
                    <a:pt x="0" y="0"/>
                  </a:lnTo>
                  <a:close/>
                </a:path>
              </a:pathLst>
            </a:custGeom>
            <a:blipFill>
              <a:blip r:embed="rId7"/>
              <a:stretch>
                <a:fillRect t="-30" b="-32"/>
              </a:stretch>
            </a:blipFill>
          </p:spPr>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7543" cy="10287000"/>
            <a:chOff x="0" y="0"/>
            <a:chExt cx="24383390" cy="13716000"/>
          </a:xfrm>
        </p:grpSpPr>
        <p:sp>
          <p:nvSpPr>
            <p:cNvPr id="3" name="Freeform 3" descr="preencoded.png"/>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lnTo>
                    <a:pt x="0" y="0"/>
                  </a:lnTo>
                  <a:close/>
                </a:path>
              </a:pathLst>
            </a:custGeom>
            <a:blipFill>
              <a:blip r:embed="rId3"/>
              <a:stretch>
                <a:fillRect l="-1" r="-1"/>
              </a:stretch>
            </a:blipFill>
          </p:spPr>
        </p:sp>
      </p:grpSp>
      <p:grpSp>
        <p:nvGrpSpPr>
          <p:cNvPr id="4" name="Group 4"/>
          <p:cNvGrpSpPr/>
          <p:nvPr/>
        </p:nvGrpSpPr>
        <p:grpSpPr>
          <a:xfrm>
            <a:off x="0" y="0"/>
            <a:ext cx="18287543" cy="10287000"/>
            <a:chOff x="0" y="0"/>
            <a:chExt cx="24383390" cy="13716000"/>
          </a:xfrm>
        </p:grpSpPr>
        <p:sp>
          <p:nvSpPr>
            <p:cNvPr id="5" name="Freeform 5"/>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close/>
                </a:path>
              </a:pathLst>
            </a:custGeom>
            <a:solidFill>
              <a:srgbClr val="F9F9FF">
                <a:alpha val="90196"/>
              </a:srgbClr>
            </a:solidFill>
          </p:spPr>
        </p:sp>
      </p:grpSp>
      <p:grpSp>
        <p:nvGrpSpPr>
          <p:cNvPr id="6" name="Group 6"/>
          <p:cNvGrpSpPr/>
          <p:nvPr/>
        </p:nvGrpSpPr>
        <p:grpSpPr>
          <a:xfrm>
            <a:off x="16615315" y="9838487"/>
            <a:ext cx="1607763" cy="384048"/>
            <a:chOff x="0" y="0"/>
            <a:chExt cx="2143684" cy="512064"/>
          </a:xfrm>
        </p:grpSpPr>
        <p:sp>
          <p:nvSpPr>
            <p:cNvPr id="7" name="Freeform 7" descr="preencoded.png">
              <a:hlinkClick r:id="rId4" tooltip="https://gamma.app/?utm_source=made-with-gamma"/>
            </p:cNvPr>
            <p:cNvSpPr/>
            <p:nvPr/>
          </p:nvSpPr>
          <p:spPr>
            <a:xfrm>
              <a:off x="0" y="0"/>
              <a:ext cx="2143633" cy="512064"/>
            </a:xfrm>
            <a:custGeom>
              <a:avLst/>
              <a:gdLst/>
              <a:ahLst/>
              <a:cxnLst/>
              <a:rect l="l" t="t" r="r" b="b"/>
              <a:pathLst>
                <a:path w="2143633" h="512064">
                  <a:moveTo>
                    <a:pt x="0" y="0"/>
                  </a:moveTo>
                  <a:lnTo>
                    <a:pt x="2143633" y="0"/>
                  </a:lnTo>
                  <a:lnTo>
                    <a:pt x="2143633" y="512064"/>
                  </a:lnTo>
                  <a:lnTo>
                    <a:pt x="0" y="512064"/>
                  </a:lnTo>
                  <a:lnTo>
                    <a:pt x="0" y="0"/>
                  </a:lnTo>
                  <a:close/>
                </a:path>
              </a:pathLst>
            </a:custGeom>
            <a:solidFill>
              <a:srgbClr val="F9F9FF"/>
            </a:solidFill>
          </p:spPr>
        </p:sp>
      </p:grpSp>
      <p:sp>
        <p:nvSpPr>
          <p:cNvPr id="8" name="TextBox 8"/>
          <p:cNvSpPr txBox="1"/>
          <p:nvPr/>
        </p:nvSpPr>
        <p:spPr>
          <a:xfrm>
            <a:off x="992210" y="767658"/>
            <a:ext cx="16303114" cy="748608"/>
          </a:xfrm>
          <a:prstGeom prst="rect">
            <a:avLst/>
          </a:prstGeom>
        </p:spPr>
        <p:txBody>
          <a:bodyPr lIns="0" tIns="0" rIns="0" bIns="0" rtlCol="0" anchor="t">
            <a:spAutoFit/>
          </a:bodyPr>
          <a:lstStyle/>
          <a:p>
            <a:pPr algn="ctr">
              <a:lnSpc>
                <a:spcPts val="5709"/>
              </a:lnSpc>
            </a:pPr>
            <a:r>
              <a:rPr lang="en-US" sz="4575">
                <a:solidFill>
                  <a:srgbClr val="1B1B27"/>
                </a:solidFill>
                <a:latin typeface="Corben"/>
                <a:ea typeface="Corben"/>
                <a:cs typeface="Corben"/>
                <a:sym typeface="Corben"/>
              </a:rPr>
              <a:t>Important Behaviors &amp; Status Flows</a:t>
            </a:r>
          </a:p>
        </p:txBody>
      </p:sp>
      <p:grpSp>
        <p:nvGrpSpPr>
          <p:cNvPr id="9" name="Group 9"/>
          <p:cNvGrpSpPr/>
          <p:nvPr/>
        </p:nvGrpSpPr>
        <p:grpSpPr>
          <a:xfrm>
            <a:off x="2326872" y="1900685"/>
            <a:ext cx="13633656" cy="6702323"/>
            <a:chOff x="0" y="0"/>
            <a:chExt cx="18178208" cy="8936431"/>
          </a:xfrm>
        </p:grpSpPr>
        <p:sp>
          <p:nvSpPr>
            <p:cNvPr id="10" name="Freeform 10" descr="preencoded.png"/>
            <p:cNvSpPr/>
            <p:nvPr/>
          </p:nvSpPr>
          <p:spPr>
            <a:xfrm>
              <a:off x="0" y="0"/>
              <a:ext cx="18178145" cy="8936482"/>
            </a:xfrm>
            <a:custGeom>
              <a:avLst/>
              <a:gdLst/>
              <a:ahLst/>
              <a:cxnLst/>
              <a:rect l="l" t="t" r="r" b="b"/>
              <a:pathLst>
                <a:path w="18178145" h="8936482">
                  <a:moveTo>
                    <a:pt x="0" y="0"/>
                  </a:moveTo>
                  <a:lnTo>
                    <a:pt x="18178145" y="0"/>
                  </a:lnTo>
                  <a:lnTo>
                    <a:pt x="18178145" y="8936482"/>
                  </a:lnTo>
                  <a:lnTo>
                    <a:pt x="0" y="8936482"/>
                  </a:lnTo>
                  <a:lnTo>
                    <a:pt x="0" y="0"/>
                  </a:lnTo>
                  <a:close/>
                </a:path>
              </a:pathLst>
            </a:custGeom>
            <a:blipFill>
              <a:blip r:embed="rId5"/>
              <a:stretch>
                <a:fillRect t="-1" b="-1"/>
              </a:stretch>
            </a:blipFill>
          </p:spPr>
        </p:sp>
      </p:grpSp>
      <p:sp>
        <p:nvSpPr>
          <p:cNvPr id="11" name="TextBox 11"/>
          <p:cNvSpPr txBox="1"/>
          <p:nvPr/>
        </p:nvSpPr>
        <p:spPr>
          <a:xfrm>
            <a:off x="8998163" y="2503903"/>
            <a:ext cx="3117933" cy="389753"/>
          </a:xfrm>
          <a:prstGeom prst="rect">
            <a:avLst/>
          </a:prstGeom>
        </p:spPr>
        <p:txBody>
          <a:bodyPr lIns="0" tIns="0" rIns="0" bIns="0" rtlCol="0" anchor="t">
            <a:spAutoFit/>
          </a:bodyPr>
          <a:lstStyle/>
          <a:p>
            <a:pPr algn="l">
              <a:lnSpc>
                <a:spcPts val="2995"/>
              </a:lnSpc>
            </a:pPr>
            <a:r>
              <a:rPr lang="en-US" sz="2400">
                <a:solidFill>
                  <a:srgbClr val="404155"/>
                </a:solidFill>
                <a:latin typeface="Corben"/>
                <a:ea typeface="Corben"/>
                <a:cs typeface="Corben"/>
                <a:sym typeface="Corben"/>
              </a:rPr>
              <a:t>Rejected</a:t>
            </a:r>
          </a:p>
        </p:txBody>
      </p:sp>
      <p:sp>
        <p:nvSpPr>
          <p:cNvPr id="12" name="TextBox 12"/>
          <p:cNvSpPr txBox="1"/>
          <p:nvPr/>
        </p:nvSpPr>
        <p:spPr>
          <a:xfrm>
            <a:off x="8998163" y="2994993"/>
            <a:ext cx="6305159" cy="293608"/>
          </a:xfrm>
          <a:prstGeom prst="rect">
            <a:avLst/>
          </a:prstGeom>
        </p:spPr>
        <p:txBody>
          <a:bodyPr lIns="0" tIns="0" rIns="0" bIns="0" rtlCol="0" anchor="t">
            <a:spAutoFit/>
          </a:bodyPr>
          <a:lstStyle/>
          <a:p>
            <a:pPr algn="l">
              <a:lnSpc>
                <a:spcPts val="2222"/>
              </a:lnSpc>
            </a:pPr>
            <a:r>
              <a:rPr lang="en-US" sz="1950">
                <a:solidFill>
                  <a:srgbClr val="404155"/>
                </a:solidFill>
                <a:latin typeface="Arimo"/>
                <a:ea typeface="Arimo"/>
                <a:cs typeface="Arimo"/>
                <a:sym typeface="Arimo"/>
              </a:rPr>
              <a:t>Notify user with reasons</a:t>
            </a:r>
          </a:p>
        </p:txBody>
      </p:sp>
      <p:sp>
        <p:nvSpPr>
          <p:cNvPr id="13" name="TextBox 13"/>
          <p:cNvSpPr txBox="1"/>
          <p:nvPr/>
        </p:nvSpPr>
        <p:spPr>
          <a:xfrm>
            <a:off x="8998163" y="4069842"/>
            <a:ext cx="3117933" cy="389753"/>
          </a:xfrm>
          <a:prstGeom prst="rect">
            <a:avLst/>
          </a:prstGeom>
        </p:spPr>
        <p:txBody>
          <a:bodyPr lIns="0" tIns="0" rIns="0" bIns="0" rtlCol="0" anchor="t">
            <a:spAutoFit/>
          </a:bodyPr>
          <a:lstStyle/>
          <a:p>
            <a:pPr algn="l">
              <a:lnSpc>
                <a:spcPts val="2995"/>
              </a:lnSpc>
            </a:pPr>
            <a:r>
              <a:rPr lang="en-US" sz="2400">
                <a:solidFill>
                  <a:srgbClr val="404155"/>
                </a:solidFill>
                <a:latin typeface="Corben"/>
                <a:ea typeface="Corben"/>
                <a:cs typeface="Corben"/>
                <a:sym typeface="Corben"/>
              </a:rPr>
              <a:t>Approved</a:t>
            </a:r>
          </a:p>
        </p:txBody>
      </p:sp>
      <p:sp>
        <p:nvSpPr>
          <p:cNvPr id="14" name="TextBox 14"/>
          <p:cNvSpPr txBox="1"/>
          <p:nvPr/>
        </p:nvSpPr>
        <p:spPr>
          <a:xfrm>
            <a:off x="8998163" y="4560932"/>
            <a:ext cx="6305159" cy="293608"/>
          </a:xfrm>
          <a:prstGeom prst="rect">
            <a:avLst/>
          </a:prstGeom>
        </p:spPr>
        <p:txBody>
          <a:bodyPr lIns="0" tIns="0" rIns="0" bIns="0" rtlCol="0" anchor="t">
            <a:spAutoFit/>
          </a:bodyPr>
          <a:lstStyle/>
          <a:p>
            <a:pPr algn="l">
              <a:lnSpc>
                <a:spcPts val="2222"/>
              </a:lnSpc>
            </a:pPr>
            <a:r>
              <a:rPr lang="en-US" sz="1950">
                <a:solidFill>
                  <a:srgbClr val="404155"/>
                </a:solidFill>
                <a:latin typeface="Arimo"/>
                <a:ea typeface="Arimo"/>
                <a:cs typeface="Arimo"/>
                <a:sym typeface="Arimo"/>
              </a:rPr>
              <a:t>Grant access and publish</a:t>
            </a:r>
          </a:p>
        </p:txBody>
      </p:sp>
      <p:sp>
        <p:nvSpPr>
          <p:cNvPr id="15" name="TextBox 15"/>
          <p:cNvSpPr txBox="1"/>
          <p:nvPr/>
        </p:nvSpPr>
        <p:spPr>
          <a:xfrm>
            <a:off x="8998163" y="5635781"/>
            <a:ext cx="3117933" cy="389753"/>
          </a:xfrm>
          <a:prstGeom prst="rect">
            <a:avLst/>
          </a:prstGeom>
        </p:spPr>
        <p:txBody>
          <a:bodyPr lIns="0" tIns="0" rIns="0" bIns="0" rtlCol="0" anchor="t">
            <a:spAutoFit/>
          </a:bodyPr>
          <a:lstStyle/>
          <a:p>
            <a:pPr algn="l">
              <a:lnSpc>
                <a:spcPts val="2995"/>
              </a:lnSpc>
            </a:pPr>
            <a:r>
              <a:rPr lang="en-US" sz="2400">
                <a:solidFill>
                  <a:srgbClr val="404155"/>
                </a:solidFill>
                <a:latin typeface="Corben"/>
                <a:ea typeface="Corben"/>
                <a:cs typeface="Corben"/>
                <a:sym typeface="Corben"/>
              </a:rPr>
              <a:t>Review</a:t>
            </a:r>
          </a:p>
        </p:txBody>
      </p:sp>
      <p:sp>
        <p:nvSpPr>
          <p:cNvPr id="16" name="TextBox 16"/>
          <p:cNvSpPr txBox="1"/>
          <p:nvPr/>
        </p:nvSpPr>
        <p:spPr>
          <a:xfrm>
            <a:off x="8998163" y="6126871"/>
            <a:ext cx="6305159" cy="293608"/>
          </a:xfrm>
          <a:prstGeom prst="rect">
            <a:avLst/>
          </a:prstGeom>
        </p:spPr>
        <p:txBody>
          <a:bodyPr lIns="0" tIns="0" rIns="0" bIns="0" rtlCol="0" anchor="t">
            <a:spAutoFit/>
          </a:bodyPr>
          <a:lstStyle/>
          <a:p>
            <a:pPr algn="l">
              <a:lnSpc>
                <a:spcPts val="2222"/>
              </a:lnSpc>
            </a:pPr>
            <a:r>
              <a:rPr lang="en-US" sz="1950">
                <a:solidFill>
                  <a:srgbClr val="404155"/>
                </a:solidFill>
                <a:latin typeface="Arimo"/>
                <a:ea typeface="Arimo"/>
                <a:cs typeface="Arimo"/>
                <a:sym typeface="Arimo"/>
              </a:rPr>
              <a:t>Assess data and access type</a:t>
            </a:r>
          </a:p>
        </p:txBody>
      </p:sp>
      <p:sp>
        <p:nvSpPr>
          <p:cNvPr id="17" name="TextBox 17"/>
          <p:cNvSpPr txBox="1"/>
          <p:nvPr/>
        </p:nvSpPr>
        <p:spPr>
          <a:xfrm>
            <a:off x="9012022" y="7201719"/>
            <a:ext cx="3117942" cy="389753"/>
          </a:xfrm>
          <a:prstGeom prst="rect">
            <a:avLst/>
          </a:prstGeom>
        </p:spPr>
        <p:txBody>
          <a:bodyPr lIns="0" tIns="0" rIns="0" bIns="0" rtlCol="0" anchor="t">
            <a:spAutoFit/>
          </a:bodyPr>
          <a:lstStyle/>
          <a:p>
            <a:pPr algn="l">
              <a:lnSpc>
                <a:spcPts val="2995"/>
              </a:lnSpc>
            </a:pPr>
            <a:r>
              <a:rPr lang="en-US" sz="2400">
                <a:solidFill>
                  <a:srgbClr val="404155"/>
                </a:solidFill>
                <a:latin typeface="Corben"/>
                <a:ea typeface="Corben"/>
                <a:cs typeface="Corben"/>
                <a:sym typeface="Corben"/>
              </a:rPr>
              <a:t>Submission</a:t>
            </a:r>
          </a:p>
        </p:txBody>
      </p:sp>
      <p:sp>
        <p:nvSpPr>
          <p:cNvPr id="18" name="TextBox 18"/>
          <p:cNvSpPr txBox="1"/>
          <p:nvPr/>
        </p:nvSpPr>
        <p:spPr>
          <a:xfrm>
            <a:off x="9012022" y="7692809"/>
            <a:ext cx="6305159" cy="293608"/>
          </a:xfrm>
          <a:prstGeom prst="rect">
            <a:avLst/>
          </a:prstGeom>
        </p:spPr>
        <p:txBody>
          <a:bodyPr lIns="0" tIns="0" rIns="0" bIns="0" rtlCol="0" anchor="t">
            <a:spAutoFit/>
          </a:bodyPr>
          <a:lstStyle/>
          <a:p>
            <a:pPr algn="l">
              <a:lnSpc>
                <a:spcPts val="2222"/>
              </a:lnSpc>
            </a:pPr>
            <a:r>
              <a:rPr lang="en-US" sz="1950">
                <a:solidFill>
                  <a:srgbClr val="404155"/>
                </a:solidFill>
                <a:latin typeface="Arimo"/>
                <a:ea typeface="Arimo"/>
                <a:cs typeface="Arimo"/>
                <a:sym typeface="Arimo"/>
              </a:rPr>
              <a:t>User submits dataset request</a:t>
            </a:r>
          </a:p>
        </p:txBody>
      </p:sp>
      <p:grpSp>
        <p:nvGrpSpPr>
          <p:cNvPr id="19" name="Group 19"/>
          <p:cNvGrpSpPr/>
          <p:nvPr/>
        </p:nvGrpSpPr>
        <p:grpSpPr>
          <a:xfrm>
            <a:off x="289541" y="354149"/>
            <a:ext cx="1579493" cy="1498616"/>
            <a:chOff x="0" y="0"/>
            <a:chExt cx="2105990" cy="1998154"/>
          </a:xfrm>
        </p:grpSpPr>
        <p:sp>
          <p:nvSpPr>
            <p:cNvPr id="20" name="Freeform 20" descr="logo 2.png"/>
            <p:cNvSpPr/>
            <p:nvPr/>
          </p:nvSpPr>
          <p:spPr>
            <a:xfrm>
              <a:off x="0" y="0"/>
              <a:ext cx="2106041" cy="1998218"/>
            </a:xfrm>
            <a:custGeom>
              <a:avLst/>
              <a:gdLst/>
              <a:ahLst/>
              <a:cxnLst/>
              <a:rect l="l" t="t" r="r" b="b"/>
              <a:pathLst>
                <a:path w="2106041" h="1998218">
                  <a:moveTo>
                    <a:pt x="0" y="0"/>
                  </a:moveTo>
                  <a:lnTo>
                    <a:pt x="2106041" y="0"/>
                  </a:lnTo>
                  <a:lnTo>
                    <a:pt x="2106041" y="1998218"/>
                  </a:lnTo>
                  <a:lnTo>
                    <a:pt x="0" y="1998218"/>
                  </a:lnTo>
                  <a:lnTo>
                    <a:pt x="0" y="0"/>
                  </a:lnTo>
                  <a:close/>
                </a:path>
              </a:pathLst>
            </a:custGeom>
            <a:blipFill>
              <a:blip r:embed="rId6"/>
              <a:stretch>
                <a:fillRect t="-140" r="2" b="-136"/>
              </a:stretch>
            </a:blipFill>
          </p:spPr>
        </p:sp>
      </p:grpSp>
      <p:grpSp>
        <p:nvGrpSpPr>
          <p:cNvPr id="21" name="Group 21"/>
          <p:cNvGrpSpPr/>
          <p:nvPr/>
        </p:nvGrpSpPr>
        <p:grpSpPr>
          <a:xfrm>
            <a:off x="16028651" y="237582"/>
            <a:ext cx="1570482" cy="1706528"/>
            <a:chOff x="0" y="0"/>
            <a:chExt cx="2093976" cy="2275370"/>
          </a:xfrm>
        </p:grpSpPr>
        <p:sp>
          <p:nvSpPr>
            <p:cNvPr id="22" name="Freeform 22" descr="logo3.png"/>
            <p:cNvSpPr/>
            <p:nvPr/>
          </p:nvSpPr>
          <p:spPr>
            <a:xfrm>
              <a:off x="0" y="0"/>
              <a:ext cx="2093976" cy="2275332"/>
            </a:xfrm>
            <a:custGeom>
              <a:avLst/>
              <a:gdLst/>
              <a:ahLst/>
              <a:cxnLst/>
              <a:rect l="l" t="t" r="r" b="b"/>
              <a:pathLst>
                <a:path w="2093976" h="2275332">
                  <a:moveTo>
                    <a:pt x="0" y="0"/>
                  </a:moveTo>
                  <a:lnTo>
                    <a:pt x="2093976" y="0"/>
                  </a:lnTo>
                  <a:lnTo>
                    <a:pt x="2093976" y="2275332"/>
                  </a:lnTo>
                  <a:lnTo>
                    <a:pt x="0" y="2275332"/>
                  </a:lnTo>
                  <a:lnTo>
                    <a:pt x="0" y="0"/>
                  </a:lnTo>
                  <a:close/>
                </a:path>
              </a:pathLst>
            </a:custGeom>
            <a:blipFill>
              <a:blip r:embed="rId7"/>
              <a:stretch>
                <a:fillRect t="-30" b="-32"/>
              </a:stretch>
            </a:blipFill>
          </p:spPr>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7543" cy="10287000"/>
            <a:chOff x="0" y="0"/>
            <a:chExt cx="24383390" cy="13716000"/>
          </a:xfrm>
        </p:grpSpPr>
        <p:sp>
          <p:nvSpPr>
            <p:cNvPr id="3" name="Freeform 3" descr="preencoded.png"/>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lnTo>
                    <a:pt x="0" y="0"/>
                  </a:lnTo>
                  <a:close/>
                </a:path>
              </a:pathLst>
            </a:custGeom>
            <a:blipFill>
              <a:blip r:embed="rId3"/>
              <a:stretch>
                <a:fillRect l="-1" r="-1"/>
              </a:stretch>
            </a:blipFill>
          </p:spPr>
        </p:sp>
      </p:grpSp>
      <p:grpSp>
        <p:nvGrpSpPr>
          <p:cNvPr id="4" name="Group 4"/>
          <p:cNvGrpSpPr/>
          <p:nvPr/>
        </p:nvGrpSpPr>
        <p:grpSpPr>
          <a:xfrm>
            <a:off x="0" y="0"/>
            <a:ext cx="18287543" cy="10287000"/>
            <a:chOff x="0" y="0"/>
            <a:chExt cx="24383390" cy="13716000"/>
          </a:xfrm>
        </p:grpSpPr>
        <p:sp>
          <p:nvSpPr>
            <p:cNvPr id="5" name="Freeform 5"/>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close/>
                </a:path>
              </a:pathLst>
            </a:custGeom>
            <a:solidFill>
              <a:srgbClr val="F9F9FF">
                <a:alpha val="90196"/>
              </a:srgbClr>
            </a:solidFill>
          </p:spPr>
        </p:sp>
      </p:grpSp>
      <p:grpSp>
        <p:nvGrpSpPr>
          <p:cNvPr id="6" name="Group 6"/>
          <p:cNvGrpSpPr/>
          <p:nvPr/>
        </p:nvGrpSpPr>
        <p:grpSpPr>
          <a:xfrm>
            <a:off x="16615315" y="9838487"/>
            <a:ext cx="1607763" cy="384048"/>
            <a:chOff x="0" y="0"/>
            <a:chExt cx="2143684" cy="512064"/>
          </a:xfrm>
        </p:grpSpPr>
        <p:sp>
          <p:nvSpPr>
            <p:cNvPr id="7" name="Freeform 7" descr="preencoded.png">
              <a:hlinkClick r:id="rId4" tooltip="https://gamma.app/?utm_source=made-with-gamma"/>
            </p:cNvPr>
            <p:cNvSpPr/>
            <p:nvPr/>
          </p:nvSpPr>
          <p:spPr>
            <a:xfrm>
              <a:off x="0" y="0"/>
              <a:ext cx="2143633" cy="512064"/>
            </a:xfrm>
            <a:custGeom>
              <a:avLst/>
              <a:gdLst/>
              <a:ahLst/>
              <a:cxnLst/>
              <a:rect l="l" t="t" r="r" b="b"/>
              <a:pathLst>
                <a:path w="2143633" h="512064">
                  <a:moveTo>
                    <a:pt x="0" y="0"/>
                  </a:moveTo>
                  <a:lnTo>
                    <a:pt x="2143633" y="0"/>
                  </a:lnTo>
                  <a:lnTo>
                    <a:pt x="2143633" y="512064"/>
                  </a:lnTo>
                  <a:lnTo>
                    <a:pt x="0" y="512064"/>
                  </a:lnTo>
                  <a:lnTo>
                    <a:pt x="0" y="0"/>
                  </a:lnTo>
                  <a:close/>
                </a:path>
              </a:pathLst>
            </a:custGeom>
            <a:solidFill>
              <a:srgbClr val="F9F9FF"/>
            </a:solidFill>
          </p:spPr>
        </p:sp>
      </p:grpSp>
      <p:sp>
        <p:nvSpPr>
          <p:cNvPr id="8" name="TextBox 8"/>
          <p:cNvSpPr txBox="1"/>
          <p:nvPr/>
        </p:nvSpPr>
        <p:spPr>
          <a:xfrm>
            <a:off x="992210" y="768106"/>
            <a:ext cx="16303114" cy="475955"/>
          </a:xfrm>
          <a:prstGeom prst="rect">
            <a:avLst/>
          </a:prstGeom>
        </p:spPr>
        <p:txBody>
          <a:bodyPr lIns="0" tIns="0" rIns="0" bIns="0" rtlCol="0" anchor="t">
            <a:spAutoFit/>
          </a:bodyPr>
          <a:lstStyle/>
          <a:p>
            <a:pPr algn="ctr">
              <a:lnSpc>
                <a:spcPts val="5990"/>
              </a:lnSpc>
            </a:pPr>
            <a:r>
              <a:rPr lang="en-US" sz="4800">
                <a:solidFill>
                  <a:srgbClr val="1B1B27"/>
                </a:solidFill>
                <a:latin typeface="Corben"/>
                <a:ea typeface="Corben"/>
                <a:cs typeface="Corben"/>
                <a:sym typeface="Corben"/>
              </a:rPr>
              <a:t>Data Relationships (Cardinality)</a:t>
            </a:r>
          </a:p>
        </p:txBody>
      </p:sp>
      <p:grpSp>
        <p:nvGrpSpPr>
          <p:cNvPr id="9" name="Group 9"/>
          <p:cNvGrpSpPr/>
          <p:nvPr/>
        </p:nvGrpSpPr>
        <p:grpSpPr>
          <a:xfrm>
            <a:off x="992210" y="1441694"/>
            <a:ext cx="7973273" cy="7973463"/>
            <a:chOff x="0" y="0"/>
            <a:chExt cx="10631030" cy="10631284"/>
          </a:xfrm>
        </p:grpSpPr>
        <p:sp>
          <p:nvSpPr>
            <p:cNvPr id="10" name="Freeform 10" descr="preencoded.png"/>
            <p:cNvSpPr/>
            <p:nvPr/>
          </p:nvSpPr>
          <p:spPr>
            <a:xfrm>
              <a:off x="0" y="0"/>
              <a:ext cx="10631043" cy="10631297"/>
            </a:xfrm>
            <a:custGeom>
              <a:avLst/>
              <a:gdLst/>
              <a:ahLst/>
              <a:cxnLst/>
              <a:rect l="l" t="t" r="r" b="b"/>
              <a:pathLst>
                <a:path w="10631043" h="10631297">
                  <a:moveTo>
                    <a:pt x="0" y="0"/>
                  </a:moveTo>
                  <a:lnTo>
                    <a:pt x="10631043" y="0"/>
                  </a:lnTo>
                  <a:lnTo>
                    <a:pt x="10631043" y="10631297"/>
                  </a:lnTo>
                  <a:lnTo>
                    <a:pt x="0" y="10631297"/>
                  </a:lnTo>
                  <a:lnTo>
                    <a:pt x="0" y="0"/>
                  </a:lnTo>
                  <a:close/>
                </a:path>
              </a:pathLst>
            </a:custGeom>
            <a:blipFill>
              <a:blip r:embed="rId5"/>
              <a:stretch>
                <a:fillRect l="-1" r="-1"/>
              </a:stretch>
            </a:blipFill>
          </p:spPr>
        </p:sp>
      </p:grpSp>
      <p:sp>
        <p:nvSpPr>
          <p:cNvPr id="11" name="TextBox 11"/>
          <p:cNvSpPr txBox="1"/>
          <p:nvPr/>
        </p:nvSpPr>
        <p:spPr>
          <a:xfrm>
            <a:off x="8535172" y="2124256"/>
            <a:ext cx="8569481" cy="4155519"/>
          </a:xfrm>
          <a:prstGeom prst="rect">
            <a:avLst/>
          </a:prstGeom>
        </p:spPr>
        <p:txBody>
          <a:bodyPr lIns="0" tIns="0" rIns="0" bIns="0" rtlCol="0" anchor="t">
            <a:spAutoFit/>
          </a:bodyPr>
          <a:lstStyle/>
          <a:p>
            <a:pPr marL="542925" lvl="1" indent="-271462" algn="l">
              <a:lnSpc>
                <a:spcPts val="5400"/>
              </a:lnSpc>
              <a:buFont typeface="Arial"/>
              <a:buChar char="•"/>
            </a:pPr>
            <a:r>
              <a:rPr lang="en-US" sz="3000" b="1">
                <a:solidFill>
                  <a:srgbClr val="404155"/>
                </a:solidFill>
                <a:latin typeface="Times New Roman Bold"/>
                <a:ea typeface="Times New Roman Bold"/>
                <a:cs typeface="Times New Roman Bold"/>
                <a:sym typeface="Times New Roman Bold"/>
              </a:rPr>
              <a:t>USER 1 : N DATASETS</a:t>
            </a:r>
            <a:r>
              <a:rPr lang="en-US" sz="3000">
                <a:solidFill>
                  <a:srgbClr val="404155"/>
                </a:solidFill>
                <a:latin typeface="Times New Roman"/>
                <a:ea typeface="Times New Roman"/>
                <a:cs typeface="Times New Roman"/>
                <a:sym typeface="Times New Roman"/>
              </a:rPr>
              <a:t> — One user can submit many datasets.</a:t>
            </a:r>
          </a:p>
          <a:p>
            <a:pPr marL="542925" lvl="1" indent="-271462" algn="l">
              <a:lnSpc>
                <a:spcPts val="5400"/>
              </a:lnSpc>
              <a:buFont typeface="Arial"/>
              <a:buChar char="•"/>
            </a:pPr>
            <a:r>
              <a:rPr lang="en-US" sz="3000" b="1">
                <a:solidFill>
                  <a:srgbClr val="404155"/>
                </a:solidFill>
                <a:latin typeface="Times New Roman Bold"/>
                <a:ea typeface="Times New Roman Bold"/>
                <a:cs typeface="Times New Roman Bold"/>
                <a:sym typeface="Times New Roman Bold"/>
              </a:rPr>
              <a:t>USER 1 : N ACCESS REQUEST</a:t>
            </a:r>
            <a:r>
              <a:rPr lang="en-US" sz="3000">
                <a:solidFill>
                  <a:srgbClr val="404155"/>
                </a:solidFill>
                <a:latin typeface="Times New Roman"/>
                <a:ea typeface="Times New Roman"/>
                <a:cs typeface="Times New Roman"/>
                <a:sym typeface="Times New Roman"/>
              </a:rPr>
              <a:t> — Users may request access to multiple datasets.</a:t>
            </a:r>
          </a:p>
          <a:p>
            <a:pPr marL="542925" lvl="1" indent="-271462" algn="l">
              <a:lnSpc>
                <a:spcPts val="5400"/>
              </a:lnSpc>
              <a:buFont typeface="Arial"/>
              <a:buChar char="•"/>
            </a:pPr>
            <a:r>
              <a:rPr lang="en-US" sz="3000" b="1">
                <a:solidFill>
                  <a:srgbClr val="404155"/>
                </a:solidFill>
                <a:latin typeface="Times New Roman Bold"/>
                <a:ea typeface="Times New Roman Bold"/>
                <a:cs typeface="Times New Roman Bold"/>
                <a:sym typeface="Times New Roman Bold"/>
              </a:rPr>
              <a:t>DATASET 1 : N ACCESS REQUEST</a:t>
            </a:r>
            <a:r>
              <a:rPr lang="en-US" sz="3000">
                <a:solidFill>
                  <a:srgbClr val="404155"/>
                </a:solidFill>
                <a:latin typeface="Times New Roman"/>
                <a:ea typeface="Times New Roman"/>
                <a:cs typeface="Times New Roman"/>
                <a:sym typeface="Times New Roman"/>
              </a:rPr>
              <a:t> — A restricted dataset can receive many requests.</a:t>
            </a:r>
          </a:p>
          <a:p>
            <a:pPr marL="542925" lvl="1" indent="-271462" algn="l">
              <a:lnSpc>
                <a:spcPts val="5400"/>
              </a:lnSpc>
              <a:buFont typeface="Arial"/>
              <a:buChar char="•"/>
            </a:pPr>
            <a:r>
              <a:rPr lang="en-US" sz="3000" b="1">
                <a:solidFill>
                  <a:srgbClr val="404155"/>
                </a:solidFill>
                <a:latin typeface="Times New Roman Bold"/>
                <a:ea typeface="Times New Roman Bold"/>
                <a:cs typeface="Times New Roman Bold"/>
                <a:sym typeface="Times New Roman Bold"/>
              </a:rPr>
              <a:t>DATASET 1 : N AUDIT RECORD</a:t>
            </a:r>
            <a:r>
              <a:rPr lang="en-US" sz="3000">
                <a:solidFill>
                  <a:srgbClr val="404155"/>
                </a:solidFill>
                <a:latin typeface="Times New Roman"/>
                <a:ea typeface="Times New Roman"/>
                <a:cs typeface="Times New Roman"/>
                <a:sym typeface="Times New Roman"/>
              </a:rPr>
              <a:t> — Each dataset may have multiple audit/security entries.</a:t>
            </a:r>
          </a:p>
        </p:txBody>
      </p:sp>
      <p:grpSp>
        <p:nvGrpSpPr>
          <p:cNvPr id="12" name="Group 12"/>
          <p:cNvGrpSpPr/>
          <p:nvPr/>
        </p:nvGrpSpPr>
        <p:grpSpPr>
          <a:xfrm>
            <a:off x="289541" y="354149"/>
            <a:ext cx="1579493" cy="1498616"/>
            <a:chOff x="0" y="0"/>
            <a:chExt cx="2105990" cy="1998154"/>
          </a:xfrm>
        </p:grpSpPr>
        <p:sp>
          <p:nvSpPr>
            <p:cNvPr id="13" name="Freeform 13" descr="logo 2.png"/>
            <p:cNvSpPr/>
            <p:nvPr/>
          </p:nvSpPr>
          <p:spPr>
            <a:xfrm>
              <a:off x="0" y="0"/>
              <a:ext cx="2106041" cy="1998218"/>
            </a:xfrm>
            <a:custGeom>
              <a:avLst/>
              <a:gdLst/>
              <a:ahLst/>
              <a:cxnLst/>
              <a:rect l="l" t="t" r="r" b="b"/>
              <a:pathLst>
                <a:path w="2106041" h="1998218">
                  <a:moveTo>
                    <a:pt x="0" y="0"/>
                  </a:moveTo>
                  <a:lnTo>
                    <a:pt x="2106041" y="0"/>
                  </a:lnTo>
                  <a:lnTo>
                    <a:pt x="2106041" y="1998218"/>
                  </a:lnTo>
                  <a:lnTo>
                    <a:pt x="0" y="1998218"/>
                  </a:lnTo>
                  <a:lnTo>
                    <a:pt x="0" y="0"/>
                  </a:lnTo>
                  <a:close/>
                </a:path>
              </a:pathLst>
            </a:custGeom>
            <a:blipFill>
              <a:blip r:embed="rId6"/>
              <a:stretch>
                <a:fillRect t="-140" r="2" b="-136"/>
              </a:stretch>
            </a:blipFill>
          </p:spPr>
        </p:sp>
      </p:grpSp>
      <p:grpSp>
        <p:nvGrpSpPr>
          <p:cNvPr id="14" name="Group 14"/>
          <p:cNvGrpSpPr/>
          <p:nvPr/>
        </p:nvGrpSpPr>
        <p:grpSpPr>
          <a:xfrm>
            <a:off x="16028651" y="237582"/>
            <a:ext cx="1570482" cy="1706528"/>
            <a:chOff x="0" y="0"/>
            <a:chExt cx="2093976" cy="2275370"/>
          </a:xfrm>
        </p:grpSpPr>
        <p:sp>
          <p:nvSpPr>
            <p:cNvPr id="15" name="Freeform 15" descr="logo3.png"/>
            <p:cNvSpPr/>
            <p:nvPr/>
          </p:nvSpPr>
          <p:spPr>
            <a:xfrm>
              <a:off x="0" y="0"/>
              <a:ext cx="2093976" cy="2275332"/>
            </a:xfrm>
            <a:custGeom>
              <a:avLst/>
              <a:gdLst/>
              <a:ahLst/>
              <a:cxnLst/>
              <a:rect l="l" t="t" r="r" b="b"/>
              <a:pathLst>
                <a:path w="2093976" h="2275332">
                  <a:moveTo>
                    <a:pt x="0" y="0"/>
                  </a:moveTo>
                  <a:lnTo>
                    <a:pt x="2093976" y="0"/>
                  </a:lnTo>
                  <a:lnTo>
                    <a:pt x="2093976" y="2275332"/>
                  </a:lnTo>
                  <a:lnTo>
                    <a:pt x="0" y="2275332"/>
                  </a:lnTo>
                  <a:lnTo>
                    <a:pt x="0" y="0"/>
                  </a:lnTo>
                  <a:close/>
                </a:path>
              </a:pathLst>
            </a:custGeom>
            <a:blipFill>
              <a:blip r:embed="rId7"/>
              <a:stretch>
                <a:fillRect t="-30" b="-32"/>
              </a:stretch>
            </a:blipFill>
          </p:spPr>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7543" cy="10287000"/>
            <a:chOff x="0" y="0"/>
            <a:chExt cx="24383390" cy="13716000"/>
          </a:xfrm>
        </p:grpSpPr>
        <p:sp>
          <p:nvSpPr>
            <p:cNvPr id="3" name="Freeform 3" descr="preencoded.png"/>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lnTo>
                    <a:pt x="0" y="0"/>
                  </a:lnTo>
                  <a:close/>
                </a:path>
              </a:pathLst>
            </a:custGeom>
            <a:blipFill>
              <a:blip r:embed="rId3"/>
              <a:stretch>
                <a:fillRect l="-1" r="-1"/>
              </a:stretch>
            </a:blipFill>
          </p:spPr>
        </p:sp>
      </p:grpSp>
      <p:grpSp>
        <p:nvGrpSpPr>
          <p:cNvPr id="4" name="Group 4"/>
          <p:cNvGrpSpPr/>
          <p:nvPr/>
        </p:nvGrpSpPr>
        <p:grpSpPr>
          <a:xfrm>
            <a:off x="0" y="0"/>
            <a:ext cx="18287543" cy="10287000"/>
            <a:chOff x="0" y="0"/>
            <a:chExt cx="24383390" cy="13716000"/>
          </a:xfrm>
        </p:grpSpPr>
        <p:sp>
          <p:nvSpPr>
            <p:cNvPr id="5" name="Freeform 5"/>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close/>
                </a:path>
              </a:pathLst>
            </a:custGeom>
            <a:solidFill>
              <a:srgbClr val="F9F9FF">
                <a:alpha val="90196"/>
              </a:srgbClr>
            </a:solidFill>
          </p:spPr>
        </p:sp>
      </p:grpSp>
      <p:grpSp>
        <p:nvGrpSpPr>
          <p:cNvPr id="6" name="Group 6"/>
          <p:cNvGrpSpPr/>
          <p:nvPr/>
        </p:nvGrpSpPr>
        <p:grpSpPr>
          <a:xfrm>
            <a:off x="16615315" y="9838487"/>
            <a:ext cx="1607763" cy="384048"/>
            <a:chOff x="0" y="0"/>
            <a:chExt cx="2143684" cy="512064"/>
          </a:xfrm>
        </p:grpSpPr>
        <p:sp>
          <p:nvSpPr>
            <p:cNvPr id="7" name="Freeform 7" descr="preencoded.png">
              <a:hlinkClick r:id="rId4" tooltip="https://gamma.app/?utm_source=made-with-gamma"/>
            </p:cNvPr>
            <p:cNvSpPr/>
            <p:nvPr/>
          </p:nvSpPr>
          <p:spPr>
            <a:xfrm>
              <a:off x="0" y="0"/>
              <a:ext cx="2143633" cy="512064"/>
            </a:xfrm>
            <a:custGeom>
              <a:avLst/>
              <a:gdLst/>
              <a:ahLst/>
              <a:cxnLst/>
              <a:rect l="l" t="t" r="r" b="b"/>
              <a:pathLst>
                <a:path w="2143633" h="512064">
                  <a:moveTo>
                    <a:pt x="0" y="0"/>
                  </a:moveTo>
                  <a:lnTo>
                    <a:pt x="2143633" y="0"/>
                  </a:lnTo>
                  <a:lnTo>
                    <a:pt x="2143633" y="512064"/>
                  </a:lnTo>
                  <a:lnTo>
                    <a:pt x="0" y="512064"/>
                  </a:lnTo>
                  <a:lnTo>
                    <a:pt x="0" y="0"/>
                  </a:lnTo>
                  <a:close/>
                </a:path>
              </a:pathLst>
            </a:custGeom>
            <a:solidFill>
              <a:srgbClr val="F9F9FF"/>
            </a:solidFill>
          </p:spPr>
        </p:sp>
      </p:grpSp>
      <p:sp>
        <p:nvSpPr>
          <p:cNvPr id="8" name="TextBox 8"/>
          <p:cNvSpPr txBox="1"/>
          <p:nvPr/>
        </p:nvSpPr>
        <p:spPr>
          <a:xfrm>
            <a:off x="7245096" y="971398"/>
            <a:ext cx="7022240" cy="914552"/>
          </a:xfrm>
          <a:prstGeom prst="rect">
            <a:avLst/>
          </a:prstGeom>
        </p:spPr>
        <p:txBody>
          <a:bodyPr lIns="0" tIns="0" rIns="0" bIns="0" rtlCol="0" anchor="t">
            <a:spAutoFit/>
          </a:bodyPr>
          <a:lstStyle/>
          <a:p>
            <a:pPr algn="l">
              <a:lnSpc>
                <a:spcPts val="6926"/>
              </a:lnSpc>
            </a:pPr>
            <a:r>
              <a:rPr lang="en-US" sz="5550">
                <a:solidFill>
                  <a:srgbClr val="1B1B27"/>
                </a:solidFill>
                <a:latin typeface="Corben"/>
                <a:ea typeface="Corben"/>
                <a:cs typeface="Corben"/>
                <a:sym typeface="Corben"/>
              </a:rPr>
              <a:t>ER Diagram </a:t>
            </a:r>
          </a:p>
        </p:txBody>
      </p:sp>
      <p:grpSp>
        <p:nvGrpSpPr>
          <p:cNvPr id="9" name="Group 9"/>
          <p:cNvGrpSpPr/>
          <p:nvPr/>
        </p:nvGrpSpPr>
        <p:grpSpPr>
          <a:xfrm>
            <a:off x="4778826" y="2538222"/>
            <a:ext cx="8730339" cy="5820375"/>
            <a:chOff x="0" y="0"/>
            <a:chExt cx="11640452" cy="7760500"/>
          </a:xfrm>
        </p:grpSpPr>
        <p:sp>
          <p:nvSpPr>
            <p:cNvPr id="10" name="Freeform 10" descr="preencoded.png"/>
            <p:cNvSpPr/>
            <p:nvPr/>
          </p:nvSpPr>
          <p:spPr>
            <a:xfrm>
              <a:off x="0" y="0"/>
              <a:ext cx="11640439" cy="7760462"/>
            </a:xfrm>
            <a:custGeom>
              <a:avLst/>
              <a:gdLst/>
              <a:ahLst/>
              <a:cxnLst/>
              <a:rect l="l" t="t" r="r" b="b"/>
              <a:pathLst>
                <a:path w="11640439" h="7760462">
                  <a:moveTo>
                    <a:pt x="0" y="0"/>
                  </a:moveTo>
                  <a:lnTo>
                    <a:pt x="11640439" y="0"/>
                  </a:lnTo>
                  <a:lnTo>
                    <a:pt x="11640439" y="7760462"/>
                  </a:lnTo>
                  <a:lnTo>
                    <a:pt x="0" y="7760462"/>
                  </a:lnTo>
                  <a:lnTo>
                    <a:pt x="0" y="0"/>
                  </a:lnTo>
                  <a:close/>
                </a:path>
              </a:pathLst>
            </a:custGeom>
            <a:blipFill>
              <a:blip r:embed="rId5"/>
              <a:stretch>
                <a:fillRect t="-29" b="-29"/>
              </a:stretch>
            </a:blipFill>
          </p:spPr>
        </p:sp>
      </p:grpSp>
      <p:grpSp>
        <p:nvGrpSpPr>
          <p:cNvPr id="11" name="Group 11"/>
          <p:cNvGrpSpPr/>
          <p:nvPr/>
        </p:nvGrpSpPr>
        <p:grpSpPr>
          <a:xfrm>
            <a:off x="289541" y="354149"/>
            <a:ext cx="1579493" cy="1498616"/>
            <a:chOff x="0" y="0"/>
            <a:chExt cx="2105990" cy="1998154"/>
          </a:xfrm>
        </p:grpSpPr>
        <p:sp>
          <p:nvSpPr>
            <p:cNvPr id="12" name="Freeform 12" descr="logo 2.png"/>
            <p:cNvSpPr/>
            <p:nvPr/>
          </p:nvSpPr>
          <p:spPr>
            <a:xfrm>
              <a:off x="0" y="0"/>
              <a:ext cx="2106041" cy="1998218"/>
            </a:xfrm>
            <a:custGeom>
              <a:avLst/>
              <a:gdLst/>
              <a:ahLst/>
              <a:cxnLst/>
              <a:rect l="l" t="t" r="r" b="b"/>
              <a:pathLst>
                <a:path w="2106041" h="1998218">
                  <a:moveTo>
                    <a:pt x="0" y="0"/>
                  </a:moveTo>
                  <a:lnTo>
                    <a:pt x="2106041" y="0"/>
                  </a:lnTo>
                  <a:lnTo>
                    <a:pt x="2106041" y="1998218"/>
                  </a:lnTo>
                  <a:lnTo>
                    <a:pt x="0" y="1998218"/>
                  </a:lnTo>
                  <a:lnTo>
                    <a:pt x="0" y="0"/>
                  </a:lnTo>
                  <a:close/>
                </a:path>
              </a:pathLst>
            </a:custGeom>
            <a:blipFill>
              <a:blip r:embed="rId6"/>
              <a:stretch>
                <a:fillRect t="-140" r="2" b="-136"/>
              </a:stretch>
            </a:blipFill>
          </p:spPr>
        </p:sp>
      </p:grpSp>
      <p:grpSp>
        <p:nvGrpSpPr>
          <p:cNvPr id="13" name="Group 13"/>
          <p:cNvGrpSpPr/>
          <p:nvPr/>
        </p:nvGrpSpPr>
        <p:grpSpPr>
          <a:xfrm>
            <a:off x="16028651" y="237582"/>
            <a:ext cx="1570482" cy="1706528"/>
            <a:chOff x="0" y="0"/>
            <a:chExt cx="2093976" cy="2275370"/>
          </a:xfrm>
        </p:grpSpPr>
        <p:sp>
          <p:nvSpPr>
            <p:cNvPr id="14" name="Freeform 14" descr="logo3.png"/>
            <p:cNvSpPr/>
            <p:nvPr/>
          </p:nvSpPr>
          <p:spPr>
            <a:xfrm>
              <a:off x="0" y="0"/>
              <a:ext cx="2093976" cy="2275332"/>
            </a:xfrm>
            <a:custGeom>
              <a:avLst/>
              <a:gdLst/>
              <a:ahLst/>
              <a:cxnLst/>
              <a:rect l="l" t="t" r="r" b="b"/>
              <a:pathLst>
                <a:path w="2093976" h="2275332">
                  <a:moveTo>
                    <a:pt x="0" y="0"/>
                  </a:moveTo>
                  <a:lnTo>
                    <a:pt x="2093976" y="0"/>
                  </a:lnTo>
                  <a:lnTo>
                    <a:pt x="2093976" y="2275332"/>
                  </a:lnTo>
                  <a:lnTo>
                    <a:pt x="0" y="2275332"/>
                  </a:lnTo>
                  <a:lnTo>
                    <a:pt x="0" y="0"/>
                  </a:lnTo>
                  <a:close/>
                </a:path>
              </a:pathLst>
            </a:custGeom>
            <a:blipFill>
              <a:blip r:embed="rId7"/>
              <a:stretch>
                <a:fillRect t="-30" b="-32"/>
              </a:stretch>
            </a:blipFill>
          </p:spPr>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7543" cy="10287000"/>
            <a:chOff x="0" y="0"/>
            <a:chExt cx="24383390" cy="13716000"/>
          </a:xfrm>
        </p:grpSpPr>
        <p:sp>
          <p:nvSpPr>
            <p:cNvPr id="3" name="Freeform 3" descr="preencoded.png"/>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lnTo>
                    <a:pt x="0" y="0"/>
                  </a:lnTo>
                  <a:close/>
                </a:path>
              </a:pathLst>
            </a:custGeom>
            <a:blipFill>
              <a:blip r:embed="rId3"/>
              <a:stretch>
                <a:fillRect l="-1" r="-1"/>
              </a:stretch>
            </a:blipFill>
          </p:spPr>
        </p:sp>
      </p:grpSp>
      <p:grpSp>
        <p:nvGrpSpPr>
          <p:cNvPr id="4" name="Group 4"/>
          <p:cNvGrpSpPr/>
          <p:nvPr/>
        </p:nvGrpSpPr>
        <p:grpSpPr>
          <a:xfrm>
            <a:off x="0" y="0"/>
            <a:ext cx="18287543" cy="10287000"/>
            <a:chOff x="0" y="0"/>
            <a:chExt cx="24383390" cy="13716000"/>
          </a:xfrm>
        </p:grpSpPr>
        <p:sp>
          <p:nvSpPr>
            <p:cNvPr id="5" name="Freeform 5"/>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close/>
                </a:path>
              </a:pathLst>
            </a:custGeom>
            <a:solidFill>
              <a:srgbClr val="F9F9FF">
                <a:alpha val="90196"/>
              </a:srgbClr>
            </a:solidFill>
          </p:spPr>
        </p:sp>
      </p:grpSp>
      <p:grpSp>
        <p:nvGrpSpPr>
          <p:cNvPr id="6" name="Group 6"/>
          <p:cNvGrpSpPr/>
          <p:nvPr/>
        </p:nvGrpSpPr>
        <p:grpSpPr>
          <a:xfrm>
            <a:off x="16615315" y="9838487"/>
            <a:ext cx="1607763" cy="384048"/>
            <a:chOff x="0" y="0"/>
            <a:chExt cx="2143684" cy="512064"/>
          </a:xfrm>
        </p:grpSpPr>
        <p:sp>
          <p:nvSpPr>
            <p:cNvPr id="7" name="Freeform 7" descr="preencoded.png">
              <a:hlinkClick r:id="rId4" tooltip="https://gamma.app/?utm_source=made-with-gamma"/>
            </p:cNvPr>
            <p:cNvSpPr/>
            <p:nvPr/>
          </p:nvSpPr>
          <p:spPr>
            <a:xfrm>
              <a:off x="0" y="0"/>
              <a:ext cx="2143633" cy="512064"/>
            </a:xfrm>
            <a:custGeom>
              <a:avLst/>
              <a:gdLst/>
              <a:ahLst/>
              <a:cxnLst/>
              <a:rect l="l" t="t" r="r" b="b"/>
              <a:pathLst>
                <a:path w="2143633" h="512064">
                  <a:moveTo>
                    <a:pt x="0" y="0"/>
                  </a:moveTo>
                  <a:lnTo>
                    <a:pt x="2143633" y="0"/>
                  </a:lnTo>
                  <a:lnTo>
                    <a:pt x="2143633" y="512064"/>
                  </a:lnTo>
                  <a:lnTo>
                    <a:pt x="0" y="512064"/>
                  </a:lnTo>
                  <a:lnTo>
                    <a:pt x="0" y="0"/>
                  </a:lnTo>
                  <a:close/>
                </a:path>
              </a:pathLst>
            </a:custGeom>
            <a:solidFill>
              <a:srgbClr val="F9F9FF"/>
            </a:solidFill>
          </p:spPr>
        </p:sp>
      </p:grpSp>
      <p:grpSp>
        <p:nvGrpSpPr>
          <p:cNvPr id="8" name="Group 8"/>
          <p:cNvGrpSpPr/>
          <p:nvPr/>
        </p:nvGrpSpPr>
        <p:grpSpPr>
          <a:xfrm>
            <a:off x="2477691" y="537753"/>
            <a:ext cx="13332619" cy="8888635"/>
            <a:chOff x="0" y="0"/>
            <a:chExt cx="17776825" cy="11851513"/>
          </a:xfrm>
        </p:grpSpPr>
        <p:sp>
          <p:nvSpPr>
            <p:cNvPr id="9" name="Freeform 9" descr="preencoded.png"/>
            <p:cNvSpPr/>
            <p:nvPr/>
          </p:nvSpPr>
          <p:spPr>
            <a:xfrm>
              <a:off x="0" y="0"/>
              <a:ext cx="17776825" cy="11851513"/>
            </a:xfrm>
            <a:custGeom>
              <a:avLst/>
              <a:gdLst/>
              <a:ahLst/>
              <a:cxnLst/>
              <a:rect l="l" t="t" r="r" b="b"/>
              <a:pathLst>
                <a:path w="17776825" h="11851513">
                  <a:moveTo>
                    <a:pt x="0" y="0"/>
                  </a:moveTo>
                  <a:lnTo>
                    <a:pt x="17776825" y="0"/>
                  </a:lnTo>
                  <a:lnTo>
                    <a:pt x="17776825" y="11851513"/>
                  </a:lnTo>
                  <a:lnTo>
                    <a:pt x="0" y="11851513"/>
                  </a:lnTo>
                  <a:lnTo>
                    <a:pt x="0" y="0"/>
                  </a:lnTo>
                  <a:close/>
                </a:path>
              </a:pathLst>
            </a:custGeom>
            <a:blipFill>
              <a:blip r:embed="rId5"/>
              <a:stretch>
                <a:fillRect t="-45" b="-45"/>
              </a:stretch>
            </a:blipFill>
          </p:spPr>
        </p:sp>
      </p:grpSp>
      <p:grpSp>
        <p:nvGrpSpPr>
          <p:cNvPr id="10" name="Group 10"/>
          <p:cNvGrpSpPr/>
          <p:nvPr/>
        </p:nvGrpSpPr>
        <p:grpSpPr>
          <a:xfrm>
            <a:off x="289541" y="354149"/>
            <a:ext cx="1579493" cy="1498616"/>
            <a:chOff x="0" y="0"/>
            <a:chExt cx="2105990" cy="1998154"/>
          </a:xfrm>
        </p:grpSpPr>
        <p:sp>
          <p:nvSpPr>
            <p:cNvPr id="11" name="Freeform 11" descr="logo 2.png"/>
            <p:cNvSpPr/>
            <p:nvPr/>
          </p:nvSpPr>
          <p:spPr>
            <a:xfrm>
              <a:off x="0" y="0"/>
              <a:ext cx="2106041" cy="1998218"/>
            </a:xfrm>
            <a:custGeom>
              <a:avLst/>
              <a:gdLst/>
              <a:ahLst/>
              <a:cxnLst/>
              <a:rect l="l" t="t" r="r" b="b"/>
              <a:pathLst>
                <a:path w="2106041" h="1998218">
                  <a:moveTo>
                    <a:pt x="0" y="0"/>
                  </a:moveTo>
                  <a:lnTo>
                    <a:pt x="2106041" y="0"/>
                  </a:lnTo>
                  <a:lnTo>
                    <a:pt x="2106041" y="1998218"/>
                  </a:lnTo>
                  <a:lnTo>
                    <a:pt x="0" y="1998218"/>
                  </a:lnTo>
                  <a:lnTo>
                    <a:pt x="0" y="0"/>
                  </a:lnTo>
                  <a:close/>
                </a:path>
              </a:pathLst>
            </a:custGeom>
            <a:blipFill>
              <a:blip r:embed="rId6"/>
              <a:stretch>
                <a:fillRect t="-140" r="2" b="-136"/>
              </a:stretch>
            </a:blipFill>
          </p:spPr>
        </p:sp>
      </p:grpSp>
      <p:grpSp>
        <p:nvGrpSpPr>
          <p:cNvPr id="12" name="Group 12"/>
          <p:cNvGrpSpPr/>
          <p:nvPr/>
        </p:nvGrpSpPr>
        <p:grpSpPr>
          <a:xfrm>
            <a:off x="16028651" y="237582"/>
            <a:ext cx="1570482" cy="1706528"/>
            <a:chOff x="0" y="0"/>
            <a:chExt cx="2093976" cy="2275370"/>
          </a:xfrm>
        </p:grpSpPr>
        <p:sp>
          <p:nvSpPr>
            <p:cNvPr id="13" name="Freeform 13" descr="logo3.png"/>
            <p:cNvSpPr/>
            <p:nvPr/>
          </p:nvSpPr>
          <p:spPr>
            <a:xfrm>
              <a:off x="0" y="0"/>
              <a:ext cx="2093976" cy="2275332"/>
            </a:xfrm>
            <a:custGeom>
              <a:avLst/>
              <a:gdLst/>
              <a:ahLst/>
              <a:cxnLst/>
              <a:rect l="l" t="t" r="r" b="b"/>
              <a:pathLst>
                <a:path w="2093976" h="2275332">
                  <a:moveTo>
                    <a:pt x="0" y="0"/>
                  </a:moveTo>
                  <a:lnTo>
                    <a:pt x="2093976" y="0"/>
                  </a:lnTo>
                  <a:lnTo>
                    <a:pt x="2093976" y="2275332"/>
                  </a:lnTo>
                  <a:lnTo>
                    <a:pt x="0" y="2275332"/>
                  </a:lnTo>
                  <a:lnTo>
                    <a:pt x="0" y="0"/>
                  </a:lnTo>
                  <a:close/>
                </a:path>
              </a:pathLst>
            </a:custGeom>
            <a:blipFill>
              <a:blip r:embed="rId7"/>
              <a:stretch>
                <a:fillRect t="-30" b="-32"/>
              </a:stretch>
            </a:blipFill>
          </p:spPr>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7543" cy="10287000"/>
            <a:chOff x="0" y="0"/>
            <a:chExt cx="24383390" cy="13716000"/>
          </a:xfrm>
        </p:grpSpPr>
        <p:sp>
          <p:nvSpPr>
            <p:cNvPr id="3" name="Freeform 3" descr="preencoded.png"/>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lnTo>
                    <a:pt x="0" y="0"/>
                  </a:lnTo>
                  <a:close/>
                </a:path>
              </a:pathLst>
            </a:custGeom>
            <a:blipFill>
              <a:blip r:embed="rId3"/>
              <a:stretch>
                <a:fillRect l="-1" r="-1"/>
              </a:stretch>
            </a:blipFill>
          </p:spPr>
        </p:sp>
      </p:grpSp>
      <p:grpSp>
        <p:nvGrpSpPr>
          <p:cNvPr id="4" name="Group 4"/>
          <p:cNvGrpSpPr/>
          <p:nvPr/>
        </p:nvGrpSpPr>
        <p:grpSpPr>
          <a:xfrm>
            <a:off x="0" y="0"/>
            <a:ext cx="18287543" cy="10287000"/>
            <a:chOff x="0" y="0"/>
            <a:chExt cx="24383390" cy="13716000"/>
          </a:xfrm>
        </p:grpSpPr>
        <p:sp>
          <p:nvSpPr>
            <p:cNvPr id="5" name="Freeform 5"/>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close/>
                </a:path>
              </a:pathLst>
            </a:custGeom>
            <a:solidFill>
              <a:srgbClr val="F9F9FF">
                <a:alpha val="90196"/>
              </a:srgbClr>
            </a:solidFill>
          </p:spPr>
        </p:sp>
      </p:grpSp>
      <p:grpSp>
        <p:nvGrpSpPr>
          <p:cNvPr id="6" name="Group 6"/>
          <p:cNvGrpSpPr/>
          <p:nvPr/>
        </p:nvGrpSpPr>
        <p:grpSpPr>
          <a:xfrm>
            <a:off x="16615315" y="9838487"/>
            <a:ext cx="1607763" cy="384048"/>
            <a:chOff x="0" y="0"/>
            <a:chExt cx="2143684" cy="512064"/>
          </a:xfrm>
        </p:grpSpPr>
        <p:sp>
          <p:nvSpPr>
            <p:cNvPr id="7" name="Freeform 7" descr="preencoded.png">
              <a:hlinkClick r:id="rId4" tooltip="https://gamma.app/?utm_source=made-with-gamma"/>
            </p:cNvPr>
            <p:cNvSpPr/>
            <p:nvPr/>
          </p:nvSpPr>
          <p:spPr>
            <a:xfrm>
              <a:off x="0" y="0"/>
              <a:ext cx="2143633" cy="512064"/>
            </a:xfrm>
            <a:custGeom>
              <a:avLst/>
              <a:gdLst/>
              <a:ahLst/>
              <a:cxnLst/>
              <a:rect l="l" t="t" r="r" b="b"/>
              <a:pathLst>
                <a:path w="2143633" h="512064">
                  <a:moveTo>
                    <a:pt x="0" y="0"/>
                  </a:moveTo>
                  <a:lnTo>
                    <a:pt x="2143633" y="0"/>
                  </a:lnTo>
                  <a:lnTo>
                    <a:pt x="2143633" y="512064"/>
                  </a:lnTo>
                  <a:lnTo>
                    <a:pt x="0" y="512064"/>
                  </a:lnTo>
                  <a:lnTo>
                    <a:pt x="0" y="0"/>
                  </a:lnTo>
                  <a:close/>
                </a:path>
              </a:pathLst>
            </a:custGeom>
            <a:solidFill>
              <a:srgbClr val="F9F9FF"/>
            </a:solidFill>
          </p:spPr>
        </p:sp>
      </p:grpSp>
      <p:grpSp>
        <p:nvGrpSpPr>
          <p:cNvPr id="8" name="Group 8"/>
          <p:cNvGrpSpPr/>
          <p:nvPr/>
        </p:nvGrpSpPr>
        <p:grpSpPr>
          <a:xfrm>
            <a:off x="5146729" y="325841"/>
            <a:ext cx="8086592" cy="9635328"/>
            <a:chOff x="0" y="0"/>
            <a:chExt cx="10782122" cy="12847104"/>
          </a:xfrm>
        </p:grpSpPr>
        <p:sp>
          <p:nvSpPr>
            <p:cNvPr id="9" name="Freeform 9" descr="preencoded.png"/>
            <p:cNvSpPr/>
            <p:nvPr/>
          </p:nvSpPr>
          <p:spPr>
            <a:xfrm>
              <a:off x="0" y="0"/>
              <a:ext cx="10782173" cy="12847066"/>
            </a:xfrm>
            <a:custGeom>
              <a:avLst/>
              <a:gdLst/>
              <a:ahLst/>
              <a:cxnLst/>
              <a:rect l="l" t="t" r="r" b="b"/>
              <a:pathLst>
                <a:path w="10782173" h="12847066">
                  <a:moveTo>
                    <a:pt x="0" y="0"/>
                  </a:moveTo>
                  <a:lnTo>
                    <a:pt x="10782173" y="0"/>
                  </a:lnTo>
                  <a:lnTo>
                    <a:pt x="10782173" y="12847066"/>
                  </a:lnTo>
                  <a:lnTo>
                    <a:pt x="0" y="12847066"/>
                  </a:lnTo>
                  <a:lnTo>
                    <a:pt x="0" y="0"/>
                  </a:lnTo>
                  <a:close/>
                </a:path>
              </a:pathLst>
            </a:custGeom>
            <a:blipFill>
              <a:blip r:embed="rId5"/>
              <a:stretch>
                <a:fillRect t="-3" b="-4"/>
              </a:stretch>
            </a:blipFill>
          </p:spPr>
        </p:sp>
      </p:grpSp>
      <p:grpSp>
        <p:nvGrpSpPr>
          <p:cNvPr id="10" name="Group 10"/>
          <p:cNvGrpSpPr/>
          <p:nvPr/>
        </p:nvGrpSpPr>
        <p:grpSpPr>
          <a:xfrm>
            <a:off x="289541" y="354149"/>
            <a:ext cx="1579493" cy="1498616"/>
            <a:chOff x="0" y="0"/>
            <a:chExt cx="2105990" cy="1998154"/>
          </a:xfrm>
        </p:grpSpPr>
        <p:sp>
          <p:nvSpPr>
            <p:cNvPr id="11" name="Freeform 11" descr="logo 2.png"/>
            <p:cNvSpPr/>
            <p:nvPr/>
          </p:nvSpPr>
          <p:spPr>
            <a:xfrm>
              <a:off x="0" y="0"/>
              <a:ext cx="2106041" cy="1998218"/>
            </a:xfrm>
            <a:custGeom>
              <a:avLst/>
              <a:gdLst/>
              <a:ahLst/>
              <a:cxnLst/>
              <a:rect l="l" t="t" r="r" b="b"/>
              <a:pathLst>
                <a:path w="2106041" h="1998218">
                  <a:moveTo>
                    <a:pt x="0" y="0"/>
                  </a:moveTo>
                  <a:lnTo>
                    <a:pt x="2106041" y="0"/>
                  </a:lnTo>
                  <a:lnTo>
                    <a:pt x="2106041" y="1998218"/>
                  </a:lnTo>
                  <a:lnTo>
                    <a:pt x="0" y="1998218"/>
                  </a:lnTo>
                  <a:lnTo>
                    <a:pt x="0" y="0"/>
                  </a:lnTo>
                  <a:close/>
                </a:path>
              </a:pathLst>
            </a:custGeom>
            <a:blipFill>
              <a:blip r:embed="rId6"/>
              <a:stretch>
                <a:fillRect t="-140" r="2" b="-136"/>
              </a:stretch>
            </a:blipFill>
          </p:spPr>
        </p:sp>
      </p:grpSp>
      <p:grpSp>
        <p:nvGrpSpPr>
          <p:cNvPr id="12" name="Group 12"/>
          <p:cNvGrpSpPr/>
          <p:nvPr/>
        </p:nvGrpSpPr>
        <p:grpSpPr>
          <a:xfrm>
            <a:off x="16028651" y="237582"/>
            <a:ext cx="1570482" cy="1706528"/>
            <a:chOff x="0" y="0"/>
            <a:chExt cx="2093976" cy="2275370"/>
          </a:xfrm>
        </p:grpSpPr>
        <p:sp>
          <p:nvSpPr>
            <p:cNvPr id="13" name="Freeform 13" descr="logo3.png"/>
            <p:cNvSpPr/>
            <p:nvPr/>
          </p:nvSpPr>
          <p:spPr>
            <a:xfrm>
              <a:off x="0" y="0"/>
              <a:ext cx="2093976" cy="2275332"/>
            </a:xfrm>
            <a:custGeom>
              <a:avLst/>
              <a:gdLst/>
              <a:ahLst/>
              <a:cxnLst/>
              <a:rect l="l" t="t" r="r" b="b"/>
              <a:pathLst>
                <a:path w="2093976" h="2275332">
                  <a:moveTo>
                    <a:pt x="0" y="0"/>
                  </a:moveTo>
                  <a:lnTo>
                    <a:pt x="2093976" y="0"/>
                  </a:lnTo>
                  <a:lnTo>
                    <a:pt x="2093976" y="2275332"/>
                  </a:lnTo>
                  <a:lnTo>
                    <a:pt x="0" y="2275332"/>
                  </a:lnTo>
                  <a:lnTo>
                    <a:pt x="0" y="0"/>
                  </a:lnTo>
                  <a:close/>
                </a:path>
              </a:pathLst>
            </a:custGeom>
            <a:blipFill>
              <a:blip r:embed="rId7"/>
              <a:stretch>
                <a:fillRect t="-30" b="-32"/>
              </a:stretch>
            </a:blipFill>
          </p:spPr>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6004BF10-7B75-76C1-F276-D9A7C359188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0049E75-8712-B3AD-0768-1591961273BF}"/>
              </a:ext>
            </a:extLst>
          </p:cNvPr>
          <p:cNvGrpSpPr/>
          <p:nvPr/>
        </p:nvGrpSpPr>
        <p:grpSpPr>
          <a:xfrm>
            <a:off x="0" y="0"/>
            <a:ext cx="18287543" cy="10287000"/>
            <a:chOff x="0" y="0"/>
            <a:chExt cx="24383390" cy="13716000"/>
          </a:xfrm>
        </p:grpSpPr>
        <p:sp>
          <p:nvSpPr>
            <p:cNvPr id="3" name="Freeform 3" descr="preencoded.png">
              <a:extLst>
                <a:ext uri="{FF2B5EF4-FFF2-40B4-BE49-F238E27FC236}">
                  <a16:creationId xmlns:a16="http://schemas.microsoft.com/office/drawing/2014/main" id="{1A407F44-0786-02FD-8D5A-48217D10ABCB}"/>
                </a:ext>
              </a:extLst>
            </p:cNvPr>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lnTo>
                    <a:pt x="0" y="0"/>
                  </a:lnTo>
                  <a:close/>
                </a:path>
              </a:pathLst>
            </a:custGeom>
            <a:blipFill>
              <a:blip r:embed="rId3"/>
              <a:stretch>
                <a:fillRect l="-1" r="-1"/>
              </a:stretch>
            </a:blipFill>
          </p:spPr>
        </p:sp>
      </p:grpSp>
      <p:grpSp>
        <p:nvGrpSpPr>
          <p:cNvPr id="4" name="Group 4">
            <a:extLst>
              <a:ext uri="{FF2B5EF4-FFF2-40B4-BE49-F238E27FC236}">
                <a16:creationId xmlns:a16="http://schemas.microsoft.com/office/drawing/2014/main" id="{895EF6F6-2D1D-7B3B-DE7A-BD1D8F34FA13}"/>
              </a:ext>
            </a:extLst>
          </p:cNvPr>
          <p:cNvGrpSpPr/>
          <p:nvPr/>
        </p:nvGrpSpPr>
        <p:grpSpPr>
          <a:xfrm>
            <a:off x="0" y="0"/>
            <a:ext cx="18287543" cy="10287000"/>
            <a:chOff x="0" y="0"/>
            <a:chExt cx="24383390" cy="13716000"/>
          </a:xfrm>
        </p:grpSpPr>
        <p:sp>
          <p:nvSpPr>
            <p:cNvPr id="5" name="Freeform 5">
              <a:extLst>
                <a:ext uri="{FF2B5EF4-FFF2-40B4-BE49-F238E27FC236}">
                  <a16:creationId xmlns:a16="http://schemas.microsoft.com/office/drawing/2014/main" id="{86F6D1C3-E4B9-D9AB-9974-6548A2ABEA7C}"/>
                </a:ext>
              </a:extLst>
            </p:cNvPr>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close/>
                </a:path>
              </a:pathLst>
            </a:custGeom>
            <a:solidFill>
              <a:srgbClr val="F9F9FF">
                <a:alpha val="90196"/>
              </a:srgbClr>
            </a:solidFill>
          </p:spPr>
        </p:sp>
      </p:grpSp>
      <p:grpSp>
        <p:nvGrpSpPr>
          <p:cNvPr id="6" name="Group 6">
            <a:extLst>
              <a:ext uri="{FF2B5EF4-FFF2-40B4-BE49-F238E27FC236}">
                <a16:creationId xmlns:a16="http://schemas.microsoft.com/office/drawing/2014/main" id="{DB4BE4AE-6665-02BC-355A-6B4B37EFF1E8}"/>
              </a:ext>
            </a:extLst>
          </p:cNvPr>
          <p:cNvGrpSpPr/>
          <p:nvPr/>
        </p:nvGrpSpPr>
        <p:grpSpPr>
          <a:xfrm>
            <a:off x="16615315" y="9838487"/>
            <a:ext cx="1607763" cy="384048"/>
            <a:chOff x="0" y="0"/>
            <a:chExt cx="2143684" cy="512064"/>
          </a:xfrm>
        </p:grpSpPr>
        <p:sp>
          <p:nvSpPr>
            <p:cNvPr id="7" name="Freeform 7" descr="preencoded.png">
              <a:hlinkClick r:id="rId4" tooltip="https://gamma.app/?utm_source=made-with-gamma"/>
              <a:extLst>
                <a:ext uri="{FF2B5EF4-FFF2-40B4-BE49-F238E27FC236}">
                  <a16:creationId xmlns:a16="http://schemas.microsoft.com/office/drawing/2014/main" id="{5E4163C0-E385-D629-AC1C-EB5391C769DC}"/>
                </a:ext>
              </a:extLst>
            </p:cNvPr>
            <p:cNvSpPr/>
            <p:nvPr/>
          </p:nvSpPr>
          <p:spPr>
            <a:xfrm>
              <a:off x="0" y="0"/>
              <a:ext cx="2143633" cy="512064"/>
            </a:xfrm>
            <a:custGeom>
              <a:avLst/>
              <a:gdLst/>
              <a:ahLst/>
              <a:cxnLst/>
              <a:rect l="l" t="t" r="r" b="b"/>
              <a:pathLst>
                <a:path w="2143633" h="512064">
                  <a:moveTo>
                    <a:pt x="0" y="0"/>
                  </a:moveTo>
                  <a:lnTo>
                    <a:pt x="2143633" y="0"/>
                  </a:lnTo>
                  <a:lnTo>
                    <a:pt x="2143633" y="512064"/>
                  </a:lnTo>
                  <a:lnTo>
                    <a:pt x="0" y="512064"/>
                  </a:lnTo>
                  <a:lnTo>
                    <a:pt x="0" y="0"/>
                  </a:lnTo>
                  <a:close/>
                </a:path>
              </a:pathLst>
            </a:custGeom>
            <a:solidFill>
              <a:srgbClr val="F9F9FF"/>
            </a:solidFill>
          </p:spPr>
        </p:sp>
      </p:grpSp>
      <p:sp>
        <p:nvSpPr>
          <p:cNvPr id="8" name="TextBox 8">
            <a:extLst>
              <a:ext uri="{FF2B5EF4-FFF2-40B4-BE49-F238E27FC236}">
                <a16:creationId xmlns:a16="http://schemas.microsoft.com/office/drawing/2014/main" id="{8DB81D52-84A7-CB6E-1D4A-8100D2324B97}"/>
              </a:ext>
            </a:extLst>
          </p:cNvPr>
          <p:cNvSpPr txBox="1"/>
          <p:nvPr/>
        </p:nvSpPr>
        <p:spPr>
          <a:xfrm>
            <a:off x="1347607" y="1531058"/>
            <a:ext cx="16303114" cy="877163"/>
          </a:xfrm>
          <a:prstGeom prst="rect">
            <a:avLst/>
          </a:prstGeom>
        </p:spPr>
        <p:txBody>
          <a:bodyPr lIns="0" tIns="0" rIns="0" bIns="0" rtlCol="0" anchor="t">
            <a:spAutoFit/>
          </a:bodyPr>
          <a:lstStyle/>
          <a:p>
            <a:pPr algn="ctr">
              <a:lnSpc>
                <a:spcPts val="6926"/>
              </a:lnSpc>
            </a:pPr>
            <a:r>
              <a:rPr lang="en-US" sz="5550" dirty="0">
                <a:solidFill>
                  <a:srgbClr val="1B1B27"/>
                </a:solidFill>
                <a:latin typeface="Corben"/>
                <a:ea typeface="Corben"/>
                <a:cs typeface="Corben"/>
                <a:sym typeface="Corben"/>
              </a:rPr>
              <a:t>Implementation</a:t>
            </a:r>
          </a:p>
        </p:txBody>
      </p:sp>
      <p:grpSp>
        <p:nvGrpSpPr>
          <p:cNvPr id="13" name="Group 13">
            <a:extLst>
              <a:ext uri="{FF2B5EF4-FFF2-40B4-BE49-F238E27FC236}">
                <a16:creationId xmlns:a16="http://schemas.microsoft.com/office/drawing/2014/main" id="{E2CA4660-F41E-A57C-BDB7-0DCB757BDDB2}"/>
              </a:ext>
            </a:extLst>
          </p:cNvPr>
          <p:cNvGrpSpPr/>
          <p:nvPr/>
        </p:nvGrpSpPr>
        <p:grpSpPr>
          <a:xfrm>
            <a:off x="289541" y="354149"/>
            <a:ext cx="1579493" cy="1498616"/>
            <a:chOff x="0" y="0"/>
            <a:chExt cx="2105990" cy="1998154"/>
          </a:xfrm>
        </p:grpSpPr>
        <p:sp>
          <p:nvSpPr>
            <p:cNvPr id="14" name="Freeform 14" descr="logo 2.png">
              <a:extLst>
                <a:ext uri="{FF2B5EF4-FFF2-40B4-BE49-F238E27FC236}">
                  <a16:creationId xmlns:a16="http://schemas.microsoft.com/office/drawing/2014/main" id="{8D135111-84DC-F82D-26E7-D8384B27EFC4}"/>
                </a:ext>
              </a:extLst>
            </p:cNvPr>
            <p:cNvSpPr/>
            <p:nvPr/>
          </p:nvSpPr>
          <p:spPr>
            <a:xfrm>
              <a:off x="0" y="0"/>
              <a:ext cx="2106041" cy="1998218"/>
            </a:xfrm>
            <a:custGeom>
              <a:avLst/>
              <a:gdLst/>
              <a:ahLst/>
              <a:cxnLst/>
              <a:rect l="l" t="t" r="r" b="b"/>
              <a:pathLst>
                <a:path w="2106041" h="1998218">
                  <a:moveTo>
                    <a:pt x="0" y="0"/>
                  </a:moveTo>
                  <a:lnTo>
                    <a:pt x="2106041" y="0"/>
                  </a:lnTo>
                  <a:lnTo>
                    <a:pt x="2106041" y="1998218"/>
                  </a:lnTo>
                  <a:lnTo>
                    <a:pt x="0" y="1998218"/>
                  </a:lnTo>
                  <a:lnTo>
                    <a:pt x="0" y="0"/>
                  </a:lnTo>
                  <a:close/>
                </a:path>
              </a:pathLst>
            </a:custGeom>
            <a:blipFill>
              <a:blip r:embed="rId5"/>
              <a:stretch>
                <a:fillRect t="-140" r="2" b="-136"/>
              </a:stretch>
            </a:blipFill>
          </p:spPr>
        </p:sp>
      </p:grpSp>
      <p:grpSp>
        <p:nvGrpSpPr>
          <p:cNvPr id="15" name="Group 15">
            <a:extLst>
              <a:ext uri="{FF2B5EF4-FFF2-40B4-BE49-F238E27FC236}">
                <a16:creationId xmlns:a16="http://schemas.microsoft.com/office/drawing/2014/main" id="{F307BC31-6969-A4C8-5DD0-F8C3180B7F87}"/>
              </a:ext>
            </a:extLst>
          </p:cNvPr>
          <p:cNvGrpSpPr/>
          <p:nvPr/>
        </p:nvGrpSpPr>
        <p:grpSpPr>
          <a:xfrm>
            <a:off x="16028651" y="237582"/>
            <a:ext cx="1570482" cy="1706528"/>
            <a:chOff x="0" y="0"/>
            <a:chExt cx="2093976" cy="2275370"/>
          </a:xfrm>
        </p:grpSpPr>
        <p:sp>
          <p:nvSpPr>
            <p:cNvPr id="16" name="Freeform 16" descr="logo3.png">
              <a:extLst>
                <a:ext uri="{FF2B5EF4-FFF2-40B4-BE49-F238E27FC236}">
                  <a16:creationId xmlns:a16="http://schemas.microsoft.com/office/drawing/2014/main" id="{2100069D-81DC-EF82-8B4F-1BBE7F8F6370}"/>
                </a:ext>
              </a:extLst>
            </p:cNvPr>
            <p:cNvSpPr/>
            <p:nvPr/>
          </p:nvSpPr>
          <p:spPr>
            <a:xfrm>
              <a:off x="0" y="0"/>
              <a:ext cx="2093976" cy="2275332"/>
            </a:xfrm>
            <a:custGeom>
              <a:avLst/>
              <a:gdLst/>
              <a:ahLst/>
              <a:cxnLst/>
              <a:rect l="l" t="t" r="r" b="b"/>
              <a:pathLst>
                <a:path w="2093976" h="2275332">
                  <a:moveTo>
                    <a:pt x="0" y="0"/>
                  </a:moveTo>
                  <a:lnTo>
                    <a:pt x="2093976" y="0"/>
                  </a:lnTo>
                  <a:lnTo>
                    <a:pt x="2093976" y="2275332"/>
                  </a:lnTo>
                  <a:lnTo>
                    <a:pt x="0" y="2275332"/>
                  </a:lnTo>
                  <a:lnTo>
                    <a:pt x="0" y="0"/>
                  </a:lnTo>
                  <a:close/>
                </a:path>
              </a:pathLst>
            </a:custGeom>
            <a:blipFill>
              <a:blip r:embed="rId6"/>
              <a:stretch>
                <a:fillRect t="-30" b="-32"/>
              </a:stretch>
            </a:blipFill>
          </p:spPr>
        </p:sp>
      </p:grpSp>
      <p:sp>
        <p:nvSpPr>
          <p:cNvPr id="17" name="TextBox 16">
            <a:extLst>
              <a:ext uri="{FF2B5EF4-FFF2-40B4-BE49-F238E27FC236}">
                <a16:creationId xmlns:a16="http://schemas.microsoft.com/office/drawing/2014/main" id="{47CB1C66-A2F0-3BC2-91C4-86376355F5A6}"/>
              </a:ext>
            </a:extLst>
          </p:cNvPr>
          <p:cNvSpPr txBox="1"/>
          <p:nvPr/>
        </p:nvSpPr>
        <p:spPr>
          <a:xfrm>
            <a:off x="914400" y="3009900"/>
            <a:ext cx="5357993" cy="6247864"/>
          </a:xfrm>
          <a:prstGeom prst="rect">
            <a:avLst/>
          </a:prstGeom>
          <a:noFill/>
        </p:spPr>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Firebase Database Connection</a:t>
            </a:r>
          </a:p>
          <a:p>
            <a:r>
              <a:rPr lang="en-IN" sz="2800" b="1" dirty="0">
                <a:latin typeface="Times New Roman" panose="02020603050405020304" pitchFamily="18" charset="0"/>
                <a:cs typeface="Times New Roman" panose="02020603050405020304" pitchFamily="18" charset="0"/>
              </a:rPr>
              <a:t>Code:</a:t>
            </a:r>
          </a:p>
          <a:p>
            <a:r>
              <a:rPr lang="en-IN" sz="2800" dirty="0" err="1">
                <a:latin typeface="Times New Roman" panose="02020603050405020304" pitchFamily="18" charset="0"/>
                <a:cs typeface="Times New Roman" panose="02020603050405020304" pitchFamily="18" charset="0"/>
              </a:rPr>
              <a:t>const</a:t>
            </a:r>
            <a:r>
              <a:rPr lang="en-IN" sz="2800" dirty="0">
                <a:latin typeface="Times New Roman" panose="02020603050405020304" pitchFamily="18" charset="0"/>
                <a:cs typeface="Times New Roman" panose="02020603050405020304" pitchFamily="18" charset="0"/>
              </a:rPr>
              <a:t> app = </a:t>
            </a:r>
            <a:r>
              <a:rPr lang="en-IN" sz="2800" dirty="0" err="1">
                <a:latin typeface="Times New Roman" panose="02020603050405020304" pitchFamily="18" charset="0"/>
                <a:cs typeface="Times New Roman" panose="02020603050405020304" pitchFamily="18" charset="0"/>
              </a:rPr>
              <a:t>initializeApp</a:t>
            </a:r>
            <a:r>
              <a:rPr lang="en-IN" sz="2800" dirty="0">
                <a:latin typeface="Times New Roman" panose="02020603050405020304" pitchFamily="18" charset="0"/>
                <a:cs typeface="Times New Roman" panose="02020603050405020304" pitchFamily="18" charset="0"/>
              </a:rPr>
              <a:t>(</a:t>
            </a:r>
            <a:r>
              <a:rPr lang="en-IN" sz="2800" dirty="0" err="1">
                <a:latin typeface="Times New Roman" panose="02020603050405020304" pitchFamily="18" charset="0"/>
                <a:cs typeface="Times New Roman" panose="02020603050405020304" pitchFamily="18" charset="0"/>
              </a:rPr>
              <a:t>firebaseConfig</a:t>
            </a:r>
            <a:r>
              <a:rPr lang="en-IN" sz="2800" dirty="0">
                <a:latin typeface="Times New Roman" panose="02020603050405020304" pitchFamily="18" charset="0"/>
                <a:cs typeface="Times New Roman" panose="02020603050405020304" pitchFamily="18" charset="0"/>
              </a:rPr>
              <a:t>);</a:t>
            </a:r>
          </a:p>
          <a:p>
            <a:r>
              <a:rPr lang="en-IN" sz="2800" dirty="0" err="1">
                <a:latin typeface="Times New Roman" panose="02020603050405020304" pitchFamily="18" charset="0"/>
                <a:cs typeface="Times New Roman" panose="02020603050405020304" pitchFamily="18" charset="0"/>
              </a:rPr>
              <a:t>const</a:t>
            </a:r>
            <a:r>
              <a:rPr lang="en-IN" sz="2800" dirty="0">
                <a:latin typeface="Times New Roman" panose="02020603050405020304" pitchFamily="18" charset="0"/>
                <a:cs typeface="Times New Roman" panose="02020603050405020304" pitchFamily="18" charset="0"/>
              </a:rPr>
              <a:t> auth = </a:t>
            </a:r>
            <a:r>
              <a:rPr lang="en-IN" sz="2800" dirty="0" err="1">
                <a:latin typeface="Times New Roman" panose="02020603050405020304" pitchFamily="18" charset="0"/>
                <a:cs typeface="Times New Roman" panose="02020603050405020304" pitchFamily="18" charset="0"/>
              </a:rPr>
              <a:t>getAuth</a:t>
            </a:r>
            <a:r>
              <a:rPr lang="en-IN" sz="2800" dirty="0">
                <a:latin typeface="Times New Roman" panose="02020603050405020304" pitchFamily="18" charset="0"/>
                <a:cs typeface="Times New Roman" panose="02020603050405020304" pitchFamily="18" charset="0"/>
              </a:rPr>
              <a:t>(app);</a:t>
            </a:r>
          </a:p>
          <a:p>
            <a:r>
              <a:rPr lang="en-IN" sz="2800" dirty="0" err="1">
                <a:latin typeface="Times New Roman" panose="02020603050405020304" pitchFamily="18" charset="0"/>
                <a:cs typeface="Times New Roman" panose="02020603050405020304" pitchFamily="18" charset="0"/>
              </a:rPr>
              <a:t>const</a:t>
            </a:r>
            <a:r>
              <a:rPr lang="en-IN" sz="2800" dirty="0">
                <a:latin typeface="Times New Roman" panose="02020603050405020304" pitchFamily="18" charset="0"/>
                <a:cs typeface="Times New Roman" panose="02020603050405020304" pitchFamily="18" charset="0"/>
              </a:rPr>
              <a:t> </a:t>
            </a:r>
            <a:r>
              <a:rPr lang="en-IN" sz="2800" dirty="0" err="1">
                <a:latin typeface="Times New Roman" panose="02020603050405020304" pitchFamily="18" charset="0"/>
                <a:cs typeface="Times New Roman" panose="02020603050405020304" pitchFamily="18" charset="0"/>
              </a:rPr>
              <a:t>db</a:t>
            </a:r>
            <a:r>
              <a:rPr lang="en-IN" sz="2800" dirty="0">
                <a:latin typeface="Times New Roman" panose="02020603050405020304" pitchFamily="18" charset="0"/>
                <a:cs typeface="Times New Roman" panose="02020603050405020304" pitchFamily="18" charset="0"/>
              </a:rPr>
              <a:t> = </a:t>
            </a:r>
            <a:r>
              <a:rPr lang="en-IN" sz="2800" dirty="0" err="1">
                <a:latin typeface="Times New Roman" panose="02020603050405020304" pitchFamily="18" charset="0"/>
                <a:cs typeface="Times New Roman" panose="02020603050405020304" pitchFamily="18" charset="0"/>
              </a:rPr>
              <a:t>getFirestore</a:t>
            </a:r>
            <a:r>
              <a:rPr lang="en-IN" sz="2800" dirty="0">
                <a:latin typeface="Times New Roman" panose="02020603050405020304" pitchFamily="18" charset="0"/>
                <a:cs typeface="Times New Roman" panose="02020603050405020304" pitchFamily="18" charset="0"/>
              </a:rPr>
              <a:t>(app);</a:t>
            </a:r>
          </a:p>
          <a:p>
            <a:endParaRPr lang="en-IN" sz="28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Purpose: </a:t>
            </a:r>
            <a:r>
              <a:rPr lang="en-IN" sz="2800" dirty="0">
                <a:latin typeface="Times New Roman" panose="02020603050405020304" pitchFamily="18" charset="0"/>
                <a:cs typeface="Times New Roman" panose="02020603050405020304" pitchFamily="18" charset="0"/>
              </a:rPr>
              <a:t>Connects the application with Firebase Authentication and Cloud </a:t>
            </a:r>
            <a:r>
              <a:rPr lang="en-IN" sz="2800" dirty="0" err="1">
                <a:latin typeface="Times New Roman" panose="02020603050405020304" pitchFamily="18" charset="0"/>
                <a:cs typeface="Times New Roman" panose="02020603050405020304" pitchFamily="18" charset="0"/>
              </a:rPr>
              <a:t>Firestore</a:t>
            </a:r>
            <a:r>
              <a:rPr lang="en-IN" sz="2800" dirty="0">
                <a:latin typeface="Times New Roman" panose="02020603050405020304" pitchFamily="18" charset="0"/>
                <a:cs typeface="Times New Roman" panose="02020603050405020304" pitchFamily="18" charset="0"/>
              </a:rPr>
              <a:t>.</a:t>
            </a:r>
          </a:p>
        </p:txBody>
      </p:sp>
      <p:sp>
        <p:nvSpPr>
          <p:cNvPr id="19" name="TextBox 18">
            <a:extLst>
              <a:ext uri="{FF2B5EF4-FFF2-40B4-BE49-F238E27FC236}">
                <a16:creationId xmlns:a16="http://schemas.microsoft.com/office/drawing/2014/main" id="{0C480DE2-A114-C561-B3C6-603B14C02D47}"/>
              </a:ext>
            </a:extLst>
          </p:cNvPr>
          <p:cNvSpPr txBox="1"/>
          <p:nvPr/>
        </p:nvSpPr>
        <p:spPr>
          <a:xfrm>
            <a:off x="6553200" y="3010436"/>
            <a:ext cx="5357993" cy="6247864"/>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D</a:t>
            </a:r>
            <a:r>
              <a:rPr lang="en-IN" sz="3200" b="1" dirty="0" err="1">
                <a:latin typeface="Times New Roman" panose="02020603050405020304" pitchFamily="18" charset="0"/>
                <a:cs typeface="Times New Roman" panose="02020603050405020304" pitchFamily="18" charset="0"/>
              </a:rPr>
              <a:t>ataset</a:t>
            </a:r>
            <a:r>
              <a:rPr lang="en-IN" sz="3200" b="1" dirty="0">
                <a:latin typeface="Times New Roman" panose="02020603050405020304" pitchFamily="18" charset="0"/>
                <a:cs typeface="Times New Roman" panose="02020603050405020304" pitchFamily="18" charset="0"/>
              </a:rPr>
              <a:t> Submission</a:t>
            </a:r>
          </a:p>
          <a:p>
            <a:endParaRPr lang="en-IN" sz="2800" b="1"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Code:</a:t>
            </a:r>
          </a:p>
          <a:p>
            <a:r>
              <a:rPr lang="en-IN" sz="2800" dirty="0">
                <a:latin typeface="Times New Roman" panose="02020603050405020304" pitchFamily="18" charset="0"/>
                <a:cs typeface="Times New Roman" panose="02020603050405020304" pitchFamily="18" charset="0"/>
              </a:rPr>
              <a:t>await </a:t>
            </a:r>
            <a:r>
              <a:rPr lang="en-IN" sz="2800" dirty="0" err="1">
                <a:latin typeface="Times New Roman" panose="02020603050405020304" pitchFamily="18" charset="0"/>
                <a:cs typeface="Times New Roman" panose="02020603050405020304" pitchFamily="18" charset="0"/>
              </a:rPr>
              <a:t>addDoc</a:t>
            </a:r>
            <a:r>
              <a:rPr lang="en-IN" sz="2800" dirty="0">
                <a:latin typeface="Times New Roman" panose="02020603050405020304" pitchFamily="18" charset="0"/>
                <a:cs typeface="Times New Roman" panose="02020603050405020304" pitchFamily="18" charset="0"/>
              </a:rPr>
              <a:t>(collection(</a:t>
            </a:r>
            <a:r>
              <a:rPr lang="en-IN" sz="2800" dirty="0" err="1">
                <a:latin typeface="Times New Roman" panose="02020603050405020304" pitchFamily="18" charset="0"/>
                <a:cs typeface="Times New Roman" panose="02020603050405020304" pitchFamily="18" charset="0"/>
              </a:rPr>
              <a:t>db</a:t>
            </a:r>
            <a:r>
              <a:rPr lang="en-IN" sz="2800" dirty="0">
                <a:latin typeface="Times New Roman" panose="02020603050405020304" pitchFamily="18" charset="0"/>
                <a:cs typeface="Times New Roman" panose="02020603050405020304" pitchFamily="18" charset="0"/>
              </a:rPr>
              <a:t>, "datasets"), {</a:t>
            </a:r>
          </a:p>
          <a:p>
            <a:r>
              <a:rPr lang="en-IN" sz="2800" dirty="0">
                <a:latin typeface="Times New Roman" panose="02020603050405020304" pitchFamily="18" charset="0"/>
                <a:cs typeface="Times New Roman" panose="02020603050405020304" pitchFamily="18" charset="0"/>
              </a:rPr>
              <a:t>  title: </a:t>
            </a:r>
            <a:r>
              <a:rPr lang="en-IN" sz="2800" dirty="0" err="1">
                <a:latin typeface="Times New Roman" panose="02020603050405020304" pitchFamily="18" charset="0"/>
                <a:cs typeface="Times New Roman" panose="02020603050405020304" pitchFamily="18" charset="0"/>
              </a:rPr>
              <a:t>datasetTitle</a:t>
            </a:r>
            <a:r>
              <a:rPr lang="en-IN" sz="2800" dirty="0">
                <a:latin typeface="Times New Roman" panose="02020603050405020304" pitchFamily="18" charset="0"/>
                <a:cs typeface="Times New Roman" panose="02020603050405020304" pitchFamily="18" charset="0"/>
              </a:rPr>
              <a:t>,</a:t>
            </a:r>
          </a:p>
          <a:p>
            <a:r>
              <a:rPr lang="en-IN" sz="2800" dirty="0">
                <a:latin typeface="Times New Roman" panose="02020603050405020304" pitchFamily="18" charset="0"/>
                <a:cs typeface="Times New Roman" panose="02020603050405020304" pitchFamily="18" charset="0"/>
              </a:rPr>
              <a:t>  </a:t>
            </a:r>
            <a:r>
              <a:rPr lang="en-IN" sz="2800" dirty="0" err="1">
                <a:latin typeface="Times New Roman" panose="02020603050405020304" pitchFamily="18" charset="0"/>
                <a:cs typeface="Times New Roman" panose="02020603050405020304" pitchFamily="18" charset="0"/>
              </a:rPr>
              <a:t>ownerId</a:t>
            </a:r>
            <a:r>
              <a:rPr lang="en-IN" sz="2800" dirty="0">
                <a:latin typeface="Times New Roman" panose="02020603050405020304" pitchFamily="18" charset="0"/>
                <a:cs typeface="Times New Roman" panose="02020603050405020304" pitchFamily="18" charset="0"/>
              </a:rPr>
              <a:t>: </a:t>
            </a:r>
            <a:r>
              <a:rPr lang="en-IN" sz="2800" dirty="0" err="1">
                <a:latin typeface="Times New Roman" panose="02020603050405020304" pitchFamily="18" charset="0"/>
                <a:cs typeface="Times New Roman" panose="02020603050405020304" pitchFamily="18" charset="0"/>
              </a:rPr>
              <a:t>currentUser.uid</a:t>
            </a:r>
            <a:r>
              <a:rPr lang="en-IN" sz="2800" dirty="0">
                <a:latin typeface="Times New Roman" panose="02020603050405020304" pitchFamily="18" charset="0"/>
                <a:cs typeface="Times New Roman" panose="02020603050405020304" pitchFamily="18" charset="0"/>
              </a:rPr>
              <a:t>,</a:t>
            </a:r>
          </a:p>
          <a:p>
            <a:r>
              <a:rPr lang="en-IN" sz="2800" dirty="0">
                <a:latin typeface="Times New Roman" panose="02020603050405020304" pitchFamily="18" charset="0"/>
                <a:cs typeface="Times New Roman" panose="02020603050405020304" pitchFamily="18" charset="0"/>
              </a:rPr>
              <a:t>  </a:t>
            </a:r>
            <a:r>
              <a:rPr lang="en-IN" sz="2800" dirty="0" err="1">
                <a:latin typeface="Times New Roman" panose="02020603050405020304" pitchFamily="18" charset="0"/>
                <a:cs typeface="Times New Roman" panose="02020603050405020304" pitchFamily="18" charset="0"/>
              </a:rPr>
              <a:t>accessType</a:t>
            </a:r>
            <a:r>
              <a:rPr lang="en-IN" sz="2800" dirty="0">
                <a:latin typeface="Times New Roman" panose="02020603050405020304" pitchFamily="18" charset="0"/>
                <a:cs typeface="Times New Roman" panose="02020603050405020304" pitchFamily="18" charset="0"/>
              </a:rPr>
              <a:t>: </a:t>
            </a:r>
            <a:r>
              <a:rPr lang="en-IN" sz="2800" dirty="0" err="1">
                <a:latin typeface="Times New Roman" panose="02020603050405020304" pitchFamily="18" charset="0"/>
                <a:cs typeface="Times New Roman" panose="02020603050405020304" pitchFamily="18" charset="0"/>
              </a:rPr>
              <a:t>accessType</a:t>
            </a:r>
            <a:r>
              <a:rPr lang="en-IN" sz="2800" dirty="0">
                <a:latin typeface="Times New Roman" panose="02020603050405020304" pitchFamily="18" charset="0"/>
                <a:cs typeface="Times New Roman" panose="02020603050405020304" pitchFamily="18" charset="0"/>
              </a:rPr>
              <a:t>,</a:t>
            </a:r>
          </a:p>
          <a:p>
            <a:r>
              <a:rPr lang="en-IN" sz="2800" dirty="0">
                <a:latin typeface="Times New Roman" panose="02020603050405020304" pitchFamily="18" charset="0"/>
                <a:cs typeface="Times New Roman" panose="02020603050405020304" pitchFamily="18" charset="0"/>
              </a:rPr>
              <a:t>  status: "Pending"</a:t>
            </a:r>
          </a:p>
          <a:p>
            <a:r>
              <a:rPr lang="en-IN" sz="2800" dirty="0">
                <a:latin typeface="Times New Roman" panose="02020603050405020304" pitchFamily="18" charset="0"/>
                <a:cs typeface="Times New Roman" panose="02020603050405020304" pitchFamily="18" charset="0"/>
              </a:rPr>
              <a:t>});</a:t>
            </a:r>
          </a:p>
          <a:p>
            <a:endParaRPr lang="en-IN" sz="3200"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Purpose </a:t>
            </a:r>
            <a:r>
              <a:rPr lang="en-IN" sz="2800" dirty="0">
                <a:latin typeface="Times New Roman" panose="02020603050405020304" pitchFamily="18" charset="0"/>
                <a:cs typeface="Times New Roman" panose="02020603050405020304" pitchFamily="18" charset="0"/>
              </a:rPr>
              <a:t>: Stores a user's dataset with Pending status for admin review.</a:t>
            </a:r>
          </a:p>
        </p:txBody>
      </p:sp>
      <p:sp>
        <p:nvSpPr>
          <p:cNvPr id="21" name="TextBox 20">
            <a:extLst>
              <a:ext uri="{FF2B5EF4-FFF2-40B4-BE49-F238E27FC236}">
                <a16:creationId xmlns:a16="http://schemas.microsoft.com/office/drawing/2014/main" id="{EA1B4A87-391A-1F41-7A86-054B8976CD7D}"/>
              </a:ext>
            </a:extLst>
          </p:cNvPr>
          <p:cNvSpPr txBox="1"/>
          <p:nvPr/>
        </p:nvSpPr>
        <p:spPr>
          <a:xfrm>
            <a:off x="12268200" y="3009900"/>
            <a:ext cx="5357993" cy="5755422"/>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R</a:t>
            </a:r>
            <a:r>
              <a:rPr lang="en-IN" sz="3200" b="1" dirty="0" err="1">
                <a:latin typeface="Times New Roman" panose="02020603050405020304" pitchFamily="18" charset="0"/>
                <a:cs typeface="Times New Roman" panose="02020603050405020304" pitchFamily="18" charset="0"/>
              </a:rPr>
              <a:t>estricted</a:t>
            </a:r>
            <a:r>
              <a:rPr lang="en-IN" sz="3200" b="1" dirty="0">
                <a:latin typeface="Times New Roman" panose="02020603050405020304" pitchFamily="18" charset="0"/>
                <a:cs typeface="Times New Roman" panose="02020603050405020304" pitchFamily="18" charset="0"/>
              </a:rPr>
              <a:t> Access Request</a:t>
            </a:r>
          </a:p>
          <a:p>
            <a:endParaRPr lang="en-IN" sz="2800"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Code:</a:t>
            </a:r>
          </a:p>
          <a:p>
            <a:r>
              <a:rPr lang="en-IN" sz="2800" dirty="0">
                <a:latin typeface="Times New Roman" panose="02020603050405020304" pitchFamily="18" charset="0"/>
                <a:cs typeface="Times New Roman" panose="02020603050405020304" pitchFamily="18" charset="0"/>
              </a:rPr>
              <a:t>await </a:t>
            </a:r>
            <a:r>
              <a:rPr lang="en-IN" sz="2800" dirty="0" err="1">
                <a:latin typeface="Times New Roman" panose="02020603050405020304" pitchFamily="18" charset="0"/>
                <a:cs typeface="Times New Roman" panose="02020603050405020304" pitchFamily="18" charset="0"/>
              </a:rPr>
              <a:t>addDoc</a:t>
            </a:r>
            <a:r>
              <a:rPr lang="en-IN" sz="2800" dirty="0">
                <a:latin typeface="Times New Roman" panose="02020603050405020304" pitchFamily="18" charset="0"/>
                <a:cs typeface="Times New Roman" panose="02020603050405020304" pitchFamily="18" charset="0"/>
              </a:rPr>
              <a:t>(collection(</a:t>
            </a:r>
            <a:r>
              <a:rPr lang="en-IN" sz="2800" dirty="0" err="1">
                <a:latin typeface="Times New Roman" panose="02020603050405020304" pitchFamily="18" charset="0"/>
                <a:cs typeface="Times New Roman" panose="02020603050405020304" pitchFamily="18" charset="0"/>
              </a:rPr>
              <a:t>db</a:t>
            </a:r>
            <a:r>
              <a:rPr lang="en-IN" sz="2800" dirty="0">
                <a:latin typeface="Times New Roman" panose="02020603050405020304" pitchFamily="18" charset="0"/>
                <a:cs typeface="Times New Roman" panose="02020603050405020304" pitchFamily="18" charset="0"/>
              </a:rPr>
              <a:t>, "</a:t>
            </a:r>
            <a:r>
              <a:rPr lang="en-IN" sz="2800" dirty="0" err="1">
                <a:latin typeface="Times New Roman" panose="02020603050405020304" pitchFamily="18" charset="0"/>
                <a:cs typeface="Times New Roman" panose="02020603050405020304" pitchFamily="18" charset="0"/>
              </a:rPr>
              <a:t>accessRequests</a:t>
            </a:r>
            <a:r>
              <a:rPr lang="en-IN" sz="2800" dirty="0">
                <a:latin typeface="Times New Roman" panose="02020603050405020304" pitchFamily="18" charset="0"/>
                <a:cs typeface="Times New Roman" panose="02020603050405020304" pitchFamily="18" charset="0"/>
              </a:rPr>
              <a:t>"), {</a:t>
            </a:r>
          </a:p>
          <a:p>
            <a:r>
              <a:rPr lang="en-IN" sz="2800" dirty="0">
                <a:latin typeface="Times New Roman" panose="02020603050405020304" pitchFamily="18" charset="0"/>
                <a:cs typeface="Times New Roman" panose="02020603050405020304" pitchFamily="18" charset="0"/>
              </a:rPr>
              <a:t>  </a:t>
            </a:r>
            <a:r>
              <a:rPr lang="en-IN" sz="2800" dirty="0" err="1">
                <a:latin typeface="Times New Roman" panose="02020603050405020304" pitchFamily="18" charset="0"/>
                <a:cs typeface="Times New Roman" panose="02020603050405020304" pitchFamily="18" charset="0"/>
              </a:rPr>
              <a:t>datasetId</a:t>
            </a:r>
            <a:r>
              <a:rPr lang="en-IN" sz="2800" dirty="0">
                <a:latin typeface="Times New Roman" panose="02020603050405020304" pitchFamily="18" charset="0"/>
                <a:cs typeface="Times New Roman" panose="02020603050405020304" pitchFamily="18" charset="0"/>
              </a:rPr>
              <a:t>: </a:t>
            </a:r>
            <a:r>
              <a:rPr lang="en-IN" sz="2800" dirty="0" err="1">
                <a:latin typeface="Times New Roman" panose="02020603050405020304" pitchFamily="18" charset="0"/>
                <a:cs typeface="Times New Roman" panose="02020603050405020304" pitchFamily="18" charset="0"/>
              </a:rPr>
              <a:t>datasetId</a:t>
            </a:r>
            <a:r>
              <a:rPr lang="en-IN" sz="2800" dirty="0">
                <a:latin typeface="Times New Roman" panose="02020603050405020304" pitchFamily="18" charset="0"/>
                <a:cs typeface="Times New Roman" panose="02020603050405020304" pitchFamily="18" charset="0"/>
              </a:rPr>
              <a:t>,</a:t>
            </a:r>
          </a:p>
          <a:p>
            <a:r>
              <a:rPr lang="en-IN" sz="2800" dirty="0">
                <a:latin typeface="Times New Roman" panose="02020603050405020304" pitchFamily="18" charset="0"/>
                <a:cs typeface="Times New Roman" panose="02020603050405020304" pitchFamily="18" charset="0"/>
              </a:rPr>
              <a:t>  </a:t>
            </a:r>
            <a:r>
              <a:rPr lang="en-IN" sz="2800" dirty="0" err="1">
                <a:latin typeface="Times New Roman" panose="02020603050405020304" pitchFamily="18" charset="0"/>
                <a:cs typeface="Times New Roman" panose="02020603050405020304" pitchFamily="18" charset="0"/>
              </a:rPr>
              <a:t>userId</a:t>
            </a:r>
            <a:r>
              <a:rPr lang="en-IN" sz="2800" dirty="0">
                <a:latin typeface="Times New Roman" panose="02020603050405020304" pitchFamily="18" charset="0"/>
                <a:cs typeface="Times New Roman" panose="02020603050405020304" pitchFamily="18" charset="0"/>
              </a:rPr>
              <a:t>: </a:t>
            </a:r>
            <a:r>
              <a:rPr lang="en-IN" sz="2800" dirty="0" err="1">
                <a:latin typeface="Times New Roman" panose="02020603050405020304" pitchFamily="18" charset="0"/>
                <a:cs typeface="Times New Roman" panose="02020603050405020304" pitchFamily="18" charset="0"/>
              </a:rPr>
              <a:t>currentUser.uid</a:t>
            </a:r>
            <a:r>
              <a:rPr lang="en-IN" sz="2800" dirty="0">
                <a:latin typeface="Times New Roman" panose="02020603050405020304" pitchFamily="18" charset="0"/>
                <a:cs typeface="Times New Roman" panose="02020603050405020304" pitchFamily="18" charset="0"/>
              </a:rPr>
              <a:t>,</a:t>
            </a:r>
          </a:p>
          <a:p>
            <a:r>
              <a:rPr lang="en-IN" sz="2800" dirty="0">
                <a:latin typeface="Times New Roman" panose="02020603050405020304" pitchFamily="18" charset="0"/>
                <a:cs typeface="Times New Roman" panose="02020603050405020304" pitchFamily="18" charset="0"/>
              </a:rPr>
              <a:t>  status: "Pending"</a:t>
            </a:r>
          </a:p>
          <a:p>
            <a:r>
              <a:rPr lang="en-IN" sz="2800" dirty="0">
                <a:latin typeface="Times New Roman" panose="02020603050405020304" pitchFamily="18" charset="0"/>
                <a:cs typeface="Times New Roman" panose="02020603050405020304" pitchFamily="18" charset="0"/>
              </a:rPr>
              <a:t>});</a:t>
            </a:r>
          </a:p>
          <a:p>
            <a:endParaRPr lang="en-IN" sz="2800" b="1" dirty="0">
              <a:latin typeface="Times New Roman" panose="02020603050405020304" pitchFamily="18" charset="0"/>
              <a:cs typeface="Times New Roman" panose="02020603050405020304" pitchFamily="18" charset="0"/>
            </a:endParaRPr>
          </a:p>
          <a:p>
            <a:endParaRPr lang="en-IN" sz="2800" b="1"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Purpose:</a:t>
            </a:r>
            <a:r>
              <a:rPr lang="en-IN" sz="2800" dirty="0">
                <a:latin typeface="Times New Roman" panose="02020603050405020304" pitchFamily="18" charset="0"/>
                <a:cs typeface="Times New Roman" panose="02020603050405020304" pitchFamily="18" charset="0"/>
              </a:rPr>
              <a:t> Stores the user's request to access a restricted dataset.</a:t>
            </a:r>
          </a:p>
        </p:txBody>
      </p:sp>
    </p:spTree>
    <p:extLst>
      <p:ext uri="{BB962C8B-B14F-4D97-AF65-F5344CB8AC3E}">
        <p14:creationId xmlns:p14="http://schemas.microsoft.com/office/powerpoint/2010/main" val="42841296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B8826561-24D5-3C5B-4E05-6B4DFB0C7EA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AAFE91E-AF5D-ACCF-862D-3343AAB77938}"/>
              </a:ext>
            </a:extLst>
          </p:cNvPr>
          <p:cNvGrpSpPr/>
          <p:nvPr/>
        </p:nvGrpSpPr>
        <p:grpSpPr>
          <a:xfrm>
            <a:off x="0" y="0"/>
            <a:ext cx="18287543" cy="10287000"/>
            <a:chOff x="0" y="0"/>
            <a:chExt cx="24383390" cy="13716000"/>
          </a:xfrm>
        </p:grpSpPr>
        <p:sp>
          <p:nvSpPr>
            <p:cNvPr id="3" name="Freeform 3" descr="preencoded.png">
              <a:extLst>
                <a:ext uri="{FF2B5EF4-FFF2-40B4-BE49-F238E27FC236}">
                  <a16:creationId xmlns:a16="http://schemas.microsoft.com/office/drawing/2014/main" id="{4F37D2F7-6546-722D-7AD2-8D1F2305BC31}"/>
                </a:ext>
              </a:extLst>
            </p:cNvPr>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lnTo>
                    <a:pt x="0" y="0"/>
                  </a:lnTo>
                  <a:close/>
                </a:path>
              </a:pathLst>
            </a:custGeom>
            <a:blipFill>
              <a:blip r:embed="rId3"/>
              <a:stretch>
                <a:fillRect l="-1" r="-1"/>
              </a:stretch>
            </a:blipFill>
          </p:spPr>
        </p:sp>
      </p:grpSp>
      <p:grpSp>
        <p:nvGrpSpPr>
          <p:cNvPr id="4" name="Group 4">
            <a:extLst>
              <a:ext uri="{FF2B5EF4-FFF2-40B4-BE49-F238E27FC236}">
                <a16:creationId xmlns:a16="http://schemas.microsoft.com/office/drawing/2014/main" id="{64B856B4-62C7-D5F4-B1BA-1C723548E7B3}"/>
              </a:ext>
            </a:extLst>
          </p:cNvPr>
          <p:cNvGrpSpPr/>
          <p:nvPr/>
        </p:nvGrpSpPr>
        <p:grpSpPr>
          <a:xfrm>
            <a:off x="0" y="0"/>
            <a:ext cx="18287543" cy="10287000"/>
            <a:chOff x="0" y="0"/>
            <a:chExt cx="24383390" cy="13716000"/>
          </a:xfrm>
        </p:grpSpPr>
        <p:sp>
          <p:nvSpPr>
            <p:cNvPr id="5" name="Freeform 5">
              <a:extLst>
                <a:ext uri="{FF2B5EF4-FFF2-40B4-BE49-F238E27FC236}">
                  <a16:creationId xmlns:a16="http://schemas.microsoft.com/office/drawing/2014/main" id="{849FD3E8-AE9C-0E43-B1DE-ED78520172C0}"/>
                </a:ext>
              </a:extLst>
            </p:cNvPr>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close/>
                </a:path>
              </a:pathLst>
            </a:custGeom>
            <a:solidFill>
              <a:srgbClr val="F9F9FF">
                <a:alpha val="90196"/>
              </a:srgbClr>
            </a:solidFill>
          </p:spPr>
        </p:sp>
      </p:grpSp>
      <p:grpSp>
        <p:nvGrpSpPr>
          <p:cNvPr id="6" name="Group 6">
            <a:extLst>
              <a:ext uri="{FF2B5EF4-FFF2-40B4-BE49-F238E27FC236}">
                <a16:creationId xmlns:a16="http://schemas.microsoft.com/office/drawing/2014/main" id="{2918304B-9CF3-6919-7F8F-51D19A4EA587}"/>
              </a:ext>
            </a:extLst>
          </p:cNvPr>
          <p:cNvGrpSpPr/>
          <p:nvPr/>
        </p:nvGrpSpPr>
        <p:grpSpPr>
          <a:xfrm>
            <a:off x="16615315" y="9838487"/>
            <a:ext cx="1607763" cy="384048"/>
            <a:chOff x="0" y="0"/>
            <a:chExt cx="2143684" cy="512064"/>
          </a:xfrm>
        </p:grpSpPr>
        <p:sp>
          <p:nvSpPr>
            <p:cNvPr id="7" name="Freeform 7" descr="preencoded.png">
              <a:hlinkClick r:id="rId4" tooltip="https://gamma.app/?utm_source=made-with-gamma"/>
              <a:extLst>
                <a:ext uri="{FF2B5EF4-FFF2-40B4-BE49-F238E27FC236}">
                  <a16:creationId xmlns:a16="http://schemas.microsoft.com/office/drawing/2014/main" id="{A349BB24-D1E4-5EAF-1C6C-5FE00B38A12C}"/>
                </a:ext>
              </a:extLst>
            </p:cNvPr>
            <p:cNvSpPr/>
            <p:nvPr/>
          </p:nvSpPr>
          <p:spPr>
            <a:xfrm>
              <a:off x="0" y="0"/>
              <a:ext cx="2143633" cy="512064"/>
            </a:xfrm>
            <a:custGeom>
              <a:avLst/>
              <a:gdLst/>
              <a:ahLst/>
              <a:cxnLst/>
              <a:rect l="l" t="t" r="r" b="b"/>
              <a:pathLst>
                <a:path w="2143633" h="512064">
                  <a:moveTo>
                    <a:pt x="0" y="0"/>
                  </a:moveTo>
                  <a:lnTo>
                    <a:pt x="2143633" y="0"/>
                  </a:lnTo>
                  <a:lnTo>
                    <a:pt x="2143633" y="512064"/>
                  </a:lnTo>
                  <a:lnTo>
                    <a:pt x="0" y="512064"/>
                  </a:lnTo>
                  <a:lnTo>
                    <a:pt x="0" y="0"/>
                  </a:lnTo>
                  <a:close/>
                </a:path>
              </a:pathLst>
            </a:custGeom>
            <a:solidFill>
              <a:srgbClr val="F9F9FF"/>
            </a:solidFill>
          </p:spPr>
        </p:sp>
      </p:grpSp>
      <p:sp>
        <p:nvSpPr>
          <p:cNvPr id="8" name="TextBox 8">
            <a:extLst>
              <a:ext uri="{FF2B5EF4-FFF2-40B4-BE49-F238E27FC236}">
                <a16:creationId xmlns:a16="http://schemas.microsoft.com/office/drawing/2014/main" id="{D8B39E5E-BC69-2114-3639-39DB883C58EB}"/>
              </a:ext>
            </a:extLst>
          </p:cNvPr>
          <p:cNvSpPr txBox="1"/>
          <p:nvPr/>
        </p:nvSpPr>
        <p:spPr>
          <a:xfrm>
            <a:off x="1182943" y="1163312"/>
            <a:ext cx="16303114" cy="877163"/>
          </a:xfrm>
          <a:prstGeom prst="rect">
            <a:avLst/>
          </a:prstGeom>
        </p:spPr>
        <p:txBody>
          <a:bodyPr lIns="0" tIns="0" rIns="0" bIns="0" rtlCol="0" anchor="t">
            <a:spAutoFit/>
          </a:bodyPr>
          <a:lstStyle/>
          <a:p>
            <a:pPr algn="ctr">
              <a:lnSpc>
                <a:spcPts val="6926"/>
              </a:lnSpc>
            </a:pPr>
            <a:r>
              <a:rPr lang="en-US" sz="5550" dirty="0">
                <a:solidFill>
                  <a:srgbClr val="1B1B27"/>
                </a:solidFill>
                <a:latin typeface="Corben"/>
                <a:ea typeface="Corben"/>
                <a:cs typeface="Corben"/>
                <a:sym typeface="Corben"/>
              </a:rPr>
              <a:t>Test Cases &amp; Results</a:t>
            </a:r>
          </a:p>
        </p:txBody>
      </p:sp>
      <p:grpSp>
        <p:nvGrpSpPr>
          <p:cNvPr id="13" name="Group 13">
            <a:extLst>
              <a:ext uri="{FF2B5EF4-FFF2-40B4-BE49-F238E27FC236}">
                <a16:creationId xmlns:a16="http://schemas.microsoft.com/office/drawing/2014/main" id="{ABA2A3E1-9455-98C1-7420-1D81ED7F46D2}"/>
              </a:ext>
            </a:extLst>
          </p:cNvPr>
          <p:cNvGrpSpPr/>
          <p:nvPr/>
        </p:nvGrpSpPr>
        <p:grpSpPr>
          <a:xfrm>
            <a:off x="289541" y="354149"/>
            <a:ext cx="1579493" cy="1498616"/>
            <a:chOff x="0" y="0"/>
            <a:chExt cx="2105990" cy="1998154"/>
          </a:xfrm>
        </p:grpSpPr>
        <p:sp>
          <p:nvSpPr>
            <p:cNvPr id="14" name="Freeform 14" descr="logo 2.png">
              <a:extLst>
                <a:ext uri="{FF2B5EF4-FFF2-40B4-BE49-F238E27FC236}">
                  <a16:creationId xmlns:a16="http://schemas.microsoft.com/office/drawing/2014/main" id="{EB061890-B875-C973-6B5E-09948683C2FF}"/>
                </a:ext>
              </a:extLst>
            </p:cNvPr>
            <p:cNvSpPr/>
            <p:nvPr/>
          </p:nvSpPr>
          <p:spPr>
            <a:xfrm>
              <a:off x="0" y="0"/>
              <a:ext cx="2106041" cy="1998218"/>
            </a:xfrm>
            <a:custGeom>
              <a:avLst/>
              <a:gdLst/>
              <a:ahLst/>
              <a:cxnLst/>
              <a:rect l="l" t="t" r="r" b="b"/>
              <a:pathLst>
                <a:path w="2106041" h="1998218">
                  <a:moveTo>
                    <a:pt x="0" y="0"/>
                  </a:moveTo>
                  <a:lnTo>
                    <a:pt x="2106041" y="0"/>
                  </a:lnTo>
                  <a:lnTo>
                    <a:pt x="2106041" y="1998218"/>
                  </a:lnTo>
                  <a:lnTo>
                    <a:pt x="0" y="1998218"/>
                  </a:lnTo>
                  <a:lnTo>
                    <a:pt x="0" y="0"/>
                  </a:lnTo>
                  <a:close/>
                </a:path>
              </a:pathLst>
            </a:custGeom>
            <a:blipFill>
              <a:blip r:embed="rId5"/>
              <a:stretch>
                <a:fillRect t="-140" r="2" b="-136"/>
              </a:stretch>
            </a:blipFill>
          </p:spPr>
        </p:sp>
      </p:grpSp>
      <p:grpSp>
        <p:nvGrpSpPr>
          <p:cNvPr id="15" name="Group 15">
            <a:extLst>
              <a:ext uri="{FF2B5EF4-FFF2-40B4-BE49-F238E27FC236}">
                <a16:creationId xmlns:a16="http://schemas.microsoft.com/office/drawing/2014/main" id="{77663502-CFF3-210C-F998-C745D95B1915}"/>
              </a:ext>
            </a:extLst>
          </p:cNvPr>
          <p:cNvGrpSpPr/>
          <p:nvPr/>
        </p:nvGrpSpPr>
        <p:grpSpPr>
          <a:xfrm>
            <a:off x="16028651" y="237582"/>
            <a:ext cx="1570482" cy="1706528"/>
            <a:chOff x="0" y="0"/>
            <a:chExt cx="2093976" cy="2275370"/>
          </a:xfrm>
        </p:grpSpPr>
        <p:sp>
          <p:nvSpPr>
            <p:cNvPr id="16" name="Freeform 16" descr="logo3.png">
              <a:extLst>
                <a:ext uri="{FF2B5EF4-FFF2-40B4-BE49-F238E27FC236}">
                  <a16:creationId xmlns:a16="http://schemas.microsoft.com/office/drawing/2014/main" id="{1D95C4B4-89D6-3898-3507-97E9EBCCF46C}"/>
                </a:ext>
              </a:extLst>
            </p:cNvPr>
            <p:cNvSpPr/>
            <p:nvPr/>
          </p:nvSpPr>
          <p:spPr>
            <a:xfrm>
              <a:off x="0" y="0"/>
              <a:ext cx="2093976" cy="2275332"/>
            </a:xfrm>
            <a:custGeom>
              <a:avLst/>
              <a:gdLst/>
              <a:ahLst/>
              <a:cxnLst/>
              <a:rect l="l" t="t" r="r" b="b"/>
              <a:pathLst>
                <a:path w="2093976" h="2275332">
                  <a:moveTo>
                    <a:pt x="0" y="0"/>
                  </a:moveTo>
                  <a:lnTo>
                    <a:pt x="2093976" y="0"/>
                  </a:lnTo>
                  <a:lnTo>
                    <a:pt x="2093976" y="2275332"/>
                  </a:lnTo>
                  <a:lnTo>
                    <a:pt x="0" y="2275332"/>
                  </a:lnTo>
                  <a:lnTo>
                    <a:pt x="0" y="0"/>
                  </a:lnTo>
                  <a:close/>
                </a:path>
              </a:pathLst>
            </a:custGeom>
            <a:blipFill>
              <a:blip r:embed="rId6"/>
              <a:stretch>
                <a:fillRect t="-30" b="-32"/>
              </a:stretch>
            </a:blipFill>
          </p:spPr>
        </p:sp>
      </p:grpSp>
      <p:graphicFrame>
        <p:nvGraphicFramePr>
          <p:cNvPr id="17" name="Table 16">
            <a:extLst>
              <a:ext uri="{FF2B5EF4-FFF2-40B4-BE49-F238E27FC236}">
                <a16:creationId xmlns:a16="http://schemas.microsoft.com/office/drawing/2014/main" id="{06215776-6BCE-36F0-AF69-FDBBA3816C94}"/>
              </a:ext>
            </a:extLst>
          </p:cNvPr>
          <p:cNvGraphicFramePr>
            <a:graphicFrameLocks noGrp="1"/>
          </p:cNvGraphicFramePr>
          <p:nvPr>
            <p:extLst>
              <p:ext uri="{D42A27DB-BD31-4B8C-83A1-F6EECF244321}">
                <p14:modId xmlns:p14="http://schemas.microsoft.com/office/powerpoint/2010/main" val="4213910869"/>
              </p:ext>
            </p:extLst>
          </p:nvPr>
        </p:nvGraphicFramePr>
        <p:xfrm>
          <a:off x="3505200" y="2709486"/>
          <a:ext cx="11658600" cy="6017821"/>
        </p:xfrm>
        <a:graphic>
          <a:graphicData uri="http://schemas.openxmlformats.org/drawingml/2006/table">
            <a:tbl>
              <a:tblPr>
                <a:tableStyleId>{5DA37D80-6434-44D0-A028-1B22A696006F}</a:tableStyleId>
              </a:tblPr>
              <a:tblGrid>
                <a:gridCol w="3886200">
                  <a:extLst>
                    <a:ext uri="{9D8B030D-6E8A-4147-A177-3AD203B41FA5}">
                      <a16:colId xmlns:a16="http://schemas.microsoft.com/office/drawing/2014/main" val="3146276033"/>
                    </a:ext>
                  </a:extLst>
                </a:gridCol>
                <a:gridCol w="3886200">
                  <a:extLst>
                    <a:ext uri="{9D8B030D-6E8A-4147-A177-3AD203B41FA5}">
                      <a16:colId xmlns:a16="http://schemas.microsoft.com/office/drawing/2014/main" val="1011838442"/>
                    </a:ext>
                  </a:extLst>
                </a:gridCol>
                <a:gridCol w="3886200">
                  <a:extLst>
                    <a:ext uri="{9D8B030D-6E8A-4147-A177-3AD203B41FA5}">
                      <a16:colId xmlns:a16="http://schemas.microsoft.com/office/drawing/2014/main" val="153381972"/>
                    </a:ext>
                  </a:extLst>
                </a:gridCol>
              </a:tblGrid>
              <a:tr h="399971">
                <a:tc>
                  <a:txBody>
                    <a:bodyPr/>
                    <a:lstStyle/>
                    <a:p>
                      <a:pPr>
                        <a:buNone/>
                      </a:pPr>
                      <a:r>
                        <a:rPr lang="en-IN" sz="2000"/>
                        <a:t>Test Case</a:t>
                      </a:r>
                    </a:p>
                  </a:txBody>
                  <a:tcPr marL="99236" marR="99236" marT="49618" marB="49618" anchor="ctr"/>
                </a:tc>
                <a:tc>
                  <a:txBody>
                    <a:bodyPr/>
                    <a:lstStyle/>
                    <a:p>
                      <a:pPr>
                        <a:buNone/>
                      </a:pPr>
                      <a:r>
                        <a:rPr lang="en-IN" sz="2000"/>
                        <a:t>Expected Result</a:t>
                      </a:r>
                    </a:p>
                  </a:txBody>
                  <a:tcPr marL="99236" marR="99236" marT="49618" marB="49618" anchor="ctr"/>
                </a:tc>
                <a:tc>
                  <a:txBody>
                    <a:bodyPr/>
                    <a:lstStyle/>
                    <a:p>
                      <a:pPr>
                        <a:buNone/>
                      </a:pPr>
                      <a:r>
                        <a:rPr lang="en-IN" sz="2000"/>
                        <a:t>Actual Result</a:t>
                      </a:r>
                    </a:p>
                  </a:txBody>
                  <a:tcPr marL="99236" marR="99236" marT="49618" marB="49618" anchor="ctr"/>
                </a:tc>
                <a:extLst>
                  <a:ext uri="{0D108BD9-81ED-4DB2-BD59-A6C34878D82A}">
                    <a16:rowId xmlns:a16="http://schemas.microsoft.com/office/drawing/2014/main" val="3294719719"/>
                  </a:ext>
                </a:extLst>
              </a:tr>
              <a:tr h="700707">
                <a:tc>
                  <a:txBody>
                    <a:bodyPr/>
                    <a:lstStyle/>
                    <a:p>
                      <a:pPr>
                        <a:buNone/>
                      </a:pPr>
                      <a:r>
                        <a:rPr lang="en-IN" sz="2000"/>
                        <a:t>User Registration</a:t>
                      </a:r>
                    </a:p>
                  </a:txBody>
                  <a:tcPr marL="99236" marR="99236" marT="49618" marB="49618" anchor="ctr"/>
                </a:tc>
                <a:tc>
                  <a:txBody>
                    <a:bodyPr/>
                    <a:lstStyle/>
                    <a:p>
                      <a:pPr>
                        <a:buNone/>
                      </a:pPr>
                      <a:r>
                        <a:rPr lang="en-IN" sz="2000"/>
                        <a:t>Account created successfully</a:t>
                      </a:r>
                    </a:p>
                  </a:txBody>
                  <a:tcPr marL="99236" marR="99236" marT="49618" marB="49618" anchor="ctr"/>
                </a:tc>
                <a:tc>
                  <a:txBody>
                    <a:bodyPr/>
                    <a:lstStyle/>
                    <a:p>
                      <a:pPr>
                        <a:buNone/>
                      </a:pPr>
                      <a:r>
                        <a:rPr lang="en-IN" sz="2000"/>
                        <a:t>Passed</a:t>
                      </a:r>
                    </a:p>
                  </a:txBody>
                  <a:tcPr marL="99236" marR="99236" marT="49618" marB="49618" anchor="ctr"/>
                </a:tc>
                <a:extLst>
                  <a:ext uri="{0D108BD9-81ED-4DB2-BD59-A6C34878D82A}">
                    <a16:rowId xmlns:a16="http://schemas.microsoft.com/office/drawing/2014/main" val="4088915756"/>
                  </a:ext>
                </a:extLst>
              </a:tr>
              <a:tr h="700707">
                <a:tc>
                  <a:txBody>
                    <a:bodyPr/>
                    <a:lstStyle/>
                    <a:p>
                      <a:pPr>
                        <a:buNone/>
                      </a:pPr>
                      <a:r>
                        <a:rPr lang="en-IN" sz="2000"/>
                        <a:t>User Login</a:t>
                      </a:r>
                    </a:p>
                  </a:txBody>
                  <a:tcPr marL="99236" marR="99236" marT="49618" marB="49618" anchor="ctr"/>
                </a:tc>
                <a:tc>
                  <a:txBody>
                    <a:bodyPr/>
                    <a:lstStyle/>
                    <a:p>
                      <a:pPr>
                        <a:buNone/>
                      </a:pPr>
                      <a:r>
                        <a:rPr lang="en-IN" sz="2000"/>
                        <a:t>Valid user enters dashboard</a:t>
                      </a:r>
                    </a:p>
                  </a:txBody>
                  <a:tcPr marL="99236" marR="99236" marT="49618" marB="49618" anchor="ctr"/>
                </a:tc>
                <a:tc>
                  <a:txBody>
                    <a:bodyPr/>
                    <a:lstStyle/>
                    <a:p>
                      <a:pPr>
                        <a:buNone/>
                      </a:pPr>
                      <a:r>
                        <a:rPr lang="en-IN" sz="2000"/>
                        <a:t>Passed</a:t>
                      </a:r>
                    </a:p>
                  </a:txBody>
                  <a:tcPr marL="99236" marR="99236" marT="49618" marB="49618" anchor="ctr"/>
                </a:tc>
                <a:extLst>
                  <a:ext uri="{0D108BD9-81ED-4DB2-BD59-A6C34878D82A}">
                    <a16:rowId xmlns:a16="http://schemas.microsoft.com/office/drawing/2014/main" val="486117851"/>
                  </a:ext>
                </a:extLst>
              </a:tr>
              <a:tr h="700707">
                <a:tc>
                  <a:txBody>
                    <a:bodyPr/>
                    <a:lstStyle/>
                    <a:p>
                      <a:pPr>
                        <a:buNone/>
                      </a:pPr>
                      <a:r>
                        <a:rPr lang="en-IN" sz="2000"/>
                        <a:t>Dataset Submission</a:t>
                      </a:r>
                    </a:p>
                  </a:txBody>
                  <a:tcPr marL="99236" marR="99236" marT="49618" marB="49618" anchor="ctr"/>
                </a:tc>
                <a:tc>
                  <a:txBody>
                    <a:bodyPr/>
                    <a:lstStyle/>
                    <a:p>
                      <a:pPr>
                        <a:buNone/>
                      </a:pPr>
                      <a:r>
                        <a:rPr lang="en-IN" sz="2000"/>
                        <a:t>Dataset stored with Pending status</a:t>
                      </a:r>
                    </a:p>
                  </a:txBody>
                  <a:tcPr marL="99236" marR="99236" marT="49618" marB="49618" anchor="ctr"/>
                </a:tc>
                <a:tc>
                  <a:txBody>
                    <a:bodyPr/>
                    <a:lstStyle/>
                    <a:p>
                      <a:pPr>
                        <a:buNone/>
                      </a:pPr>
                      <a:r>
                        <a:rPr lang="en-IN" sz="2000" dirty="0"/>
                        <a:t>Passed</a:t>
                      </a:r>
                    </a:p>
                  </a:txBody>
                  <a:tcPr marL="99236" marR="99236" marT="49618" marB="49618" anchor="ctr"/>
                </a:tc>
                <a:extLst>
                  <a:ext uri="{0D108BD9-81ED-4DB2-BD59-A6C34878D82A}">
                    <a16:rowId xmlns:a16="http://schemas.microsoft.com/office/drawing/2014/main" val="2000399238"/>
                  </a:ext>
                </a:extLst>
              </a:tr>
              <a:tr h="700707">
                <a:tc>
                  <a:txBody>
                    <a:bodyPr/>
                    <a:lstStyle/>
                    <a:p>
                      <a:pPr>
                        <a:buNone/>
                      </a:pPr>
                      <a:r>
                        <a:rPr lang="en-IN" sz="2000"/>
                        <a:t>Admin Approval</a:t>
                      </a:r>
                    </a:p>
                  </a:txBody>
                  <a:tcPr marL="99236" marR="99236" marT="49618" marB="49618" anchor="ctr"/>
                </a:tc>
                <a:tc>
                  <a:txBody>
                    <a:bodyPr/>
                    <a:lstStyle/>
                    <a:p>
                      <a:pPr>
                        <a:buNone/>
                      </a:pPr>
                      <a:r>
                        <a:rPr lang="en-IN" sz="2000"/>
                        <a:t>Admin can approve/reject dataset</a:t>
                      </a:r>
                    </a:p>
                  </a:txBody>
                  <a:tcPr marL="99236" marR="99236" marT="49618" marB="49618" anchor="ctr"/>
                </a:tc>
                <a:tc>
                  <a:txBody>
                    <a:bodyPr/>
                    <a:lstStyle/>
                    <a:p>
                      <a:pPr>
                        <a:buNone/>
                      </a:pPr>
                      <a:r>
                        <a:rPr lang="en-IN" sz="2000" dirty="0"/>
                        <a:t>Passed</a:t>
                      </a:r>
                    </a:p>
                  </a:txBody>
                  <a:tcPr marL="99236" marR="99236" marT="49618" marB="49618" anchor="ctr"/>
                </a:tc>
                <a:extLst>
                  <a:ext uri="{0D108BD9-81ED-4DB2-BD59-A6C34878D82A}">
                    <a16:rowId xmlns:a16="http://schemas.microsoft.com/office/drawing/2014/main" val="1086042666"/>
                  </a:ext>
                </a:extLst>
              </a:tr>
              <a:tr h="700707">
                <a:tc>
                  <a:txBody>
                    <a:bodyPr/>
                    <a:lstStyle/>
                    <a:p>
                      <a:pPr>
                        <a:buNone/>
                      </a:pPr>
                      <a:r>
                        <a:rPr lang="en-IN" sz="2000"/>
                        <a:t>Restricted Access Request</a:t>
                      </a:r>
                    </a:p>
                  </a:txBody>
                  <a:tcPr marL="99236" marR="99236" marT="49618" marB="49618" anchor="ctr"/>
                </a:tc>
                <a:tc>
                  <a:txBody>
                    <a:bodyPr/>
                    <a:lstStyle/>
                    <a:p>
                      <a:pPr>
                        <a:buNone/>
                      </a:pPr>
                      <a:r>
                        <a:rPr lang="en-IN" sz="2000"/>
                        <a:t>Request appears in Admin Portal</a:t>
                      </a:r>
                    </a:p>
                  </a:txBody>
                  <a:tcPr marL="99236" marR="99236" marT="49618" marB="49618" anchor="ctr"/>
                </a:tc>
                <a:tc>
                  <a:txBody>
                    <a:bodyPr/>
                    <a:lstStyle/>
                    <a:p>
                      <a:pPr>
                        <a:buNone/>
                      </a:pPr>
                      <a:r>
                        <a:rPr lang="en-IN" sz="2000" dirty="0"/>
                        <a:t>Passed</a:t>
                      </a:r>
                    </a:p>
                  </a:txBody>
                  <a:tcPr marL="99236" marR="99236" marT="49618" marB="49618" anchor="ctr"/>
                </a:tc>
                <a:extLst>
                  <a:ext uri="{0D108BD9-81ED-4DB2-BD59-A6C34878D82A}">
                    <a16:rowId xmlns:a16="http://schemas.microsoft.com/office/drawing/2014/main" val="1832714074"/>
                  </a:ext>
                </a:extLst>
              </a:tr>
              <a:tr h="700707">
                <a:tc>
                  <a:txBody>
                    <a:bodyPr/>
                    <a:lstStyle/>
                    <a:p>
                      <a:pPr>
                        <a:buNone/>
                      </a:pPr>
                      <a:r>
                        <a:rPr lang="en-IN" sz="2000"/>
                        <a:t>Access Approval</a:t>
                      </a:r>
                    </a:p>
                  </a:txBody>
                  <a:tcPr marL="99236" marR="99236" marT="49618" marB="49618" anchor="ctr"/>
                </a:tc>
                <a:tc>
                  <a:txBody>
                    <a:bodyPr/>
                    <a:lstStyle/>
                    <a:p>
                      <a:pPr>
                        <a:buNone/>
                      </a:pPr>
                      <a:r>
                        <a:rPr lang="en-IN" sz="2000"/>
                        <a:t>Status updates in User Portal</a:t>
                      </a:r>
                    </a:p>
                  </a:txBody>
                  <a:tcPr marL="99236" marR="99236" marT="49618" marB="49618" anchor="ctr"/>
                </a:tc>
                <a:tc>
                  <a:txBody>
                    <a:bodyPr/>
                    <a:lstStyle/>
                    <a:p>
                      <a:pPr>
                        <a:buNone/>
                      </a:pPr>
                      <a:r>
                        <a:rPr lang="en-IN" sz="2000"/>
                        <a:t>Passed</a:t>
                      </a:r>
                    </a:p>
                  </a:txBody>
                  <a:tcPr marL="99236" marR="99236" marT="49618" marB="49618" anchor="ctr"/>
                </a:tc>
                <a:extLst>
                  <a:ext uri="{0D108BD9-81ED-4DB2-BD59-A6C34878D82A}">
                    <a16:rowId xmlns:a16="http://schemas.microsoft.com/office/drawing/2014/main" val="3411494303"/>
                  </a:ext>
                </a:extLst>
              </a:tr>
              <a:tr h="700707">
                <a:tc>
                  <a:txBody>
                    <a:bodyPr/>
                    <a:lstStyle/>
                    <a:p>
                      <a:pPr>
                        <a:buNone/>
                      </a:pPr>
                      <a:r>
                        <a:rPr lang="en-IN" sz="2000"/>
                        <a:t>User Data Isolation</a:t>
                      </a:r>
                    </a:p>
                  </a:txBody>
                  <a:tcPr marL="99236" marR="99236" marT="49618" marB="49618" anchor="ctr"/>
                </a:tc>
                <a:tc>
                  <a:txBody>
                    <a:bodyPr/>
                    <a:lstStyle/>
                    <a:p>
                      <a:pPr>
                        <a:buNone/>
                      </a:pPr>
                      <a:r>
                        <a:rPr lang="en-IN" sz="2000"/>
                        <a:t>Users see only their own records</a:t>
                      </a:r>
                    </a:p>
                  </a:txBody>
                  <a:tcPr marL="99236" marR="99236" marT="49618" marB="49618" anchor="ctr"/>
                </a:tc>
                <a:tc>
                  <a:txBody>
                    <a:bodyPr/>
                    <a:lstStyle/>
                    <a:p>
                      <a:pPr>
                        <a:buNone/>
                      </a:pPr>
                      <a:r>
                        <a:rPr lang="en-IN" sz="2000" dirty="0"/>
                        <a:t>Passed</a:t>
                      </a:r>
                    </a:p>
                  </a:txBody>
                  <a:tcPr marL="99236" marR="99236" marT="49618" marB="49618" anchor="ctr"/>
                </a:tc>
                <a:extLst>
                  <a:ext uri="{0D108BD9-81ED-4DB2-BD59-A6C34878D82A}">
                    <a16:rowId xmlns:a16="http://schemas.microsoft.com/office/drawing/2014/main" val="462076118"/>
                  </a:ext>
                </a:extLst>
              </a:tr>
              <a:tr h="700707">
                <a:tc>
                  <a:txBody>
                    <a:bodyPr/>
                    <a:lstStyle/>
                    <a:p>
                      <a:pPr>
                        <a:buNone/>
                      </a:pPr>
                      <a:r>
                        <a:rPr lang="en-IN" sz="2000"/>
                        <a:t>Admin Access Control</a:t>
                      </a:r>
                    </a:p>
                  </a:txBody>
                  <a:tcPr marL="99236" marR="99236" marT="49618" marB="49618" anchor="ctr"/>
                </a:tc>
                <a:tc>
                  <a:txBody>
                    <a:bodyPr/>
                    <a:lstStyle/>
                    <a:p>
                      <a:pPr>
                        <a:buNone/>
                      </a:pPr>
                      <a:r>
                        <a:rPr lang="en-IN" sz="2000"/>
                        <a:t>Normal users cannot access admin functions</a:t>
                      </a:r>
                    </a:p>
                  </a:txBody>
                  <a:tcPr marL="99236" marR="99236" marT="49618" marB="49618" anchor="ctr"/>
                </a:tc>
                <a:tc>
                  <a:txBody>
                    <a:bodyPr/>
                    <a:lstStyle/>
                    <a:p>
                      <a:pPr>
                        <a:buNone/>
                      </a:pPr>
                      <a:r>
                        <a:rPr lang="en-IN" sz="2000" dirty="0"/>
                        <a:t>Passed</a:t>
                      </a:r>
                    </a:p>
                  </a:txBody>
                  <a:tcPr marL="99236" marR="99236" marT="49618" marB="49618" anchor="ctr"/>
                </a:tc>
                <a:extLst>
                  <a:ext uri="{0D108BD9-81ED-4DB2-BD59-A6C34878D82A}">
                    <a16:rowId xmlns:a16="http://schemas.microsoft.com/office/drawing/2014/main" val="3337991975"/>
                  </a:ext>
                </a:extLst>
              </a:tr>
            </a:tbl>
          </a:graphicData>
        </a:graphic>
      </p:graphicFrame>
      <p:sp>
        <p:nvSpPr>
          <p:cNvPr id="18" name="TextBox 17">
            <a:extLst>
              <a:ext uri="{FF2B5EF4-FFF2-40B4-BE49-F238E27FC236}">
                <a16:creationId xmlns:a16="http://schemas.microsoft.com/office/drawing/2014/main" id="{97E67933-CD23-E9A0-DB5C-E93250B74DC0}"/>
              </a:ext>
            </a:extLst>
          </p:cNvPr>
          <p:cNvSpPr txBox="1"/>
          <p:nvPr/>
        </p:nvSpPr>
        <p:spPr>
          <a:xfrm>
            <a:off x="4572000" y="9088046"/>
            <a:ext cx="13209251"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Result:</a:t>
            </a:r>
            <a:r>
              <a:rPr lang="en-IN" sz="2800" dirty="0">
                <a:latin typeface="Times New Roman" panose="02020603050405020304" pitchFamily="18" charset="0"/>
                <a:cs typeface="Times New Roman" panose="02020603050405020304" pitchFamily="18" charset="0"/>
              </a:rPr>
              <a:t> All major functional workflows were tested successfully.</a:t>
            </a:r>
          </a:p>
        </p:txBody>
      </p:sp>
    </p:spTree>
    <p:extLst>
      <p:ext uri="{BB962C8B-B14F-4D97-AF65-F5344CB8AC3E}">
        <p14:creationId xmlns:p14="http://schemas.microsoft.com/office/powerpoint/2010/main" val="17845870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C5B30A5D-2AAA-EAE9-5C90-ADC199C842C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8B71BB6-78DA-4555-AA94-5040242A501B}"/>
              </a:ext>
            </a:extLst>
          </p:cNvPr>
          <p:cNvGrpSpPr/>
          <p:nvPr/>
        </p:nvGrpSpPr>
        <p:grpSpPr>
          <a:xfrm>
            <a:off x="0" y="0"/>
            <a:ext cx="18287543" cy="10287000"/>
            <a:chOff x="0" y="0"/>
            <a:chExt cx="24383390" cy="13716000"/>
          </a:xfrm>
        </p:grpSpPr>
        <p:sp>
          <p:nvSpPr>
            <p:cNvPr id="3" name="Freeform 3" descr="preencoded.png">
              <a:extLst>
                <a:ext uri="{FF2B5EF4-FFF2-40B4-BE49-F238E27FC236}">
                  <a16:creationId xmlns:a16="http://schemas.microsoft.com/office/drawing/2014/main" id="{C3026365-516B-E760-ECA6-0F9F9D75C9C9}"/>
                </a:ext>
              </a:extLst>
            </p:cNvPr>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lnTo>
                    <a:pt x="0" y="0"/>
                  </a:lnTo>
                  <a:close/>
                </a:path>
              </a:pathLst>
            </a:custGeom>
            <a:blipFill>
              <a:blip r:embed="rId3"/>
              <a:stretch>
                <a:fillRect l="-1" r="-1"/>
              </a:stretch>
            </a:blipFill>
          </p:spPr>
        </p:sp>
      </p:grpSp>
      <p:grpSp>
        <p:nvGrpSpPr>
          <p:cNvPr id="4" name="Group 4">
            <a:extLst>
              <a:ext uri="{FF2B5EF4-FFF2-40B4-BE49-F238E27FC236}">
                <a16:creationId xmlns:a16="http://schemas.microsoft.com/office/drawing/2014/main" id="{9E2D2431-3E6E-C4FF-3534-B8B2C819C5F2}"/>
              </a:ext>
            </a:extLst>
          </p:cNvPr>
          <p:cNvGrpSpPr/>
          <p:nvPr/>
        </p:nvGrpSpPr>
        <p:grpSpPr>
          <a:xfrm>
            <a:off x="0" y="0"/>
            <a:ext cx="18287543" cy="10287000"/>
            <a:chOff x="0" y="0"/>
            <a:chExt cx="24383390" cy="13716000"/>
          </a:xfrm>
        </p:grpSpPr>
        <p:sp>
          <p:nvSpPr>
            <p:cNvPr id="5" name="Freeform 5">
              <a:extLst>
                <a:ext uri="{FF2B5EF4-FFF2-40B4-BE49-F238E27FC236}">
                  <a16:creationId xmlns:a16="http://schemas.microsoft.com/office/drawing/2014/main" id="{36AD01FD-9EAC-DF57-4E8D-FBB5B48BA22B}"/>
                </a:ext>
              </a:extLst>
            </p:cNvPr>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close/>
                </a:path>
              </a:pathLst>
            </a:custGeom>
            <a:solidFill>
              <a:srgbClr val="F9F9FF">
                <a:alpha val="90196"/>
              </a:srgbClr>
            </a:solidFill>
          </p:spPr>
        </p:sp>
      </p:grpSp>
      <p:grpSp>
        <p:nvGrpSpPr>
          <p:cNvPr id="6" name="Group 6">
            <a:extLst>
              <a:ext uri="{FF2B5EF4-FFF2-40B4-BE49-F238E27FC236}">
                <a16:creationId xmlns:a16="http://schemas.microsoft.com/office/drawing/2014/main" id="{13242651-76BF-224F-998E-4F1668F27303}"/>
              </a:ext>
            </a:extLst>
          </p:cNvPr>
          <p:cNvGrpSpPr/>
          <p:nvPr/>
        </p:nvGrpSpPr>
        <p:grpSpPr>
          <a:xfrm>
            <a:off x="16615315" y="9838487"/>
            <a:ext cx="1607763" cy="384048"/>
            <a:chOff x="0" y="0"/>
            <a:chExt cx="2143684" cy="512064"/>
          </a:xfrm>
        </p:grpSpPr>
        <p:sp>
          <p:nvSpPr>
            <p:cNvPr id="7" name="Freeform 7" descr="preencoded.png">
              <a:hlinkClick r:id="rId4" tooltip="https://gamma.app/?utm_source=made-with-gamma"/>
              <a:extLst>
                <a:ext uri="{FF2B5EF4-FFF2-40B4-BE49-F238E27FC236}">
                  <a16:creationId xmlns:a16="http://schemas.microsoft.com/office/drawing/2014/main" id="{B1023E5B-63AF-8DA1-D9A4-DAAD5BE2379A}"/>
                </a:ext>
              </a:extLst>
            </p:cNvPr>
            <p:cNvSpPr/>
            <p:nvPr/>
          </p:nvSpPr>
          <p:spPr>
            <a:xfrm>
              <a:off x="0" y="0"/>
              <a:ext cx="2143633" cy="512064"/>
            </a:xfrm>
            <a:custGeom>
              <a:avLst/>
              <a:gdLst/>
              <a:ahLst/>
              <a:cxnLst/>
              <a:rect l="l" t="t" r="r" b="b"/>
              <a:pathLst>
                <a:path w="2143633" h="512064">
                  <a:moveTo>
                    <a:pt x="0" y="0"/>
                  </a:moveTo>
                  <a:lnTo>
                    <a:pt x="2143633" y="0"/>
                  </a:lnTo>
                  <a:lnTo>
                    <a:pt x="2143633" y="512064"/>
                  </a:lnTo>
                  <a:lnTo>
                    <a:pt x="0" y="512064"/>
                  </a:lnTo>
                  <a:lnTo>
                    <a:pt x="0" y="0"/>
                  </a:lnTo>
                  <a:close/>
                </a:path>
              </a:pathLst>
            </a:custGeom>
            <a:solidFill>
              <a:srgbClr val="F9F9FF"/>
            </a:solidFill>
          </p:spPr>
        </p:sp>
      </p:grpSp>
      <p:grpSp>
        <p:nvGrpSpPr>
          <p:cNvPr id="10" name="Group 10">
            <a:extLst>
              <a:ext uri="{FF2B5EF4-FFF2-40B4-BE49-F238E27FC236}">
                <a16:creationId xmlns:a16="http://schemas.microsoft.com/office/drawing/2014/main" id="{14F87B4D-722B-1511-FC25-56F0E7E436CF}"/>
              </a:ext>
            </a:extLst>
          </p:cNvPr>
          <p:cNvGrpSpPr/>
          <p:nvPr/>
        </p:nvGrpSpPr>
        <p:grpSpPr>
          <a:xfrm>
            <a:off x="289541" y="354149"/>
            <a:ext cx="1579493" cy="1498616"/>
            <a:chOff x="0" y="0"/>
            <a:chExt cx="2105990" cy="1998154"/>
          </a:xfrm>
        </p:grpSpPr>
        <p:sp>
          <p:nvSpPr>
            <p:cNvPr id="11" name="Freeform 11" descr="logo 2.png">
              <a:extLst>
                <a:ext uri="{FF2B5EF4-FFF2-40B4-BE49-F238E27FC236}">
                  <a16:creationId xmlns:a16="http://schemas.microsoft.com/office/drawing/2014/main" id="{7A419665-93B5-CD33-F082-5873275EA844}"/>
                </a:ext>
              </a:extLst>
            </p:cNvPr>
            <p:cNvSpPr/>
            <p:nvPr/>
          </p:nvSpPr>
          <p:spPr>
            <a:xfrm>
              <a:off x="0" y="0"/>
              <a:ext cx="2106041" cy="1998218"/>
            </a:xfrm>
            <a:custGeom>
              <a:avLst/>
              <a:gdLst/>
              <a:ahLst/>
              <a:cxnLst/>
              <a:rect l="l" t="t" r="r" b="b"/>
              <a:pathLst>
                <a:path w="2106041" h="1998218">
                  <a:moveTo>
                    <a:pt x="0" y="0"/>
                  </a:moveTo>
                  <a:lnTo>
                    <a:pt x="2106041" y="0"/>
                  </a:lnTo>
                  <a:lnTo>
                    <a:pt x="2106041" y="1998218"/>
                  </a:lnTo>
                  <a:lnTo>
                    <a:pt x="0" y="1998218"/>
                  </a:lnTo>
                  <a:lnTo>
                    <a:pt x="0" y="0"/>
                  </a:lnTo>
                  <a:close/>
                </a:path>
              </a:pathLst>
            </a:custGeom>
            <a:blipFill>
              <a:blip r:embed="rId5"/>
              <a:stretch>
                <a:fillRect t="-140" r="2" b="-136"/>
              </a:stretch>
            </a:blipFill>
          </p:spPr>
        </p:sp>
      </p:grpSp>
      <p:grpSp>
        <p:nvGrpSpPr>
          <p:cNvPr id="12" name="Group 12">
            <a:extLst>
              <a:ext uri="{FF2B5EF4-FFF2-40B4-BE49-F238E27FC236}">
                <a16:creationId xmlns:a16="http://schemas.microsoft.com/office/drawing/2014/main" id="{F1531A38-975F-C8D4-14B7-6D6F3F5EA355}"/>
              </a:ext>
            </a:extLst>
          </p:cNvPr>
          <p:cNvGrpSpPr/>
          <p:nvPr/>
        </p:nvGrpSpPr>
        <p:grpSpPr>
          <a:xfrm>
            <a:off x="16028651" y="237582"/>
            <a:ext cx="1570482" cy="1706528"/>
            <a:chOff x="0" y="0"/>
            <a:chExt cx="2093976" cy="2275370"/>
          </a:xfrm>
        </p:grpSpPr>
        <p:sp>
          <p:nvSpPr>
            <p:cNvPr id="13" name="Freeform 13" descr="logo3.png">
              <a:extLst>
                <a:ext uri="{FF2B5EF4-FFF2-40B4-BE49-F238E27FC236}">
                  <a16:creationId xmlns:a16="http://schemas.microsoft.com/office/drawing/2014/main" id="{5A2D6526-935A-D7FC-55E7-B57B867DEAD4}"/>
                </a:ext>
              </a:extLst>
            </p:cNvPr>
            <p:cNvSpPr/>
            <p:nvPr/>
          </p:nvSpPr>
          <p:spPr>
            <a:xfrm>
              <a:off x="0" y="0"/>
              <a:ext cx="2093976" cy="2275332"/>
            </a:xfrm>
            <a:custGeom>
              <a:avLst/>
              <a:gdLst/>
              <a:ahLst/>
              <a:cxnLst/>
              <a:rect l="l" t="t" r="r" b="b"/>
              <a:pathLst>
                <a:path w="2093976" h="2275332">
                  <a:moveTo>
                    <a:pt x="0" y="0"/>
                  </a:moveTo>
                  <a:lnTo>
                    <a:pt x="2093976" y="0"/>
                  </a:lnTo>
                  <a:lnTo>
                    <a:pt x="2093976" y="2275332"/>
                  </a:lnTo>
                  <a:lnTo>
                    <a:pt x="0" y="2275332"/>
                  </a:lnTo>
                  <a:lnTo>
                    <a:pt x="0" y="0"/>
                  </a:lnTo>
                  <a:close/>
                </a:path>
              </a:pathLst>
            </a:custGeom>
            <a:blipFill>
              <a:blip r:embed="rId6"/>
              <a:stretch>
                <a:fillRect t="-30" b="-32"/>
              </a:stretch>
            </a:blipFill>
          </p:spPr>
        </p:sp>
      </p:grpSp>
      <p:pic>
        <p:nvPicPr>
          <p:cNvPr id="37" name="Picture 36">
            <a:extLst>
              <a:ext uri="{FF2B5EF4-FFF2-40B4-BE49-F238E27FC236}">
                <a16:creationId xmlns:a16="http://schemas.microsoft.com/office/drawing/2014/main" id="{F54BF62A-5439-D004-1734-476A83191ED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052796" y="1944081"/>
            <a:ext cx="13975855" cy="7476646"/>
          </a:xfrm>
          <a:prstGeom prst="rect">
            <a:avLst/>
          </a:prstGeom>
        </p:spPr>
      </p:pic>
      <p:sp>
        <p:nvSpPr>
          <p:cNvPr id="41" name="TextBox 8">
            <a:extLst>
              <a:ext uri="{FF2B5EF4-FFF2-40B4-BE49-F238E27FC236}">
                <a16:creationId xmlns:a16="http://schemas.microsoft.com/office/drawing/2014/main" id="{35E2252A-76DC-1E18-F3D8-26BFCBB01738}"/>
              </a:ext>
            </a:extLst>
          </p:cNvPr>
          <p:cNvSpPr txBox="1"/>
          <p:nvPr/>
        </p:nvSpPr>
        <p:spPr>
          <a:xfrm>
            <a:off x="771905" y="664899"/>
            <a:ext cx="16303114" cy="877163"/>
          </a:xfrm>
          <a:prstGeom prst="rect">
            <a:avLst/>
          </a:prstGeom>
        </p:spPr>
        <p:txBody>
          <a:bodyPr lIns="0" tIns="0" rIns="0" bIns="0" rtlCol="0" anchor="t">
            <a:spAutoFit/>
          </a:bodyPr>
          <a:lstStyle/>
          <a:p>
            <a:pPr algn="ctr">
              <a:lnSpc>
                <a:spcPts val="6926"/>
              </a:lnSpc>
            </a:pPr>
            <a:r>
              <a:rPr lang="en-US" sz="5550" dirty="0">
                <a:solidFill>
                  <a:srgbClr val="1B1B27"/>
                </a:solidFill>
                <a:latin typeface="Corben"/>
                <a:ea typeface="Corben"/>
                <a:cs typeface="Corben"/>
                <a:sym typeface="Corben"/>
              </a:rPr>
              <a:t>Outcomes</a:t>
            </a:r>
          </a:p>
        </p:txBody>
      </p:sp>
    </p:spTree>
    <p:extLst>
      <p:ext uri="{BB962C8B-B14F-4D97-AF65-F5344CB8AC3E}">
        <p14:creationId xmlns:p14="http://schemas.microsoft.com/office/powerpoint/2010/main" val="12628648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24F063D6-7AB2-2C41-0EF4-A3B6E5E48ED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8802A4B-B416-0AB2-2E38-F694BBDE5FB2}"/>
              </a:ext>
            </a:extLst>
          </p:cNvPr>
          <p:cNvGrpSpPr/>
          <p:nvPr/>
        </p:nvGrpSpPr>
        <p:grpSpPr>
          <a:xfrm>
            <a:off x="0" y="0"/>
            <a:ext cx="18287543" cy="10287000"/>
            <a:chOff x="0" y="0"/>
            <a:chExt cx="24383390" cy="13716000"/>
          </a:xfrm>
        </p:grpSpPr>
        <p:sp>
          <p:nvSpPr>
            <p:cNvPr id="3" name="Freeform 3" descr="preencoded.png">
              <a:extLst>
                <a:ext uri="{FF2B5EF4-FFF2-40B4-BE49-F238E27FC236}">
                  <a16:creationId xmlns:a16="http://schemas.microsoft.com/office/drawing/2014/main" id="{257299A6-D00E-C0B4-60C4-419CF76DD68E}"/>
                </a:ext>
              </a:extLst>
            </p:cNvPr>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lnTo>
                    <a:pt x="0" y="0"/>
                  </a:lnTo>
                  <a:close/>
                </a:path>
              </a:pathLst>
            </a:custGeom>
            <a:blipFill>
              <a:blip r:embed="rId3"/>
              <a:stretch>
                <a:fillRect l="-1" r="-1"/>
              </a:stretch>
            </a:blipFill>
          </p:spPr>
        </p:sp>
      </p:grpSp>
      <p:grpSp>
        <p:nvGrpSpPr>
          <p:cNvPr id="4" name="Group 4">
            <a:extLst>
              <a:ext uri="{FF2B5EF4-FFF2-40B4-BE49-F238E27FC236}">
                <a16:creationId xmlns:a16="http://schemas.microsoft.com/office/drawing/2014/main" id="{7E1E5F26-0DD3-FD27-97F9-06536470F1CE}"/>
              </a:ext>
            </a:extLst>
          </p:cNvPr>
          <p:cNvGrpSpPr/>
          <p:nvPr/>
        </p:nvGrpSpPr>
        <p:grpSpPr>
          <a:xfrm>
            <a:off x="0" y="0"/>
            <a:ext cx="18287543" cy="10287000"/>
            <a:chOff x="0" y="0"/>
            <a:chExt cx="24383390" cy="13716000"/>
          </a:xfrm>
        </p:grpSpPr>
        <p:sp>
          <p:nvSpPr>
            <p:cNvPr id="5" name="Freeform 5">
              <a:extLst>
                <a:ext uri="{FF2B5EF4-FFF2-40B4-BE49-F238E27FC236}">
                  <a16:creationId xmlns:a16="http://schemas.microsoft.com/office/drawing/2014/main" id="{016DE3DB-661E-7EC1-175B-AF4565144A84}"/>
                </a:ext>
              </a:extLst>
            </p:cNvPr>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close/>
                </a:path>
              </a:pathLst>
            </a:custGeom>
            <a:solidFill>
              <a:srgbClr val="F9F9FF">
                <a:alpha val="90196"/>
              </a:srgbClr>
            </a:solidFill>
          </p:spPr>
        </p:sp>
      </p:grpSp>
      <p:grpSp>
        <p:nvGrpSpPr>
          <p:cNvPr id="6" name="Group 6">
            <a:extLst>
              <a:ext uri="{FF2B5EF4-FFF2-40B4-BE49-F238E27FC236}">
                <a16:creationId xmlns:a16="http://schemas.microsoft.com/office/drawing/2014/main" id="{9D28D4C8-6989-1096-7D6A-9BFAE625F623}"/>
              </a:ext>
            </a:extLst>
          </p:cNvPr>
          <p:cNvGrpSpPr/>
          <p:nvPr/>
        </p:nvGrpSpPr>
        <p:grpSpPr>
          <a:xfrm>
            <a:off x="16615315" y="9838487"/>
            <a:ext cx="1607763" cy="384048"/>
            <a:chOff x="0" y="0"/>
            <a:chExt cx="2143684" cy="512064"/>
          </a:xfrm>
        </p:grpSpPr>
        <p:sp>
          <p:nvSpPr>
            <p:cNvPr id="7" name="Freeform 7" descr="preencoded.png">
              <a:hlinkClick r:id="rId4" tooltip="https://gamma.app/?utm_source=made-with-gamma"/>
              <a:extLst>
                <a:ext uri="{FF2B5EF4-FFF2-40B4-BE49-F238E27FC236}">
                  <a16:creationId xmlns:a16="http://schemas.microsoft.com/office/drawing/2014/main" id="{6E4766BE-CB39-8A9A-D03D-0379692EA9FE}"/>
                </a:ext>
              </a:extLst>
            </p:cNvPr>
            <p:cNvSpPr/>
            <p:nvPr/>
          </p:nvSpPr>
          <p:spPr>
            <a:xfrm>
              <a:off x="0" y="0"/>
              <a:ext cx="2143633" cy="512064"/>
            </a:xfrm>
            <a:custGeom>
              <a:avLst/>
              <a:gdLst/>
              <a:ahLst/>
              <a:cxnLst/>
              <a:rect l="l" t="t" r="r" b="b"/>
              <a:pathLst>
                <a:path w="2143633" h="512064">
                  <a:moveTo>
                    <a:pt x="0" y="0"/>
                  </a:moveTo>
                  <a:lnTo>
                    <a:pt x="2143633" y="0"/>
                  </a:lnTo>
                  <a:lnTo>
                    <a:pt x="2143633" y="512064"/>
                  </a:lnTo>
                  <a:lnTo>
                    <a:pt x="0" y="512064"/>
                  </a:lnTo>
                  <a:lnTo>
                    <a:pt x="0" y="0"/>
                  </a:lnTo>
                  <a:close/>
                </a:path>
              </a:pathLst>
            </a:custGeom>
            <a:solidFill>
              <a:srgbClr val="F9F9FF"/>
            </a:solidFill>
          </p:spPr>
        </p:sp>
      </p:grpSp>
      <p:grpSp>
        <p:nvGrpSpPr>
          <p:cNvPr id="10" name="Group 10">
            <a:extLst>
              <a:ext uri="{FF2B5EF4-FFF2-40B4-BE49-F238E27FC236}">
                <a16:creationId xmlns:a16="http://schemas.microsoft.com/office/drawing/2014/main" id="{BAE378B6-6893-CF44-70EA-44BA574AA410}"/>
              </a:ext>
            </a:extLst>
          </p:cNvPr>
          <p:cNvGrpSpPr/>
          <p:nvPr/>
        </p:nvGrpSpPr>
        <p:grpSpPr>
          <a:xfrm>
            <a:off x="289541" y="354149"/>
            <a:ext cx="1579493" cy="1498616"/>
            <a:chOff x="0" y="0"/>
            <a:chExt cx="2105990" cy="1998154"/>
          </a:xfrm>
        </p:grpSpPr>
        <p:sp>
          <p:nvSpPr>
            <p:cNvPr id="11" name="Freeform 11" descr="logo 2.png">
              <a:extLst>
                <a:ext uri="{FF2B5EF4-FFF2-40B4-BE49-F238E27FC236}">
                  <a16:creationId xmlns:a16="http://schemas.microsoft.com/office/drawing/2014/main" id="{842CECAF-378D-F73F-506F-2AF6E5882A77}"/>
                </a:ext>
              </a:extLst>
            </p:cNvPr>
            <p:cNvSpPr/>
            <p:nvPr/>
          </p:nvSpPr>
          <p:spPr>
            <a:xfrm>
              <a:off x="0" y="0"/>
              <a:ext cx="2106041" cy="1998218"/>
            </a:xfrm>
            <a:custGeom>
              <a:avLst/>
              <a:gdLst/>
              <a:ahLst/>
              <a:cxnLst/>
              <a:rect l="l" t="t" r="r" b="b"/>
              <a:pathLst>
                <a:path w="2106041" h="1998218">
                  <a:moveTo>
                    <a:pt x="0" y="0"/>
                  </a:moveTo>
                  <a:lnTo>
                    <a:pt x="2106041" y="0"/>
                  </a:lnTo>
                  <a:lnTo>
                    <a:pt x="2106041" y="1998218"/>
                  </a:lnTo>
                  <a:lnTo>
                    <a:pt x="0" y="1998218"/>
                  </a:lnTo>
                  <a:lnTo>
                    <a:pt x="0" y="0"/>
                  </a:lnTo>
                  <a:close/>
                </a:path>
              </a:pathLst>
            </a:custGeom>
            <a:blipFill>
              <a:blip r:embed="rId5"/>
              <a:stretch>
                <a:fillRect t="-140" r="2" b="-136"/>
              </a:stretch>
            </a:blipFill>
          </p:spPr>
        </p:sp>
      </p:grpSp>
      <p:grpSp>
        <p:nvGrpSpPr>
          <p:cNvPr id="12" name="Group 12">
            <a:extLst>
              <a:ext uri="{FF2B5EF4-FFF2-40B4-BE49-F238E27FC236}">
                <a16:creationId xmlns:a16="http://schemas.microsoft.com/office/drawing/2014/main" id="{B397200B-786D-03E9-17AA-9513E84A7CF5}"/>
              </a:ext>
            </a:extLst>
          </p:cNvPr>
          <p:cNvGrpSpPr/>
          <p:nvPr/>
        </p:nvGrpSpPr>
        <p:grpSpPr>
          <a:xfrm>
            <a:off x="16028651" y="237582"/>
            <a:ext cx="1570482" cy="1706528"/>
            <a:chOff x="0" y="0"/>
            <a:chExt cx="2093976" cy="2275370"/>
          </a:xfrm>
        </p:grpSpPr>
        <p:sp>
          <p:nvSpPr>
            <p:cNvPr id="13" name="Freeform 13" descr="logo3.png">
              <a:extLst>
                <a:ext uri="{FF2B5EF4-FFF2-40B4-BE49-F238E27FC236}">
                  <a16:creationId xmlns:a16="http://schemas.microsoft.com/office/drawing/2014/main" id="{B118C590-0B6A-78ED-A119-3BAE4DDABC43}"/>
                </a:ext>
              </a:extLst>
            </p:cNvPr>
            <p:cNvSpPr/>
            <p:nvPr/>
          </p:nvSpPr>
          <p:spPr>
            <a:xfrm>
              <a:off x="0" y="0"/>
              <a:ext cx="2093976" cy="2275332"/>
            </a:xfrm>
            <a:custGeom>
              <a:avLst/>
              <a:gdLst/>
              <a:ahLst/>
              <a:cxnLst/>
              <a:rect l="l" t="t" r="r" b="b"/>
              <a:pathLst>
                <a:path w="2093976" h="2275332">
                  <a:moveTo>
                    <a:pt x="0" y="0"/>
                  </a:moveTo>
                  <a:lnTo>
                    <a:pt x="2093976" y="0"/>
                  </a:lnTo>
                  <a:lnTo>
                    <a:pt x="2093976" y="2275332"/>
                  </a:lnTo>
                  <a:lnTo>
                    <a:pt x="0" y="2275332"/>
                  </a:lnTo>
                  <a:lnTo>
                    <a:pt x="0" y="0"/>
                  </a:lnTo>
                  <a:close/>
                </a:path>
              </a:pathLst>
            </a:custGeom>
            <a:blipFill>
              <a:blip r:embed="rId6"/>
              <a:stretch>
                <a:fillRect t="-30" b="-32"/>
              </a:stretch>
            </a:blipFill>
          </p:spPr>
        </p:sp>
      </p:grpSp>
      <p:pic>
        <p:nvPicPr>
          <p:cNvPr id="14" name="Picture 13">
            <a:extLst>
              <a:ext uri="{FF2B5EF4-FFF2-40B4-BE49-F238E27FC236}">
                <a16:creationId xmlns:a16="http://schemas.microsoft.com/office/drawing/2014/main" id="{E3953CFD-5137-C42B-B974-3427AC57506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610362" y="1840113"/>
            <a:ext cx="14418289" cy="7788315"/>
          </a:xfrm>
          <a:prstGeom prst="rect">
            <a:avLst/>
          </a:prstGeom>
        </p:spPr>
      </p:pic>
    </p:spTree>
    <p:extLst>
      <p:ext uri="{BB962C8B-B14F-4D97-AF65-F5344CB8AC3E}">
        <p14:creationId xmlns:p14="http://schemas.microsoft.com/office/powerpoint/2010/main" val="38578671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EF0F3E66-AE39-6CE7-F21D-7D3C2A42BE9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C0ED26E-7EA2-2B6A-7ECF-0B64467E12A9}"/>
              </a:ext>
            </a:extLst>
          </p:cNvPr>
          <p:cNvGrpSpPr/>
          <p:nvPr/>
        </p:nvGrpSpPr>
        <p:grpSpPr>
          <a:xfrm>
            <a:off x="0" y="0"/>
            <a:ext cx="18287543" cy="10287000"/>
            <a:chOff x="0" y="0"/>
            <a:chExt cx="24383390" cy="13716000"/>
          </a:xfrm>
        </p:grpSpPr>
        <p:sp>
          <p:nvSpPr>
            <p:cNvPr id="3" name="Freeform 3" descr="preencoded.png">
              <a:extLst>
                <a:ext uri="{FF2B5EF4-FFF2-40B4-BE49-F238E27FC236}">
                  <a16:creationId xmlns:a16="http://schemas.microsoft.com/office/drawing/2014/main" id="{C38BEE3D-E6C7-9680-9959-D497E79CBBD9}"/>
                </a:ext>
              </a:extLst>
            </p:cNvPr>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lnTo>
                    <a:pt x="0" y="0"/>
                  </a:lnTo>
                  <a:close/>
                </a:path>
              </a:pathLst>
            </a:custGeom>
            <a:blipFill>
              <a:blip r:embed="rId3"/>
              <a:stretch>
                <a:fillRect l="-1" r="-1"/>
              </a:stretch>
            </a:blipFill>
          </p:spPr>
        </p:sp>
      </p:grpSp>
      <p:grpSp>
        <p:nvGrpSpPr>
          <p:cNvPr id="4" name="Group 4">
            <a:extLst>
              <a:ext uri="{FF2B5EF4-FFF2-40B4-BE49-F238E27FC236}">
                <a16:creationId xmlns:a16="http://schemas.microsoft.com/office/drawing/2014/main" id="{E09A92FE-BFED-705F-1B98-48200535C8A8}"/>
              </a:ext>
            </a:extLst>
          </p:cNvPr>
          <p:cNvGrpSpPr/>
          <p:nvPr/>
        </p:nvGrpSpPr>
        <p:grpSpPr>
          <a:xfrm>
            <a:off x="0" y="0"/>
            <a:ext cx="18287543" cy="10287000"/>
            <a:chOff x="0" y="0"/>
            <a:chExt cx="24383390" cy="13716000"/>
          </a:xfrm>
        </p:grpSpPr>
        <p:sp>
          <p:nvSpPr>
            <p:cNvPr id="5" name="Freeform 5">
              <a:extLst>
                <a:ext uri="{FF2B5EF4-FFF2-40B4-BE49-F238E27FC236}">
                  <a16:creationId xmlns:a16="http://schemas.microsoft.com/office/drawing/2014/main" id="{2C9058D5-7E57-B18A-02E6-630A6FE799F9}"/>
                </a:ext>
              </a:extLst>
            </p:cNvPr>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close/>
                </a:path>
              </a:pathLst>
            </a:custGeom>
            <a:solidFill>
              <a:srgbClr val="F9F9FF">
                <a:alpha val="90196"/>
              </a:srgbClr>
            </a:solidFill>
          </p:spPr>
        </p:sp>
      </p:grpSp>
      <p:grpSp>
        <p:nvGrpSpPr>
          <p:cNvPr id="6" name="Group 6">
            <a:extLst>
              <a:ext uri="{FF2B5EF4-FFF2-40B4-BE49-F238E27FC236}">
                <a16:creationId xmlns:a16="http://schemas.microsoft.com/office/drawing/2014/main" id="{F4E12C61-C97B-F477-21A3-85DF7B795D4B}"/>
              </a:ext>
            </a:extLst>
          </p:cNvPr>
          <p:cNvGrpSpPr/>
          <p:nvPr/>
        </p:nvGrpSpPr>
        <p:grpSpPr>
          <a:xfrm>
            <a:off x="16615315" y="9838487"/>
            <a:ext cx="1607763" cy="384048"/>
            <a:chOff x="0" y="0"/>
            <a:chExt cx="2143684" cy="512064"/>
          </a:xfrm>
        </p:grpSpPr>
        <p:sp>
          <p:nvSpPr>
            <p:cNvPr id="7" name="Freeform 7" descr="preencoded.png">
              <a:hlinkClick r:id="rId4" tooltip="https://gamma.app/?utm_source=made-with-gamma"/>
              <a:extLst>
                <a:ext uri="{FF2B5EF4-FFF2-40B4-BE49-F238E27FC236}">
                  <a16:creationId xmlns:a16="http://schemas.microsoft.com/office/drawing/2014/main" id="{0D109592-E416-3048-8D53-B623E82F0FF1}"/>
                </a:ext>
              </a:extLst>
            </p:cNvPr>
            <p:cNvSpPr/>
            <p:nvPr/>
          </p:nvSpPr>
          <p:spPr>
            <a:xfrm>
              <a:off x="0" y="0"/>
              <a:ext cx="2143633" cy="512064"/>
            </a:xfrm>
            <a:custGeom>
              <a:avLst/>
              <a:gdLst/>
              <a:ahLst/>
              <a:cxnLst/>
              <a:rect l="l" t="t" r="r" b="b"/>
              <a:pathLst>
                <a:path w="2143633" h="512064">
                  <a:moveTo>
                    <a:pt x="0" y="0"/>
                  </a:moveTo>
                  <a:lnTo>
                    <a:pt x="2143633" y="0"/>
                  </a:lnTo>
                  <a:lnTo>
                    <a:pt x="2143633" y="512064"/>
                  </a:lnTo>
                  <a:lnTo>
                    <a:pt x="0" y="512064"/>
                  </a:lnTo>
                  <a:lnTo>
                    <a:pt x="0" y="0"/>
                  </a:lnTo>
                  <a:close/>
                </a:path>
              </a:pathLst>
            </a:custGeom>
            <a:solidFill>
              <a:srgbClr val="F9F9FF"/>
            </a:solidFill>
          </p:spPr>
        </p:sp>
      </p:grpSp>
      <p:grpSp>
        <p:nvGrpSpPr>
          <p:cNvPr id="10" name="Group 10">
            <a:extLst>
              <a:ext uri="{FF2B5EF4-FFF2-40B4-BE49-F238E27FC236}">
                <a16:creationId xmlns:a16="http://schemas.microsoft.com/office/drawing/2014/main" id="{F08264E0-0B7E-F4D7-BD97-3A053C23D9AE}"/>
              </a:ext>
            </a:extLst>
          </p:cNvPr>
          <p:cNvGrpSpPr/>
          <p:nvPr/>
        </p:nvGrpSpPr>
        <p:grpSpPr>
          <a:xfrm>
            <a:off x="289541" y="354149"/>
            <a:ext cx="1579493" cy="1498616"/>
            <a:chOff x="0" y="0"/>
            <a:chExt cx="2105990" cy="1998154"/>
          </a:xfrm>
        </p:grpSpPr>
        <p:sp>
          <p:nvSpPr>
            <p:cNvPr id="11" name="Freeform 11" descr="logo 2.png">
              <a:extLst>
                <a:ext uri="{FF2B5EF4-FFF2-40B4-BE49-F238E27FC236}">
                  <a16:creationId xmlns:a16="http://schemas.microsoft.com/office/drawing/2014/main" id="{E02B494C-CBBE-AF1B-7D3C-1AF4AAA9C424}"/>
                </a:ext>
              </a:extLst>
            </p:cNvPr>
            <p:cNvSpPr/>
            <p:nvPr/>
          </p:nvSpPr>
          <p:spPr>
            <a:xfrm>
              <a:off x="0" y="0"/>
              <a:ext cx="2106041" cy="1998218"/>
            </a:xfrm>
            <a:custGeom>
              <a:avLst/>
              <a:gdLst/>
              <a:ahLst/>
              <a:cxnLst/>
              <a:rect l="l" t="t" r="r" b="b"/>
              <a:pathLst>
                <a:path w="2106041" h="1998218">
                  <a:moveTo>
                    <a:pt x="0" y="0"/>
                  </a:moveTo>
                  <a:lnTo>
                    <a:pt x="2106041" y="0"/>
                  </a:lnTo>
                  <a:lnTo>
                    <a:pt x="2106041" y="1998218"/>
                  </a:lnTo>
                  <a:lnTo>
                    <a:pt x="0" y="1998218"/>
                  </a:lnTo>
                  <a:lnTo>
                    <a:pt x="0" y="0"/>
                  </a:lnTo>
                  <a:close/>
                </a:path>
              </a:pathLst>
            </a:custGeom>
            <a:blipFill>
              <a:blip r:embed="rId5"/>
              <a:stretch>
                <a:fillRect t="-140" r="2" b="-136"/>
              </a:stretch>
            </a:blipFill>
          </p:spPr>
        </p:sp>
      </p:grpSp>
      <p:grpSp>
        <p:nvGrpSpPr>
          <p:cNvPr id="12" name="Group 12">
            <a:extLst>
              <a:ext uri="{FF2B5EF4-FFF2-40B4-BE49-F238E27FC236}">
                <a16:creationId xmlns:a16="http://schemas.microsoft.com/office/drawing/2014/main" id="{35C7A93C-BFED-F83E-9E81-A3ECAA18C01D}"/>
              </a:ext>
            </a:extLst>
          </p:cNvPr>
          <p:cNvGrpSpPr/>
          <p:nvPr/>
        </p:nvGrpSpPr>
        <p:grpSpPr>
          <a:xfrm>
            <a:off x="16028651" y="237582"/>
            <a:ext cx="1570482" cy="1706528"/>
            <a:chOff x="0" y="0"/>
            <a:chExt cx="2093976" cy="2275370"/>
          </a:xfrm>
        </p:grpSpPr>
        <p:sp>
          <p:nvSpPr>
            <p:cNvPr id="13" name="Freeform 13" descr="logo3.png">
              <a:extLst>
                <a:ext uri="{FF2B5EF4-FFF2-40B4-BE49-F238E27FC236}">
                  <a16:creationId xmlns:a16="http://schemas.microsoft.com/office/drawing/2014/main" id="{F0DDA9D4-9FE1-E91A-1BF7-3EF0DD41752A}"/>
                </a:ext>
              </a:extLst>
            </p:cNvPr>
            <p:cNvSpPr/>
            <p:nvPr/>
          </p:nvSpPr>
          <p:spPr>
            <a:xfrm>
              <a:off x="0" y="0"/>
              <a:ext cx="2093976" cy="2275332"/>
            </a:xfrm>
            <a:custGeom>
              <a:avLst/>
              <a:gdLst/>
              <a:ahLst/>
              <a:cxnLst/>
              <a:rect l="l" t="t" r="r" b="b"/>
              <a:pathLst>
                <a:path w="2093976" h="2275332">
                  <a:moveTo>
                    <a:pt x="0" y="0"/>
                  </a:moveTo>
                  <a:lnTo>
                    <a:pt x="2093976" y="0"/>
                  </a:lnTo>
                  <a:lnTo>
                    <a:pt x="2093976" y="2275332"/>
                  </a:lnTo>
                  <a:lnTo>
                    <a:pt x="0" y="2275332"/>
                  </a:lnTo>
                  <a:lnTo>
                    <a:pt x="0" y="0"/>
                  </a:lnTo>
                  <a:close/>
                </a:path>
              </a:pathLst>
            </a:custGeom>
            <a:blipFill>
              <a:blip r:embed="rId6"/>
              <a:stretch>
                <a:fillRect t="-30" b="-32"/>
              </a:stretch>
            </a:blipFill>
          </p:spPr>
        </p:sp>
      </p:grpSp>
      <p:pic>
        <p:nvPicPr>
          <p:cNvPr id="14" name="Picture 13">
            <a:extLst>
              <a:ext uri="{FF2B5EF4-FFF2-40B4-BE49-F238E27FC236}">
                <a16:creationId xmlns:a16="http://schemas.microsoft.com/office/drawing/2014/main" id="{D4ED55F2-DFBD-FF7A-8DC8-A91D76B586B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33401" y="2971687"/>
            <a:ext cx="8161076" cy="4381614"/>
          </a:xfrm>
          <a:prstGeom prst="rect">
            <a:avLst/>
          </a:prstGeom>
        </p:spPr>
      </p:pic>
      <p:pic>
        <p:nvPicPr>
          <p:cNvPr id="16" name="Picture 15">
            <a:extLst>
              <a:ext uri="{FF2B5EF4-FFF2-40B4-BE49-F238E27FC236}">
                <a16:creationId xmlns:a16="http://schemas.microsoft.com/office/drawing/2014/main" id="{7631FB41-E1DC-D04A-6A26-B95F7FCF204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281185" y="2809138"/>
            <a:ext cx="8444826" cy="4544163"/>
          </a:xfrm>
          <a:prstGeom prst="rect">
            <a:avLst/>
          </a:prstGeom>
        </p:spPr>
      </p:pic>
    </p:spTree>
    <p:extLst>
      <p:ext uri="{BB962C8B-B14F-4D97-AF65-F5344CB8AC3E}">
        <p14:creationId xmlns:p14="http://schemas.microsoft.com/office/powerpoint/2010/main" val="1871444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1ECA1340-9591-CC7F-AA52-EF26FED6BE0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B4BBD14-3459-43B0-D43B-EDD43079F7FF}"/>
              </a:ext>
            </a:extLst>
          </p:cNvPr>
          <p:cNvGrpSpPr/>
          <p:nvPr/>
        </p:nvGrpSpPr>
        <p:grpSpPr>
          <a:xfrm>
            <a:off x="0" y="0"/>
            <a:ext cx="18287543" cy="10287000"/>
            <a:chOff x="0" y="0"/>
            <a:chExt cx="24383390" cy="13716000"/>
          </a:xfrm>
        </p:grpSpPr>
        <p:sp>
          <p:nvSpPr>
            <p:cNvPr id="3" name="Freeform 3" descr="preencoded.png">
              <a:extLst>
                <a:ext uri="{FF2B5EF4-FFF2-40B4-BE49-F238E27FC236}">
                  <a16:creationId xmlns:a16="http://schemas.microsoft.com/office/drawing/2014/main" id="{B3D57E11-5D1F-C671-6E11-07BEB9A67CA4}"/>
                </a:ext>
              </a:extLst>
            </p:cNvPr>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lnTo>
                    <a:pt x="0" y="0"/>
                  </a:lnTo>
                  <a:close/>
                </a:path>
              </a:pathLst>
            </a:custGeom>
            <a:blipFill>
              <a:blip r:embed="rId3"/>
              <a:stretch>
                <a:fillRect l="-1" r="-1"/>
              </a:stretch>
            </a:blipFill>
          </p:spPr>
        </p:sp>
      </p:grpSp>
      <p:grpSp>
        <p:nvGrpSpPr>
          <p:cNvPr id="4" name="Group 4">
            <a:extLst>
              <a:ext uri="{FF2B5EF4-FFF2-40B4-BE49-F238E27FC236}">
                <a16:creationId xmlns:a16="http://schemas.microsoft.com/office/drawing/2014/main" id="{B06674E9-21E7-D29F-C602-7418DFECE7C1}"/>
              </a:ext>
            </a:extLst>
          </p:cNvPr>
          <p:cNvGrpSpPr/>
          <p:nvPr/>
        </p:nvGrpSpPr>
        <p:grpSpPr>
          <a:xfrm>
            <a:off x="0" y="0"/>
            <a:ext cx="18287543" cy="10287000"/>
            <a:chOff x="0" y="0"/>
            <a:chExt cx="24383390" cy="13716000"/>
          </a:xfrm>
        </p:grpSpPr>
        <p:sp>
          <p:nvSpPr>
            <p:cNvPr id="5" name="Freeform 5">
              <a:extLst>
                <a:ext uri="{FF2B5EF4-FFF2-40B4-BE49-F238E27FC236}">
                  <a16:creationId xmlns:a16="http://schemas.microsoft.com/office/drawing/2014/main" id="{69C9949E-E27A-0ABC-8068-92D9B6727828}"/>
                </a:ext>
              </a:extLst>
            </p:cNvPr>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close/>
                </a:path>
              </a:pathLst>
            </a:custGeom>
            <a:solidFill>
              <a:srgbClr val="F9F9FF">
                <a:alpha val="90196"/>
              </a:srgbClr>
            </a:solidFill>
          </p:spPr>
        </p:sp>
      </p:grpSp>
      <p:grpSp>
        <p:nvGrpSpPr>
          <p:cNvPr id="6" name="Group 6">
            <a:extLst>
              <a:ext uri="{FF2B5EF4-FFF2-40B4-BE49-F238E27FC236}">
                <a16:creationId xmlns:a16="http://schemas.microsoft.com/office/drawing/2014/main" id="{AE9763AA-F844-66D8-3235-73449D1E62F6}"/>
              </a:ext>
            </a:extLst>
          </p:cNvPr>
          <p:cNvGrpSpPr/>
          <p:nvPr/>
        </p:nvGrpSpPr>
        <p:grpSpPr>
          <a:xfrm>
            <a:off x="16615315" y="9838487"/>
            <a:ext cx="1607763" cy="384048"/>
            <a:chOff x="0" y="0"/>
            <a:chExt cx="2143684" cy="512064"/>
          </a:xfrm>
        </p:grpSpPr>
        <p:sp>
          <p:nvSpPr>
            <p:cNvPr id="7" name="Freeform 7" descr="preencoded.png">
              <a:hlinkClick r:id="rId4" tooltip="https://gamma.app/?utm_source=made-with-gamma"/>
              <a:extLst>
                <a:ext uri="{FF2B5EF4-FFF2-40B4-BE49-F238E27FC236}">
                  <a16:creationId xmlns:a16="http://schemas.microsoft.com/office/drawing/2014/main" id="{E8C848DD-BB7F-B796-02ED-22825D8D544D}"/>
                </a:ext>
              </a:extLst>
            </p:cNvPr>
            <p:cNvSpPr/>
            <p:nvPr/>
          </p:nvSpPr>
          <p:spPr>
            <a:xfrm>
              <a:off x="0" y="0"/>
              <a:ext cx="2143633" cy="512064"/>
            </a:xfrm>
            <a:custGeom>
              <a:avLst/>
              <a:gdLst/>
              <a:ahLst/>
              <a:cxnLst/>
              <a:rect l="l" t="t" r="r" b="b"/>
              <a:pathLst>
                <a:path w="2143633" h="512064">
                  <a:moveTo>
                    <a:pt x="0" y="0"/>
                  </a:moveTo>
                  <a:lnTo>
                    <a:pt x="2143633" y="0"/>
                  </a:lnTo>
                  <a:lnTo>
                    <a:pt x="2143633" y="512064"/>
                  </a:lnTo>
                  <a:lnTo>
                    <a:pt x="0" y="512064"/>
                  </a:lnTo>
                  <a:lnTo>
                    <a:pt x="0" y="0"/>
                  </a:lnTo>
                  <a:close/>
                </a:path>
              </a:pathLst>
            </a:custGeom>
            <a:solidFill>
              <a:srgbClr val="F9F9FF"/>
            </a:solidFill>
          </p:spPr>
        </p:sp>
      </p:grpSp>
      <p:grpSp>
        <p:nvGrpSpPr>
          <p:cNvPr id="10" name="Group 10">
            <a:extLst>
              <a:ext uri="{FF2B5EF4-FFF2-40B4-BE49-F238E27FC236}">
                <a16:creationId xmlns:a16="http://schemas.microsoft.com/office/drawing/2014/main" id="{3C7A96C5-27F6-819B-4EA5-D27B3F21D430}"/>
              </a:ext>
            </a:extLst>
          </p:cNvPr>
          <p:cNvGrpSpPr/>
          <p:nvPr/>
        </p:nvGrpSpPr>
        <p:grpSpPr>
          <a:xfrm>
            <a:off x="289541" y="354149"/>
            <a:ext cx="1579493" cy="1498616"/>
            <a:chOff x="0" y="0"/>
            <a:chExt cx="2105990" cy="1998154"/>
          </a:xfrm>
        </p:grpSpPr>
        <p:sp>
          <p:nvSpPr>
            <p:cNvPr id="11" name="Freeform 11" descr="logo 2.png">
              <a:extLst>
                <a:ext uri="{FF2B5EF4-FFF2-40B4-BE49-F238E27FC236}">
                  <a16:creationId xmlns:a16="http://schemas.microsoft.com/office/drawing/2014/main" id="{F80EC027-F47F-24B1-FB02-F4E3035FD187}"/>
                </a:ext>
              </a:extLst>
            </p:cNvPr>
            <p:cNvSpPr/>
            <p:nvPr/>
          </p:nvSpPr>
          <p:spPr>
            <a:xfrm>
              <a:off x="0" y="0"/>
              <a:ext cx="2106041" cy="1998218"/>
            </a:xfrm>
            <a:custGeom>
              <a:avLst/>
              <a:gdLst/>
              <a:ahLst/>
              <a:cxnLst/>
              <a:rect l="l" t="t" r="r" b="b"/>
              <a:pathLst>
                <a:path w="2106041" h="1998218">
                  <a:moveTo>
                    <a:pt x="0" y="0"/>
                  </a:moveTo>
                  <a:lnTo>
                    <a:pt x="2106041" y="0"/>
                  </a:lnTo>
                  <a:lnTo>
                    <a:pt x="2106041" y="1998218"/>
                  </a:lnTo>
                  <a:lnTo>
                    <a:pt x="0" y="1998218"/>
                  </a:lnTo>
                  <a:lnTo>
                    <a:pt x="0" y="0"/>
                  </a:lnTo>
                  <a:close/>
                </a:path>
              </a:pathLst>
            </a:custGeom>
            <a:blipFill>
              <a:blip r:embed="rId5"/>
              <a:stretch>
                <a:fillRect t="-140" r="2" b="-136"/>
              </a:stretch>
            </a:blipFill>
          </p:spPr>
        </p:sp>
      </p:grpSp>
      <p:grpSp>
        <p:nvGrpSpPr>
          <p:cNvPr id="12" name="Group 12">
            <a:extLst>
              <a:ext uri="{FF2B5EF4-FFF2-40B4-BE49-F238E27FC236}">
                <a16:creationId xmlns:a16="http://schemas.microsoft.com/office/drawing/2014/main" id="{6D4F1CB0-1A65-4F40-C70E-B6C7FA3F2E54}"/>
              </a:ext>
            </a:extLst>
          </p:cNvPr>
          <p:cNvGrpSpPr/>
          <p:nvPr/>
        </p:nvGrpSpPr>
        <p:grpSpPr>
          <a:xfrm>
            <a:off x="16028651" y="237582"/>
            <a:ext cx="1570482" cy="1706528"/>
            <a:chOff x="0" y="0"/>
            <a:chExt cx="2093976" cy="2275370"/>
          </a:xfrm>
        </p:grpSpPr>
        <p:sp>
          <p:nvSpPr>
            <p:cNvPr id="13" name="Freeform 13" descr="logo3.png">
              <a:extLst>
                <a:ext uri="{FF2B5EF4-FFF2-40B4-BE49-F238E27FC236}">
                  <a16:creationId xmlns:a16="http://schemas.microsoft.com/office/drawing/2014/main" id="{AE5C665A-81B8-9628-8A5E-C87C0B146217}"/>
                </a:ext>
              </a:extLst>
            </p:cNvPr>
            <p:cNvSpPr/>
            <p:nvPr/>
          </p:nvSpPr>
          <p:spPr>
            <a:xfrm>
              <a:off x="0" y="0"/>
              <a:ext cx="2093976" cy="2275332"/>
            </a:xfrm>
            <a:custGeom>
              <a:avLst/>
              <a:gdLst/>
              <a:ahLst/>
              <a:cxnLst/>
              <a:rect l="l" t="t" r="r" b="b"/>
              <a:pathLst>
                <a:path w="2093976" h="2275332">
                  <a:moveTo>
                    <a:pt x="0" y="0"/>
                  </a:moveTo>
                  <a:lnTo>
                    <a:pt x="2093976" y="0"/>
                  </a:lnTo>
                  <a:lnTo>
                    <a:pt x="2093976" y="2275332"/>
                  </a:lnTo>
                  <a:lnTo>
                    <a:pt x="0" y="2275332"/>
                  </a:lnTo>
                  <a:lnTo>
                    <a:pt x="0" y="0"/>
                  </a:lnTo>
                  <a:close/>
                </a:path>
              </a:pathLst>
            </a:custGeom>
            <a:blipFill>
              <a:blip r:embed="rId6"/>
              <a:stretch>
                <a:fillRect t="-30" b="-32"/>
              </a:stretch>
            </a:blipFill>
          </p:spPr>
        </p:sp>
      </p:grpSp>
      <p:pic>
        <p:nvPicPr>
          <p:cNvPr id="14" name="Picture 13">
            <a:extLst>
              <a:ext uri="{FF2B5EF4-FFF2-40B4-BE49-F238E27FC236}">
                <a16:creationId xmlns:a16="http://schemas.microsoft.com/office/drawing/2014/main" id="{DC593EF6-516C-4610-F46B-07D0295AAF9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33400" y="2984386"/>
            <a:ext cx="8300391" cy="4499894"/>
          </a:xfrm>
          <a:prstGeom prst="rect">
            <a:avLst/>
          </a:prstGeom>
        </p:spPr>
      </p:pic>
      <p:pic>
        <p:nvPicPr>
          <p:cNvPr id="16" name="Picture 15">
            <a:extLst>
              <a:ext uri="{FF2B5EF4-FFF2-40B4-BE49-F238E27FC236}">
                <a16:creationId xmlns:a16="http://schemas.microsoft.com/office/drawing/2014/main" id="{1DFC1BFB-A8B1-B01C-007F-CF7F5F51C10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367191" y="2929606"/>
            <a:ext cx="8373220" cy="4499894"/>
          </a:xfrm>
          <a:prstGeom prst="rect">
            <a:avLst/>
          </a:prstGeom>
        </p:spPr>
      </p:pic>
    </p:spTree>
    <p:extLst>
      <p:ext uri="{BB962C8B-B14F-4D97-AF65-F5344CB8AC3E}">
        <p14:creationId xmlns:p14="http://schemas.microsoft.com/office/powerpoint/2010/main" val="15632733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DD03FF6E-A630-E03B-1B55-DE58E4EB5C1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C99CBF8-1B0D-1524-26DB-714E1046608A}"/>
              </a:ext>
            </a:extLst>
          </p:cNvPr>
          <p:cNvGrpSpPr/>
          <p:nvPr/>
        </p:nvGrpSpPr>
        <p:grpSpPr>
          <a:xfrm>
            <a:off x="0" y="0"/>
            <a:ext cx="18287543" cy="10287000"/>
            <a:chOff x="0" y="0"/>
            <a:chExt cx="24383390" cy="13716000"/>
          </a:xfrm>
        </p:grpSpPr>
        <p:sp>
          <p:nvSpPr>
            <p:cNvPr id="3" name="Freeform 3" descr="preencoded.png">
              <a:extLst>
                <a:ext uri="{FF2B5EF4-FFF2-40B4-BE49-F238E27FC236}">
                  <a16:creationId xmlns:a16="http://schemas.microsoft.com/office/drawing/2014/main" id="{05FA4C32-DC26-E952-5682-9E2E94C59364}"/>
                </a:ext>
              </a:extLst>
            </p:cNvPr>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lnTo>
                    <a:pt x="0" y="0"/>
                  </a:lnTo>
                  <a:close/>
                </a:path>
              </a:pathLst>
            </a:custGeom>
            <a:blipFill>
              <a:blip r:embed="rId3"/>
              <a:stretch>
                <a:fillRect l="-1" r="-1"/>
              </a:stretch>
            </a:blipFill>
          </p:spPr>
        </p:sp>
      </p:grpSp>
      <p:grpSp>
        <p:nvGrpSpPr>
          <p:cNvPr id="4" name="Group 4">
            <a:extLst>
              <a:ext uri="{FF2B5EF4-FFF2-40B4-BE49-F238E27FC236}">
                <a16:creationId xmlns:a16="http://schemas.microsoft.com/office/drawing/2014/main" id="{849241BB-09CD-9FBE-D4F0-2CA41952ADE0}"/>
              </a:ext>
            </a:extLst>
          </p:cNvPr>
          <p:cNvGrpSpPr/>
          <p:nvPr/>
        </p:nvGrpSpPr>
        <p:grpSpPr>
          <a:xfrm>
            <a:off x="0" y="0"/>
            <a:ext cx="18287543" cy="10287000"/>
            <a:chOff x="0" y="0"/>
            <a:chExt cx="24383390" cy="13716000"/>
          </a:xfrm>
        </p:grpSpPr>
        <p:sp>
          <p:nvSpPr>
            <p:cNvPr id="5" name="Freeform 5">
              <a:extLst>
                <a:ext uri="{FF2B5EF4-FFF2-40B4-BE49-F238E27FC236}">
                  <a16:creationId xmlns:a16="http://schemas.microsoft.com/office/drawing/2014/main" id="{3B36528F-2051-D2E2-5C5A-C0F5187C17D3}"/>
                </a:ext>
              </a:extLst>
            </p:cNvPr>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close/>
                </a:path>
              </a:pathLst>
            </a:custGeom>
            <a:solidFill>
              <a:srgbClr val="F9F9FF">
                <a:alpha val="90196"/>
              </a:srgbClr>
            </a:solidFill>
          </p:spPr>
        </p:sp>
      </p:grpSp>
      <p:grpSp>
        <p:nvGrpSpPr>
          <p:cNvPr id="6" name="Group 6">
            <a:extLst>
              <a:ext uri="{FF2B5EF4-FFF2-40B4-BE49-F238E27FC236}">
                <a16:creationId xmlns:a16="http://schemas.microsoft.com/office/drawing/2014/main" id="{456E0E0F-C5FA-3996-F22D-B8268104075E}"/>
              </a:ext>
            </a:extLst>
          </p:cNvPr>
          <p:cNvGrpSpPr/>
          <p:nvPr/>
        </p:nvGrpSpPr>
        <p:grpSpPr>
          <a:xfrm>
            <a:off x="16615315" y="9838487"/>
            <a:ext cx="1607763" cy="384048"/>
            <a:chOff x="0" y="0"/>
            <a:chExt cx="2143684" cy="512064"/>
          </a:xfrm>
        </p:grpSpPr>
        <p:sp>
          <p:nvSpPr>
            <p:cNvPr id="7" name="Freeform 7" descr="preencoded.png">
              <a:hlinkClick r:id="rId4" tooltip="https://gamma.app/?utm_source=made-with-gamma"/>
              <a:extLst>
                <a:ext uri="{FF2B5EF4-FFF2-40B4-BE49-F238E27FC236}">
                  <a16:creationId xmlns:a16="http://schemas.microsoft.com/office/drawing/2014/main" id="{668A2B0C-8754-6911-5CCC-A121537D896B}"/>
                </a:ext>
              </a:extLst>
            </p:cNvPr>
            <p:cNvSpPr/>
            <p:nvPr/>
          </p:nvSpPr>
          <p:spPr>
            <a:xfrm>
              <a:off x="0" y="0"/>
              <a:ext cx="2143633" cy="512064"/>
            </a:xfrm>
            <a:custGeom>
              <a:avLst/>
              <a:gdLst/>
              <a:ahLst/>
              <a:cxnLst/>
              <a:rect l="l" t="t" r="r" b="b"/>
              <a:pathLst>
                <a:path w="2143633" h="512064">
                  <a:moveTo>
                    <a:pt x="0" y="0"/>
                  </a:moveTo>
                  <a:lnTo>
                    <a:pt x="2143633" y="0"/>
                  </a:lnTo>
                  <a:lnTo>
                    <a:pt x="2143633" y="512064"/>
                  </a:lnTo>
                  <a:lnTo>
                    <a:pt x="0" y="512064"/>
                  </a:lnTo>
                  <a:lnTo>
                    <a:pt x="0" y="0"/>
                  </a:lnTo>
                  <a:close/>
                </a:path>
              </a:pathLst>
            </a:custGeom>
            <a:solidFill>
              <a:srgbClr val="F9F9FF"/>
            </a:solidFill>
          </p:spPr>
        </p:sp>
      </p:grpSp>
      <p:grpSp>
        <p:nvGrpSpPr>
          <p:cNvPr id="10" name="Group 10">
            <a:extLst>
              <a:ext uri="{FF2B5EF4-FFF2-40B4-BE49-F238E27FC236}">
                <a16:creationId xmlns:a16="http://schemas.microsoft.com/office/drawing/2014/main" id="{17E3E520-0575-3344-154E-642037960523}"/>
              </a:ext>
            </a:extLst>
          </p:cNvPr>
          <p:cNvGrpSpPr/>
          <p:nvPr/>
        </p:nvGrpSpPr>
        <p:grpSpPr>
          <a:xfrm>
            <a:off x="289541" y="354149"/>
            <a:ext cx="1579493" cy="1498616"/>
            <a:chOff x="0" y="0"/>
            <a:chExt cx="2105990" cy="1998154"/>
          </a:xfrm>
        </p:grpSpPr>
        <p:sp>
          <p:nvSpPr>
            <p:cNvPr id="11" name="Freeform 11" descr="logo 2.png">
              <a:extLst>
                <a:ext uri="{FF2B5EF4-FFF2-40B4-BE49-F238E27FC236}">
                  <a16:creationId xmlns:a16="http://schemas.microsoft.com/office/drawing/2014/main" id="{B8A974D1-7925-8F4F-A802-E5C2025B21D5}"/>
                </a:ext>
              </a:extLst>
            </p:cNvPr>
            <p:cNvSpPr/>
            <p:nvPr/>
          </p:nvSpPr>
          <p:spPr>
            <a:xfrm>
              <a:off x="0" y="0"/>
              <a:ext cx="2106041" cy="1998218"/>
            </a:xfrm>
            <a:custGeom>
              <a:avLst/>
              <a:gdLst/>
              <a:ahLst/>
              <a:cxnLst/>
              <a:rect l="l" t="t" r="r" b="b"/>
              <a:pathLst>
                <a:path w="2106041" h="1998218">
                  <a:moveTo>
                    <a:pt x="0" y="0"/>
                  </a:moveTo>
                  <a:lnTo>
                    <a:pt x="2106041" y="0"/>
                  </a:lnTo>
                  <a:lnTo>
                    <a:pt x="2106041" y="1998218"/>
                  </a:lnTo>
                  <a:lnTo>
                    <a:pt x="0" y="1998218"/>
                  </a:lnTo>
                  <a:lnTo>
                    <a:pt x="0" y="0"/>
                  </a:lnTo>
                  <a:close/>
                </a:path>
              </a:pathLst>
            </a:custGeom>
            <a:blipFill>
              <a:blip r:embed="rId5"/>
              <a:stretch>
                <a:fillRect t="-140" r="2" b="-136"/>
              </a:stretch>
            </a:blipFill>
          </p:spPr>
        </p:sp>
      </p:grpSp>
      <p:grpSp>
        <p:nvGrpSpPr>
          <p:cNvPr id="12" name="Group 12">
            <a:extLst>
              <a:ext uri="{FF2B5EF4-FFF2-40B4-BE49-F238E27FC236}">
                <a16:creationId xmlns:a16="http://schemas.microsoft.com/office/drawing/2014/main" id="{87A9BC39-8E44-02A9-3696-E60480917D88}"/>
              </a:ext>
            </a:extLst>
          </p:cNvPr>
          <p:cNvGrpSpPr/>
          <p:nvPr/>
        </p:nvGrpSpPr>
        <p:grpSpPr>
          <a:xfrm>
            <a:off x="16028651" y="237582"/>
            <a:ext cx="1570482" cy="1706528"/>
            <a:chOff x="0" y="0"/>
            <a:chExt cx="2093976" cy="2275370"/>
          </a:xfrm>
        </p:grpSpPr>
        <p:sp>
          <p:nvSpPr>
            <p:cNvPr id="13" name="Freeform 13" descr="logo3.png">
              <a:extLst>
                <a:ext uri="{FF2B5EF4-FFF2-40B4-BE49-F238E27FC236}">
                  <a16:creationId xmlns:a16="http://schemas.microsoft.com/office/drawing/2014/main" id="{EB7A4FC5-FC15-714A-86C5-7B847E987D8C}"/>
                </a:ext>
              </a:extLst>
            </p:cNvPr>
            <p:cNvSpPr/>
            <p:nvPr/>
          </p:nvSpPr>
          <p:spPr>
            <a:xfrm>
              <a:off x="0" y="0"/>
              <a:ext cx="2093976" cy="2275332"/>
            </a:xfrm>
            <a:custGeom>
              <a:avLst/>
              <a:gdLst/>
              <a:ahLst/>
              <a:cxnLst/>
              <a:rect l="l" t="t" r="r" b="b"/>
              <a:pathLst>
                <a:path w="2093976" h="2275332">
                  <a:moveTo>
                    <a:pt x="0" y="0"/>
                  </a:moveTo>
                  <a:lnTo>
                    <a:pt x="2093976" y="0"/>
                  </a:lnTo>
                  <a:lnTo>
                    <a:pt x="2093976" y="2275332"/>
                  </a:lnTo>
                  <a:lnTo>
                    <a:pt x="0" y="2275332"/>
                  </a:lnTo>
                  <a:lnTo>
                    <a:pt x="0" y="0"/>
                  </a:lnTo>
                  <a:close/>
                </a:path>
              </a:pathLst>
            </a:custGeom>
            <a:blipFill>
              <a:blip r:embed="rId6"/>
              <a:stretch>
                <a:fillRect t="-30" b="-32"/>
              </a:stretch>
            </a:blipFill>
          </p:spPr>
        </p:sp>
      </p:grpSp>
      <p:pic>
        <p:nvPicPr>
          <p:cNvPr id="14" name="Picture 13">
            <a:extLst>
              <a:ext uri="{FF2B5EF4-FFF2-40B4-BE49-F238E27FC236}">
                <a16:creationId xmlns:a16="http://schemas.microsoft.com/office/drawing/2014/main" id="{289A34D3-CA35-E3D6-0E78-4094D53CEF5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39358" y="1562100"/>
            <a:ext cx="14608806" cy="7788315"/>
          </a:xfrm>
          <a:prstGeom prst="rect">
            <a:avLst/>
          </a:prstGeom>
        </p:spPr>
      </p:pic>
    </p:spTree>
    <p:extLst>
      <p:ext uri="{BB962C8B-B14F-4D97-AF65-F5344CB8AC3E}">
        <p14:creationId xmlns:p14="http://schemas.microsoft.com/office/powerpoint/2010/main" val="22864186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F7FDC776-F4CB-12F2-E5F3-B511DEB58B5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5100E20-8183-280A-A9A7-C6EB934F95B8}"/>
              </a:ext>
            </a:extLst>
          </p:cNvPr>
          <p:cNvGrpSpPr/>
          <p:nvPr/>
        </p:nvGrpSpPr>
        <p:grpSpPr>
          <a:xfrm>
            <a:off x="0" y="0"/>
            <a:ext cx="18287543" cy="10287000"/>
            <a:chOff x="0" y="0"/>
            <a:chExt cx="24383390" cy="13716000"/>
          </a:xfrm>
        </p:grpSpPr>
        <p:sp>
          <p:nvSpPr>
            <p:cNvPr id="3" name="Freeform 3" descr="preencoded.png">
              <a:extLst>
                <a:ext uri="{FF2B5EF4-FFF2-40B4-BE49-F238E27FC236}">
                  <a16:creationId xmlns:a16="http://schemas.microsoft.com/office/drawing/2014/main" id="{94099200-D1E5-6205-6217-A06098ECF38C}"/>
                </a:ext>
              </a:extLst>
            </p:cNvPr>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lnTo>
                    <a:pt x="0" y="0"/>
                  </a:lnTo>
                  <a:close/>
                </a:path>
              </a:pathLst>
            </a:custGeom>
            <a:blipFill>
              <a:blip r:embed="rId3"/>
              <a:stretch>
                <a:fillRect l="-1" r="-1"/>
              </a:stretch>
            </a:blipFill>
          </p:spPr>
        </p:sp>
      </p:grpSp>
      <p:grpSp>
        <p:nvGrpSpPr>
          <p:cNvPr id="4" name="Group 4">
            <a:extLst>
              <a:ext uri="{FF2B5EF4-FFF2-40B4-BE49-F238E27FC236}">
                <a16:creationId xmlns:a16="http://schemas.microsoft.com/office/drawing/2014/main" id="{353FA4D2-E97D-0568-85A8-52AFFD69ECB2}"/>
              </a:ext>
            </a:extLst>
          </p:cNvPr>
          <p:cNvGrpSpPr/>
          <p:nvPr/>
        </p:nvGrpSpPr>
        <p:grpSpPr>
          <a:xfrm>
            <a:off x="0" y="0"/>
            <a:ext cx="18287543" cy="10287000"/>
            <a:chOff x="0" y="0"/>
            <a:chExt cx="24383390" cy="13716000"/>
          </a:xfrm>
        </p:grpSpPr>
        <p:sp>
          <p:nvSpPr>
            <p:cNvPr id="5" name="Freeform 5">
              <a:extLst>
                <a:ext uri="{FF2B5EF4-FFF2-40B4-BE49-F238E27FC236}">
                  <a16:creationId xmlns:a16="http://schemas.microsoft.com/office/drawing/2014/main" id="{0C045538-0944-F9D1-1D0F-028E274D34F6}"/>
                </a:ext>
              </a:extLst>
            </p:cNvPr>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close/>
                </a:path>
              </a:pathLst>
            </a:custGeom>
            <a:solidFill>
              <a:srgbClr val="F9F9FF">
                <a:alpha val="90196"/>
              </a:srgbClr>
            </a:solidFill>
          </p:spPr>
        </p:sp>
      </p:grpSp>
      <p:grpSp>
        <p:nvGrpSpPr>
          <p:cNvPr id="6" name="Group 6">
            <a:extLst>
              <a:ext uri="{FF2B5EF4-FFF2-40B4-BE49-F238E27FC236}">
                <a16:creationId xmlns:a16="http://schemas.microsoft.com/office/drawing/2014/main" id="{1FACDADD-AD4E-FBA9-A72D-38CA8800D499}"/>
              </a:ext>
            </a:extLst>
          </p:cNvPr>
          <p:cNvGrpSpPr/>
          <p:nvPr/>
        </p:nvGrpSpPr>
        <p:grpSpPr>
          <a:xfrm>
            <a:off x="16615315" y="9838487"/>
            <a:ext cx="1607763" cy="384048"/>
            <a:chOff x="0" y="0"/>
            <a:chExt cx="2143684" cy="512064"/>
          </a:xfrm>
        </p:grpSpPr>
        <p:sp>
          <p:nvSpPr>
            <p:cNvPr id="7" name="Freeform 7" descr="preencoded.png">
              <a:hlinkClick r:id="rId4" tooltip="https://gamma.app/?utm_source=made-with-gamma"/>
              <a:extLst>
                <a:ext uri="{FF2B5EF4-FFF2-40B4-BE49-F238E27FC236}">
                  <a16:creationId xmlns:a16="http://schemas.microsoft.com/office/drawing/2014/main" id="{8F1A33FB-A705-6776-BD9E-4BD13E023005}"/>
                </a:ext>
              </a:extLst>
            </p:cNvPr>
            <p:cNvSpPr/>
            <p:nvPr/>
          </p:nvSpPr>
          <p:spPr>
            <a:xfrm>
              <a:off x="0" y="0"/>
              <a:ext cx="2143633" cy="512064"/>
            </a:xfrm>
            <a:custGeom>
              <a:avLst/>
              <a:gdLst/>
              <a:ahLst/>
              <a:cxnLst/>
              <a:rect l="l" t="t" r="r" b="b"/>
              <a:pathLst>
                <a:path w="2143633" h="512064">
                  <a:moveTo>
                    <a:pt x="0" y="0"/>
                  </a:moveTo>
                  <a:lnTo>
                    <a:pt x="2143633" y="0"/>
                  </a:lnTo>
                  <a:lnTo>
                    <a:pt x="2143633" y="512064"/>
                  </a:lnTo>
                  <a:lnTo>
                    <a:pt x="0" y="512064"/>
                  </a:lnTo>
                  <a:lnTo>
                    <a:pt x="0" y="0"/>
                  </a:lnTo>
                  <a:close/>
                </a:path>
              </a:pathLst>
            </a:custGeom>
            <a:solidFill>
              <a:srgbClr val="F9F9FF"/>
            </a:solidFill>
          </p:spPr>
        </p:sp>
      </p:grpSp>
      <p:grpSp>
        <p:nvGrpSpPr>
          <p:cNvPr id="10" name="Group 10">
            <a:extLst>
              <a:ext uri="{FF2B5EF4-FFF2-40B4-BE49-F238E27FC236}">
                <a16:creationId xmlns:a16="http://schemas.microsoft.com/office/drawing/2014/main" id="{23A6C697-0722-F604-DD33-E22FAE3E6347}"/>
              </a:ext>
            </a:extLst>
          </p:cNvPr>
          <p:cNvGrpSpPr/>
          <p:nvPr/>
        </p:nvGrpSpPr>
        <p:grpSpPr>
          <a:xfrm>
            <a:off x="289541" y="354149"/>
            <a:ext cx="1579493" cy="1498616"/>
            <a:chOff x="0" y="0"/>
            <a:chExt cx="2105990" cy="1998154"/>
          </a:xfrm>
        </p:grpSpPr>
        <p:sp>
          <p:nvSpPr>
            <p:cNvPr id="11" name="Freeform 11" descr="logo 2.png">
              <a:extLst>
                <a:ext uri="{FF2B5EF4-FFF2-40B4-BE49-F238E27FC236}">
                  <a16:creationId xmlns:a16="http://schemas.microsoft.com/office/drawing/2014/main" id="{789511FE-C356-5B82-3966-3269C0291A47}"/>
                </a:ext>
              </a:extLst>
            </p:cNvPr>
            <p:cNvSpPr/>
            <p:nvPr/>
          </p:nvSpPr>
          <p:spPr>
            <a:xfrm>
              <a:off x="0" y="0"/>
              <a:ext cx="2106041" cy="1998218"/>
            </a:xfrm>
            <a:custGeom>
              <a:avLst/>
              <a:gdLst/>
              <a:ahLst/>
              <a:cxnLst/>
              <a:rect l="l" t="t" r="r" b="b"/>
              <a:pathLst>
                <a:path w="2106041" h="1998218">
                  <a:moveTo>
                    <a:pt x="0" y="0"/>
                  </a:moveTo>
                  <a:lnTo>
                    <a:pt x="2106041" y="0"/>
                  </a:lnTo>
                  <a:lnTo>
                    <a:pt x="2106041" y="1998218"/>
                  </a:lnTo>
                  <a:lnTo>
                    <a:pt x="0" y="1998218"/>
                  </a:lnTo>
                  <a:lnTo>
                    <a:pt x="0" y="0"/>
                  </a:lnTo>
                  <a:close/>
                </a:path>
              </a:pathLst>
            </a:custGeom>
            <a:blipFill>
              <a:blip r:embed="rId5"/>
              <a:stretch>
                <a:fillRect t="-140" r="2" b="-136"/>
              </a:stretch>
            </a:blipFill>
          </p:spPr>
        </p:sp>
      </p:grpSp>
      <p:grpSp>
        <p:nvGrpSpPr>
          <p:cNvPr id="12" name="Group 12">
            <a:extLst>
              <a:ext uri="{FF2B5EF4-FFF2-40B4-BE49-F238E27FC236}">
                <a16:creationId xmlns:a16="http://schemas.microsoft.com/office/drawing/2014/main" id="{176F6DF3-EB16-36D4-FB47-175F33133510}"/>
              </a:ext>
            </a:extLst>
          </p:cNvPr>
          <p:cNvGrpSpPr/>
          <p:nvPr/>
        </p:nvGrpSpPr>
        <p:grpSpPr>
          <a:xfrm>
            <a:off x="16028651" y="237582"/>
            <a:ext cx="1570482" cy="1706528"/>
            <a:chOff x="0" y="0"/>
            <a:chExt cx="2093976" cy="2275370"/>
          </a:xfrm>
        </p:grpSpPr>
        <p:sp>
          <p:nvSpPr>
            <p:cNvPr id="13" name="Freeform 13" descr="logo3.png">
              <a:extLst>
                <a:ext uri="{FF2B5EF4-FFF2-40B4-BE49-F238E27FC236}">
                  <a16:creationId xmlns:a16="http://schemas.microsoft.com/office/drawing/2014/main" id="{E98173BA-584F-3F61-43E8-0A886A760D75}"/>
                </a:ext>
              </a:extLst>
            </p:cNvPr>
            <p:cNvSpPr/>
            <p:nvPr/>
          </p:nvSpPr>
          <p:spPr>
            <a:xfrm>
              <a:off x="0" y="0"/>
              <a:ext cx="2093976" cy="2275332"/>
            </a:xfrm>
            <a:custGeom>
              <a:avLst/>
              <a:gdLst/>
              <a:ahLst/>
              <a:cxnLst/>
              <a:rect l="l" t="t" r="r" b="b"/>
              <a:pathLst>
                <a:path w="2093976" h="2275332">
                  <a:moveTo>
                    <a:pt x="0" y="0"/>
                  </a:moveTo>
                  <a:lnTo>
                    <a:pt x="2093976" y="0"/>
                  </a:lnTo>
                  <a:lnTo>
                    <a:pt x="2093976" y="2275332"/>
                  </a:lnTo>
                  <a:lnTo>
                    <a:pt x="0" y="2275332"/>
                  </a:lnTo>
                  <a:lnTo>
                    <a:pt x="0" y="0"/>
                  </a:lnTo>
                  <a:close/>
                </a:path>
              </a:pathLst>
            </a:custGeom>
            <a:blipFill>
              <a:blip r:embed="rId6"/>
              <a:stretch>
                <a:fillRect t="-30" b="-32"/>
              </a:stretch>
            </a:blipFill>
          </p:spPr>
        </p:sp>
      </p:grpSp>
      <p:pic>
        <p:nvPicPr>
          <p:cNvPr id="14" name="Picture 13">
            <a:extLst>
              <a:ext uri="{FF2B5EF4-FFF2-40B4-BE49-F238E27FC236}">
                <a16:creationId xmlns:a16="http://schemas.microsoft.com/office/drawing/2014/main" id="{BEBD536F-8590-C98D-FF89-E32604734FC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74631" y="1865513"/>
            <a:ext cx="13338259" cy="7138787"/>
          </a:xfrm>
          <a:prstGeom prst="rect">
            <a:avLst/>
          </a:prstGeom>
        </p:spPr>
      </p:pic>
    </p:spTree>
    <p:extLst>
      <p:ext uri="{BB962C8B-B14F-4D97-AF65-F5344CB8AC3E}">
        <p14:creationId xmlns:p14="http://schemas.microsoft.com/office/powerpoint/2010/main" val="21549795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A9609FF5-75B9-1163-B8AD-74E3F531765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BA7B654-907A-D92A-393D-1529A67A0BD1}"/>
              </a:ext>
            </a:extLst>
          </p:cNvPr>
          <p:cNvGrpSpPr/>
          <p:nvPr/>
        </p:nvGrpSpPr>
        <p:grpSpPr>
          <a:xfrm>
            <a:off x="0" y="0"/>
            <a:ext cx="18287543" cy="10287000"/>
            <a:chOff x="0" y="0"/>
            <a:chExt cx="24383390" cy="13716000"/>
          </a:xfrm>
        </p:grpSpPr>
        <p:sp>
          <p:nvSpPr>
            <p:cNvPr id="3" name="Freeform 3" descr="preencoded.png">
              <a:extLst>
                <a:ext uri="{FF2B5EF4-FFF2-40B4-BE49-F238E27FC236}">
                  <a16:creationId xmlns:a16="http://schemas.microsoft.com/office/drawing/2014/main" id="{9D1FB40C-DA9F-9D5D-9DAF-9D42151E3C87}"/>
                </a:ext>
              </a:extLst>
            </p:cNvPr>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lnTo>
                    <a:pt x="0" y="0"/>
                  </a:lnTo>
                  <a:close/>
                </a:path>
              </a:pathLst>
            </a:custGeom>
            <a:blipFill>
              <a:blip r:embed="rId3"/>
              <a:stretch>
                <a:fillRect l="-1" r="-1"/>
              </a:stretch>
            </a:blipFill>
          </p:spPr>
        </p:sp>
      </p:grpSp>
      <p:grpSp>
        <p:nvGrpSpPr>
          <p:cNvPr id="4" name="Group 4">
            <a:extLst>
              <a:ext uri="{FF2B5EF4-FFF2-40B4-BE49-F238E27FC236}">
                <a16:creationId xmlns:a16="http://schemas.microsoft.com/office/drawing/2014/main" id="{1817031B-EC91-556D-C411-3C611973FDEF}"/>
              </a:ext>
            </a:extLst>
          </p:cNvPr>
          <p:cNvGrpSpPr/>
          <p:nvPr/>
        </p:nvGrpSpPr>
        <p:grpSpPr>
          <a:xfrm>
            <a:off x="0" y="0"/>
            <a:ext cx="18287543" cy="10287000"/>
            <a:chOff x="0" y="0"/>
            <a:chExt cx="24383390" cy="13716000"/>
          </a:xfrm>
        </p:grpSpPr>
        <p:sp>
          <p:nvSpPr>
            <p:cNvPr id="5" name="Freeform 5">
              <a:extLst>
                <a:ext uri="{FF2B5EF4-FFF2-40B4-BE49-F238E27FC236}">
                  <a16:creationId xmlns:a16="http://schemas.microsoft.com/office/drawing/2014/main" id="{E271F4AC-4329-9EDE-B0A8-8A686FF1E3CE}"/>
                </a:ext>
              </a:extLst>
            </p:cNvPr>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close/>
                </a:path>
              </a:pathLst>
            </a:custGeom>
            <a:solidFill>
              <a:srgbClr val="F9F9FF">
                <a:alpha val="90196"/>
              </a:srgbClr>
            </a:solidFill>
          </p:spPr>
        </p:sp>
      </p:grpSp>
      <p:grpSp>
        <p:nvGrpSpPr>
          <p:cNvPr id="6" name="Group 6">
            <a:extLst>
              <a:ext uri="{FF2B5EF4-FFF2-40B4-BE49-F238E27FC236}">
                <a16:creationId xmlns:a16="http://schemas.microsoft.com/office/drawing/2014/main" id="{5B24C2EC-E65C-908D-54E8-C85E1236AB71}"/>
              </a:ext>
            </a:extLst>
          </p:cNvPr>
          <p:cNvGrpSpPr/>
          <p:nvPr/>
        </p:nvGrpSpPr>
        <p:grpSpPr>
          <a:xfrm>
            <a:off x="16615315" y="9838487"/>
            <a:ext cx="1607763" cy="384048"/>
            <a:chOff x="0" y="0"/>
            <a:chExt cx="2143684" cy="512064"/>
          </a:xfrm>
        </p:grpSpPr>
        <p:sp>
          <p:nvSpPr>
            <p:cNvPr id="7" name="Freeform 7" descr="preencoded.png">
              <a:hlinkClick r:id="rId4" tooltip="https://gamma.app/?utm_source=made-with-gamma"/>
              <a:extLst>
                <a:ext uri="{FF2B5EF4-FFF2-40B4-BE49-F238E27FC236}">
                  <a16:creationId xmlns:a16="http://schemas.microsoft.com/office/drawing/2014/main" id="{54F50BDC-FDF9-9496-FDEF-5E2CD0193318}"/>
                </a:ext>
              </a:extLst>
            </p:cNvPr>
            <p:cNvSpPr/>
            <p:nvPr/>
          </p:nvSpPr>
          <p:spPr>
            <a:xfrm>
              <a:off x="0" y="0"/>
              <a:ext cx="2143633" cy="512064"/>
            </a:xfrm>
            <a:custGeom>
              <a:avLst/>
              <a:gdLst/>
              <a:ahLst/>
              <a:cxnLst/>
              <a:rect l="l" t="t" r="r" b="b"/>
              <a:pathLst>
                <a:path w="2143633" h="512064">
                  <a:moveTo>
                    <a:pt x="0" y="0"/>
                  </a:moveTo>
                  <a:lnTo>
                    <a:pt x="2143633" y="0"/>
                  </a:lnTo>
                  <a:lnTo>
                    <a:pt x="2143633" y="512064"/>
                  </a:lnTo>
                  <a:lnTo>
                    <a:pt x="0" y="512064"/>
                  </a:lnTo>
                  <a:lnTo>
                    <a:pt x="0" y="0"/>
                  </a:lnTo>
                  <a:close/>
                </a:path>
              </a:pathLst>
            </a:custGeom>
            <a:solidFill>
              <a:srgbClr val="F9F9FF"/>
            </a:solidFill>
          </p:spPr>
        </p:sp>
      </p:grpSp>
      <p:grpSp>
        <p:nvGrpSpPr>
          <p:cNvPr id="10" name="Group 10">
            <a:extLst>
              <a:ext uri="{FF2B5EF4-FFF2-40B4-BE49-F238E27FC236}">
                <a16:creationId xmlns:a16="http://schemas.microsoft.com/office/drawing/2014/main" id="{5DE01703-437B-E600-2EB0-2325CF48AED9}"/>
              </a:ext>
            </a:extLst>
          </p:cNvPr>
          <p:cNvGrpSpPr/>
          <p:nvPr/>
        </p:nvGrpSpPr>
        <p:grpSpPr>
          <a:xfrm>
            <a:off x="289541" y="354149"/>
            <a:ext cx="1579493" cy="1498616"/>
            <a:chOff x="0" y="0"/>
            <a:chExt cx="2105990" cy="1998154"/>
          </a:xfrm>
        </p:grpSpPr>
        <p:sp>
          <p:nvSpPr>
            <p:cNvPr id="11" name="Freeform 11" descr="logo 2.png">
              <a:extLst>
                <a:ext uri="{FF2B5EF4-FFF2-40B4-BE49-F238E27FC236}">
                  <a16:creationId xmlns:a16="http://schemas.microsoft.com/office/drawing/2014/main" id="{B7AC30AE-99B9-4A00-26BE-F38F4F323657}"/>
                </a:ext>
              </a:extLst>
            </p:cNvPr>
            <p:cNvSpPr/>
            <p:nvPr/>
          </p:nvSpPr>
          <p:spPr>
            <a:xfrm>
              <a:off x="0" y="0"/>
              <a:ext cx="2106041" cy="1998218"/>
            </a:xfrm>
            <a:custGeom>
              <a:avLst/>
              <a:gdLst/>
              <a:ahLst/>
              <a:cxnLst/>
              <a:rect l="l" t="t" r="r" b="b"/>
              <a:pathLst>
                <a:path w="2106041" h="1998218">
                  <a:moveTo>
                    <a:pt x="0" y="0"/>
                  </a:moveTo>
                  <a:lnTo>
                    <a:pt x="2106041" y="0"/>
                  </a:lnTo>
                  <a:lnTo>
                    <a:pt x="2106041" y="1998218"/>
                  </a:lnTo>
                  <a:lnTo>
                    <a:pt x="0" y="1998218"/>
                  </a:lnTo>
                  <a:lnTo>
                    <a:pt x="0" y="0"/>
                  </a:lnTo>
                  <a:close/>
                </a:path>
              </a:pathLst>
            </a:custGeom>
            <a:blipFill>
              <a:blip r:embed="rId5"/>
              <a:stretch>
                <a:fillRect t="-140" r="2" b="-136"/>
              </a:stretch>
            </a:blipFill>
          </p:spPr>
        </p:sp>
      </p:grpSp>
      <p:grpSp>
        <p:nvGrpSpPr>
          <p:cNvPr id="12" name="Group 12">
            <a:extLst>
              <a:ext uri="{FF2B5EF4-FFF2-40B4-BE49-F238E27FC236}">
                <a16:creationId xmlns:a16="http://schemas.microsoft.com/office/drawing/2014/main" id="{B49A035F-11B1-1C54-D715-C8DC75D90EE8}"/>
              </a:ext>
            </a:extLst>
          </p:cNvPr>
          <p:cNvGrpSpPr/>
          <p:nvPr/>
        </p:nvGrpSpPr>
        <p:grpSpPr>
          <a:xfrm>
            <a:off x="16028651" y="237582"/>
            <a:ext cx="1570482" cy="1706528"/>
            <a:chOff x="0" y="0"/>
            <a:chExt cx="2093976" cy="2275370"/>
          </a:xfrm>
        </p:grpSpPr>
        <p:sp>
          <p:nvSpPr>
            <p:cNvPr id="13" name="Freeform 13" descr="logo3.png">
              <a:extLst>
                <a:ext uri="{FF2B5EF4-FFF2-40B4-BE49-F238E27FC236}">
                  <a16:creationId xmlns:a16="http://schemas.microsoft.com/office/drawing/2014/main" id="{6B3E659B-0F52-A678-FB22-C28F45FF87E8}"/>
                </a:ext>
              </a:extLst>
            </p:cNvPr>
            <p:cNvSpPr/>
            <p:nvPr/>
          </p:nvSpPr>
          <p:spPr>
            <a:xfrm>
              <a:off x="0" y="0"/>
              <a:ext cx="2093976" cy="2275332"/>
            </a:xfrm>
            <a:custGeom>
              <a:avLst/>
              <a:gdLst/>
              <a:ahLst/>
              <a:cxnLst/>
              <a:rect l="l" t="t" r="r" b="b"/>
              <a:pathLst>
                <a:path w="2093976" h="2275332">
                  <a:moveTo>
                    <a:pt x="0" y="0"/>
                  </a:moveTo>
                  <a:lnTo>
                    <a:pt x="2093976" y="0"/>
                  </a:lnTo>
                  <a:lnTo>
                    <a:pt x="2093976" y="2275332"/>
                  </a:lnTo>
                  <a:lnTo>
                    <a:pt x="0" y="2275332"/>
                  </a:lnTo>
                  <a:lnTo>
                    <a:pt x="0" y="0"/>
                  </a:lnTo>
                  <a:close/>
                </a:path>
              </a:pathLst>
            </a:custGeom>
            <a:blipFill>
              <a:blip r:embed="rId6"/>
              <a:stretch>
                <a:fillRect t="-30" b="-32"/>
              </a:stretch>
            </a:blipFill>
          </p:spPr>
        </p:sp>
      </p:grpSp>
      <p:pic>
        <p:nvPicPr>
          <p:cNvPr id="9" name="Picture 8">
            <a:extLst>
              <a:ext uri="{FF2B5EF4-FFF2-40B4-BE49-F238E27FC236}">
                <a16:creationId xmlns:a16="http://schemas.microsoft.com/office/drawing/2014/main" id="{DCBA054A-D3B8-2510-ACCB-D16C34D1037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147968" y="1790700"/>
            <a:ext cx="13854032" cy="7462089"/>
          </a:xfrm>
          <a:prstGeom prst="rect">
            <a:avLst/>
          </a:prstGeom>
        </p:spPr>
      </p:pic>
    </p:spTree>
    <p:extLst>
      <p:ext uri="{BB962C8B-B14F-4D97-AF65-F5344CB8AC3E}">
        <p14:creationId xmlns:p14="http://schemas.microsoft.com/office/powerpoint/2010/main" val="27338382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B7B44F72-8F9E-7929-99CA-3E786125EF7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B9225F1-A47A-8EBE-09BE-8701343B5A43}"/>
              </a:ext>
            </a:extLst>
          </p:cNvPr>
          <p:cNvGrpSpPr/>
          <p:nvPr/>
        </p:nvGrpSpPr>
        <p:grpSpPr>
          <a:xfrm>
            <a:off x="0" y="0"/>
            <a:ext cx="18287543" cy="10287000"/>
            <a:chOff x="0" y="0"/>
            <a:chExt cx="24383390" cy="13716000"/>
          </a:xfrm>
        </p:grpSpPr>
        <p:sp>
          <p:nvSpPr>
            <p:cNvPr id="3" name="Freeform 3" descr="preencoded.png">
              <a:extLst>
                <a:ext uri="{FF2B5EF4-FFF2-40B4-BE49-F238E27FC236}">
                  <a16:creationId xmlns:a16="http://schemas.microsoft.com/office/drawing/2014/main" id="{AD8BD49A-7DF7-8DA6-6C84-87554CFCBB5F}"/>
                </a:ext>
              </a:extLst>
            </p:cNvPr>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lnTo>
                    <a:pt x="0" y="0"/>
                  </a:lnTo>
                  <a:close/>
                </a:path>
              </a:pathLst>
            </a:custGeom>
            <a:blipFill>
              <a:blip r:embed="rId3"/>
              <a:stretch>
                <a:fillRect l="-1" r="-1"/>
              </a:stretch>
            </a:blipFill>
          </p:spPr>
        </p:sp>
      </p:grpSp>
      <p:grpSp>
        <p:nvGrpSpPr>
          <p:cNvPr id="4" name="Group 4">
            <a:extLst>
              <a:ext uri="{FF2B5EF4-FFF2-40B4-BE49-F238E27FC236}">
                <a16:creationId xmlns:a16="http://schemas.microsoft.com/office/drawing/2014/main" id="{23A9E5FB-AEB0-356C-D1F0-42A5A8EDB3EC}"/>
              </a:ext>
            </a:extLst>
          </p:cNvPr>
          <p:cNvGrpSpPr/>
          <p:nvPr/>
        </p:nvGrpSpPr>
        <p:grpSpPr>
          <a:xfrm>
            <a:off x="0" y="0"/>
            <a:ext cx="18287543" cy="10287000"/>
            <a:chOff x="0" y="0"/>
            <a:chExt cx="24383390" cy="13716000"/>
          </a:xfrm>
        </p:grpSpPr>
        <p:sp>
          <p:nvSpPr>
            <p:cNvPr id="5" name="Freeform 5">
              <a:extLst>
                <a:ext uri="{FF2B5EF4-FFF2-40B4-BE49-F238E27FC236}">
                  <a16:creationId xmlns:a16="http://schemas.microsoft.com/office/drawing/2014/main" id="{B3E14AE2-E4DD-1159-43BC-DF37E96406C4}"/>
                </a:ext>
              </a:extLst>
            </p:cNvPr>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close/>
                </a:path>
              </a:pathLst>
            </a:custGeom>
            <a:solidFill>
              <a:srgbClr val="F9F9FF">
                <a:alpha val="90196"/>
              </a:srgbClr>
            </a:solidFill>
          </p:spPr>
        </p:sp>
      </p:grpSp>
      <p:grpSp>
        <p:nvGrpSpPr>
          <p:cNvPr id="6" name="Group 6">
            <a:extLst>
              <a:ext uri="{FF2B5EF4-FFF2-40B4-BE49-F238E27FC236}">
                <a16:creationId xmlns:a16="http://schemas.microsoft.com/office/drawing/2014/main" id="{8208AE9D-9367-B1BD-21FE-809F2E0D796C}"/>
              </a:ext>
            </a:extLst>
          </p:cNvPr>
          <p:cNvGrpSpPr/>
          <p:nvPr/>
        </p:nvGrpSpPr>
        <p:grpSpPr>
          <a:xfrm>
            <a:off x="16615315" y="9838487"/>
            <a:ext cx="1607763" cy="384048"/>
            <a:chOff x="0" y="0"/>
            <a:chExt cx="2143684" cy="512064"/>
          </a:xfrm>
        </p:grpSpPr>
        <p:sp>
          <p:nvSpPr>
            <p:cNvPr id="7" name="Freeform 7" descr="preencoded.png">
              <a:hlinkClick r:id="rId4" tooltip="https://gamma.app/?utm_source=made-with-gamma"/>
              <a:extLst>
                <a:ext uri="{FF2B5EF4-FFF2-40B4-BE49-F238E27FC236}">
                  <a16:creationId xmlns:a16="http://schemas.microsoft.com/office/drawing/2014/main" id="{8A05A0F6-F7C6-3924-00C4-C53F6A9A9E84}"/>
                </a:ext>
              </a:extLst>
            </p:cNvPr>
            <p:cNvSpPr/>
            <p:nvPr/>
          </p:nvSpPr>
          <p:spPr>
            <a:xfrm>
              <a:off x="0" y="0"/>
              <a:ext cx="2143633" cy="512064"/>
            </a:xfrm>
            <a:custGeom>
              <a:avLst/>
              <a:gdLst/>
              <a:ahLst/>
              <a:cxnLst/>
              <a:rect l="l" t="t" r="r" b="b"/>
              <a:pathLst>
                <a:path w="2143633" h="512064">
                  <a:moveTo>
                    <a:pt x="0" y="0"/>
                  </a:moveTo>
                  <a:lnTo>
                    <a:pt x="2143633" y="0"/>
                  </a:lnTo>
                  <a:lnTo>
                    <a:pt x="2143633" y="512064"/>
                  </a:lnTo>
                  <a:lnTo>
                    <a:pt x="0" y="512064"/>
                  </a:lnTo>
                  <a:lnTo>
                    <a:pt x="0" y="0"/>
                  </a:lnTo>
                  <a:close/>
                </a:path>
              </a:pathLst>
            </a:custGeom>
            <a:solidFill>
              <a:srgbClr val="F9F9FF"/>
            </a:solidFill>
          </p:spPr>
        </p:sp>
      </p:grpSp>
      <p:grpSp>
        <p:nvGrpSpPr>
          <p:cNvPr id="10" name="Group 10">
            <a:extLst>
              <a:ext uri="{FF2B5EF4-FFF2-40B4-BE49-F238E27FC236}">
                <a16:creationId xmlns:a16="http://schemas.microsoft.com/office/drawing/2014/main" id="{10C87A12-51DB-25AA-A32D-55A4BEDC3EA2}"/>
              </a:ext>
            </a:extLst>
          </p:cNvPr>
          <p:cNvGrpSpPr/>
          <p:nvPr/>
        </p:nvGrpSpPr>
        <p:grpSpPr>
          <a:xfrm>
            <a:off x="289541" y="354149"/>
            <a:ext cx="1579493" cy="1498616"/>
            <a:chOff x="0" y="0"/>
            <a:chExt cx="2105990" cy="1998154"/>
          </a:xfrm>
        </p:grpSpPr>
        <p:sp>
          <p:nvSpPr>
            <p:cNvPr id="11" name="Freeform 11" descr="logo 2.png">
              <a:extLst>
                <a:ext uri="{FF2B5EF4-FFF2-40B4-BE49-F238E27FC236}">
                  <a16:creationId xmlns:a16="http://schemas.microsoft.com/office/drawing/2014/main" id="{327AE7EF-8C28-DEC1-5F0B-3F6A38682533}"/>
                </a:ext>
              </a:extLst>
            </p:cNvPr>
            <p:cNvSpPr/>
            <p:nvPr/>
          </p:nvSpPr>
          <p:spPr>
            <a:xfrm>
              <a:off x="0" y="0"/>
              <a:ext cx="2106041" cy="1998218"/>
            </a:xfrm>
            <a:custGeom>
              <a:avLst/>
              <a:gdLst/>
              <a:ahLst/>
              <a:cxnLst/>
              <a:rect l="l" t="t" r="r" b="b"/>
              <a:pathLst>
                <a:path w="2106041" h="1998218">
                  <a:moveTo>
                    <a:pt x="0" y="0"/>
                  </a:moveTo>
                  <a:lnTo>
                    <a:pt x="2106041" y="0"/>
                  </a:lnTo>
                  <a:lnTo>
                    <a:pt x="2106041" y="1998218"/>
                  </a:lnTo>
                  <a:lnTo>
                    <a:pt x="0" y="1998218"/>
                  </a:lnTo>
                  <a:lnTo>
                    <a:pt x="0" y="0"/>
                  </a:lnTo>
                  <a:close/>
                </a:path>
              </a:pathLst>
            </a:custGeom>
            <a:blipFill>
              <a:blip r:embed="rId5"/>
              <a:stretch>
                <a:fillRect t="-140" r="2" b="-136"/>
              </a:stretch>
            </a:blipFill>
          </p:spPr>
        </p:sp>
      </p:grpSp>
      <p:grpSp>
        <p:nvGrpSpPr>
          <p:cNvPr id="12" name="Group 12">
            <a:extLst>
              <a:ext uri="{FF2B5EF4-FFF2-40B4-BE49-F238E27FC236}">
                <a16:creationId xmlns:a16="http://schemas.microsoft.com/office/drawing/2014/main" id="{440B7A6A-E220-3B9D-5BED-ED61152DD068}"/>
              </a:ext>
            </a:extLst>
          </p:cNvPr>
          <p:cNvGrpSpPr/>
          <p:nvPr/>
        </p:nvGrpSpPr>
        <p:grpSpPr>
          <a:xfrm>
            <a:off x="16028651" y="237582"/>
            <a:ext cx="1570482" cy="1706528"/>
            <a:chOff x="0" y="0"/>
            <a:chExt cx="2093976" cy="2275370"/>
          </a:xfrm>
        </p:grpSpPr>
        <p:sp>
          <p:nvSpPr>
            <p:cNvPr id="13" name="Freeform 13" descr="logo3.png">
              <a:extLst>
                <a:ext uri="{FF2B5EF4-FFF2-40B4-BE49-F238E27FC236}">
                  <a16:creationId xmlns:a16="http://schemas.microsoft.com/office/drawing/2014/main" id="{BB972963-ADCC-BB98-76B5-2CF3F3D8CDC9}"/>
                </a:ext>
              </a:extLst>
            </p:cNvPr>
            <p:cNvSpPr/>
            <p:nvPr/>
          </p:nvSpPr>
          <p:spPr>
            <a:xfrm>
              <a:off x="0" y="0"/>
              <a:ext cx="2093976" cy="2275332"/>
            </a:xfrm>
            <a:custGeom>
              <a:avLst/>
              <a:gdLst/>
              <a:ahLst/>
              <a:cxnLst/>
              <a:rect l="l" t="t" r="r" b="b"/>
              <a:pathLst>
                <a:path w="2093976" h="2275332">
                  <a:moveTo>
                    <a:pt x="0" y="0"/>
                  </a:moveTo>
                  <a:lnTo>
                    <a:pt x="2093976" y="0"/>
                  </a:lnTo>
                  <a:lnTo>
                    <a:pt x="2093976" y="2275332"/>
                  </a:lnTo>
                  <a:lnTo>
                    <a:pt x="0" y="2275332"/>
                  </a:lnTo>
                  <a:lnTo>
                    <a:pt x="0" y="0"/>
                  </a:lnTo>
                  <a:close/>
                </a:path>
              </a:pathLst>
            </a:custGeom>
            <a:blipFill>
              <a:blip r:embed="rId6"/>
              <a:stretch>
                <a:fillRect t="-30" b="-32"/>
              </a:stretch>
            </a:blipFill>
          </p:spPr>
        </p:sp>
      </p:grpSp>
      <p:pic>
        <p:nvPicPr>
          <p:cNvPr id="14" name="Picture 13">
            <a:extLst>
              <a:ext uri="{FF2B5EF4-FFF2-40B4-BE49-F238E27FC236}">
                <a16:creationId xmlns:a16="http://schemas.microsoft.com/office/drawing/2014/main" id="{3AF28468-6AD4-638B-AA41-B498379735A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762935" y="341449"/>
            <a:ext cx="8371852" cy="4518699"/>
          </a:xfrm>
          <a:prstGeom prst="rect">
            <a:avLst/>
          </a:prstGeom>
        </p:spPr>
      </p:pic>
      <p:pic>
        <p:nvPicPr>
          <p:cNvPr id="16" name="Picture 15">
            <a:extLst>
              <a:ext uri="{FF2B5EF4-FFF2-40B4-BE49-F238E27FC236}">
                <a16:creationId xmlns:a16="http://schemas.microsoft.com/office/drawing/2014/main" id="{56FE5F80-2674-F236-B7F6-324121405BA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434915" y="5094884"/>
            <a:ext cx="9027891" cy="4850667"/>
          </a:xfrm>
          <a:prstGeom prst="rect">
            <a:avLst/>
          </a:prstGeom>
        </p:spPr>
      </p:pic>
    </p:spTree>
    <p:extLst>
      <p:ext uri="{BB962C8B-B14F-4D97-AF65-F5344CB8AC3E}">
        <p14:creationId xmlns:p14="http://schemas.microsoft.com/office/powerpoint/2010/main" val="41299294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7543" cy="10287000"/>
            <a:chOff x="0" y="0"/>
            <a:chExt cx="24383390" cy="13716000"/>
          </a:xfrm>
        </p:grpSpPr>
        <p:sp>
          <p:nvSpPr>
            <p:cNvPr id="3" name="Freeform 3" descr="preencoded.png"/>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lnTo>
                    <a:pt x="0" y="0"/>
                  </a:lnTo>
                  <a:close/>
                </a:path>
              </a:pathLst>
            </a:custGeom>
            <a:blipFill>
              <a:blip r:embed="rId3"/>
              <a:stretch>
                <a:fillRect l="-1" r="-1"/>
              </a:stretch>
            </a:blipFill>
          </p:spPr>
        </p:sp>
      </p:grpSp>
      <p:grpSp>
        <p:nvGrpSpPr>
          <p:cNvPr id="4" name="Group 4"/>
          <p:cNvGrpSpPr/>
          <p:nvPr/>
        </p:nvGrpSpPr>
        <p:grpSpPr>
          <a:xfrm>
            <a:off x="0" y="0"/>
            <a:ext cx="18287543" cy="10287000"/>
            <a:chOff x="0" y="0"/>
            <a:chExt cx="24383390" cy="13716000"/>
          </a:xfrm>
        </p:grpSpPr>
        <p:sp>
          <p:nvSpPr>
            <p:cNvPr id="5" name="Freeform 5"/>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close/>
                </a:path>
              </a:pathLst>
            </a:custGeom>
            <a:solidFill>
              <a:srgbClr val="F9F9FF">
                <a:alpha val="90196"/>
              </a:srgbClr>
            </a:solidFill>
          </p:spPr>
        </p:sp>
      </p:grpSp>
      <p:grpSp>
        <p:nvGrpSpPr>
          <p:cNvPr id="6" name="Group 6"/>
          <p:cNvGrpSpPr/>
          <p:nvPr/>
        </p:nvGrpSpPr>
        <p:grpSpPr>
          <a:xfrm>
            <a:off x="16615315" y="9838487"/>
            <a:ext cx="1607763" cy="384048"/>
            <a:chOff x="0" y="0"/>
            <a:chExt cx="2143684" cy="512064"/>
          </a:xfrm>
        </p:grpSpPr>
        <p:sp>
          <p:nvSpPr>
            <p:cNvPr id="7" name="Freeform 7" descr="preencoded.png">
              <a:hlinkClick r:id="rId4" tooltip="https://gamma.app/?utm_source=made-with-gamma"/>
            </p:cNvPr>
            <p:cNvSpPr/>
            <p:nvPr/>
          </p:nvSpPr>
          <p:spPr>
            <a:xfrm>
              <a:off x="0" y="0"/>
              <a:ext cx="2143633" cy="512064"/>
            </a:xfrm>
            <a:custGeom>
              <a:avLst/>
              <a:gdLst/>
              <a:ahLst/>
              <a:cxnLst/>
              <a:rect l="l" t="t" r="r" b="b"/>
              <a:pathLst>
                <a:path w="2143633" h="512064">
                  <a:moveTo>
                    <a:pt x="0" y="0"/>
                  </a:moveTo>
                  <a:lnTo>
                    <a:pt x="2143633" y="0"/>
                  </a:lnTo>
                  <a:lnTo>
                    <a:pt x="2143633" y="512064"/>
                  </a:lnTo>
                  <a:lnTo>
                    <a:pt x="0" y="512064"/>
                  </a:lnTo>
                  <a:lnTo>
                    <a:pt x="0" y="0"/>
                  </a:lnTo>
                  <a:close/>
                </a:path>
              </a:pathLst>
            </a:custGeom>
            <a:solidFill>
              <a:srgbClr val="F9F9FF"/>
            </a:solidFill>
          </p:spPr>
        </p:sp>
      </p:grpSp>
      <p:sp>
        <p:nvSpPr>
          <p:cNvPr id="8" name="TextBox 8"/>
          <p:cNvSpPr txBox="1"/>
          <p:nvPr/>
        </p:nvSpPr>
        <p:spPr>
          <a:xfrm>
            <a:off x="992210" y="1009945"/>
            <a:ext cx="16303114" cy="816473"/>
          </a:xfrm>
          <a:prstGeom prst="rect">
            <a:avLst/>
          </a:prstGeom>
        </p:spPr>
        <p:txBody>
          <a:bodyPr lIns="0" tIns="0" rIns="0" bIns="0" rtlCol="0" anchor="t">
            <a:spAutoFit/>
          </a:bodyPr>
          <a:lstStyle/>
          <a:p>
            <a:pPr algn="ctr">
              <a:lnSpc>
                <a:spcPts val="6177"/>
              </a:lnSpc>
            </a:pPr>
            <a:r>
              <a:rPr lang="en-US" sz="4950">
                <a:solidFill>
                  <a:srgbClr val="1B1B27"/>
                </a:solidFill>
                <a:latin typeface="Corben"/>
                <a:ea typeface="Corben"/>
                <a:cs typeface="Corben"/>
                <a:sym typeface="Corben"/>
              </a:rPr>
              <a:t>Technologies &amp; Infrastructure</a:t>
            </a:r>
          </a:p>
        </p:txBody>
      </p:sp>
      <p:grpSp>
        <p:nvGrpSpPr>
          <p:cNvPr id="9" name="Group 9"/>
          <p:cNvGrpSpPr/>
          <p:nvPr/>
        </p:nvGrpSpPr>
        <p:grpSpPr>
          <a:xfrm>
            <a:off x="992210" y="2285705"/>
            <a:ext cx="1007545" cy="1007564"/>
            <a:chOff x="0" y="0"/>
            <a:chExt cx="1343393" cy="1343419"/>
          </a:xfrm>
        </p:grpSpPr>
        <p:sp>
          <p:nvSpPr>
            <p:cNvPr id="10" name="Freeform 10" descr="preencoded.png"/>
            <p:cNvSpPr/>
            <p:nvPr/>
          </p:nvSpPr>
          <p:spPr>
            <a:xfrm>
              <a:off x="0" y="0"/>
              <a:ext cx="1343406" cy="1343406"/>
            </a:xfrm>
            <a:custGeom>
              <a:avLst/>
              <a:gdLst/>
              <a:ahLst/>
              <a:cxnLst/>
              <a:rect l="l" t="t" r="r" b="b"/>
              <a:pathLst>
                <a:path w="1343406" h="1343406">
                  <a:moveTo>
                    <a:pt x="0" y="0"/>
                  </a:moveTo>
                  <a:lnTo>
                    <a:pt x="1343406" y="0"/>
                  </a:lnTo>
                  <a:lnTo>
                    <a:pt x="1343406" y="1343406"/>
                  </a:lnTo>
                  <a:lnTo>
                    <a:pt x="0" y="1343406"/>
                  </a:lnTo>
                  <a:lnTo>
                    <a:pt x="0" y="0"/>
                  </a:lnTo>
                  <a:close/>
                </a:path>
              </a:pathLst>
            </a:custGeom>
            <a:blipFill>
              <a:blip r:embed="rId5"/>
              <a:stretch>
                <a:fillRect/>
              </a:stretch>
            </a:blipFill>
          </p:spPr>
        </p:sp>
      </p:grpSp>
      <p:sp>
        <p:nvSpPr>
          <p:cNvPr id="11" name="TextBox 11"/>
          <p:cNvSpPr txBox="1"/>
          <p:nvPr/>
        </p:nvSpPr>
        <p:spPr>
          <a:xfrm>
            <a:off x="2286686" y="2323805"/>
            <a:ext cx="2566035" cy="759028"/>
          </a:xfrm>
          <a:prstGeom prst="rect">
            <a:avLst/>
          </a:prstGeom>
        </p:spPr>
        <p:txBody>
          <a:bodyPr lIns="0" tIns="0" rIns="0" bIns="0" rtlCol="0" anchor="t">
            <a:spAutoFit/>
          </a:bodyPr>
          <a:lstStyle/>
          <a:p>
            <a:pPr algn="l">
              <a:lnSpc>
                <a:spcPts val="2770"/>
              </a:lnSpc>
            </a:pPr>
            <a:r>
              <a:rPr lang="en-US" sz="2775">
                <a:solidFill>
                  <a:srgbClr val="404155"/>
                </a:solidFill>
                <a:latin typeface="Times New Roman"/>
                <a:ea typeface="Times New Roman"/>
                <a:cs typeface="Times New Roman"/>
                <a:sym typeface="Times New Roman"/>
              </a:rPr>
              <a:t>React + TypeScript</a:t>
            </a:r>
          </a:p>
        </p:txBody>
      </p:sp>
      <p:sp>
        <p:nvSpPr>
          <p:cNvPr id="12" name="TextBox 12"/>
          <p:cNvSpPr txBox="1"/>
          <p:nvPr/>
        </p:nvSpPr>
        <p:spPr>
          <a:xfrm>
            <a:off x="2286686" y="3134763"/>
            <a:ext cx="2852966" cy="2800645"/>
          </a:xfrm>
          <a:prstGeom prst="rect">
            <a:avLst/>
          </a:prstGeom>
        </p:spPr>
        <p:txBody>
          <a:bodyPr lIns="0" tIns="0" rIns="0" bIns="0" rtlCol="0" anchor="t">
            <a:spAutoFit/>
          </a:bodyPr>
          <a:lstStyle/>
          <a:p>
            <a:pPr algn="l">
              <a:lnSpc>
                <a:spcPts val="3429"/>
              </a:lnSpc>
            </a:pPr>
            <a:r>
              <a:rPr lang="en-US" sz="2250">
                <a:solidFill>
                  <a:srgbClr val="404155"/>
                </a:solidFill>
                <a:latin typeface="Times New Roman"/>
                <a:ea typeface="Times New Roman"/>
                <a:cs typeface="Times New Roman"/>
                <a:sym typeface="Times New Roman"/>
              </a:rPr>
              <a:t>Frontend implemented with React + TypeScript for type-safe, maintainable UI components and fast iteration.</a:t>
            </a:r>
          </a:p>
        </p:txBody>
      </p:sp>
      <p:grpSp>
        <p:nvGrpSpPr>
          <p:cNvPr id="13" name="Group 13"/>
          <p:cNvGrpSpPr/>
          <p:nvPr/>
        </p:nvGrpSpPr>
        <p:grpSpPr>
          <a:xfrm>
            <a:off x="5139652" y="2285705"/>
            <a:ext cx="1007545" cy="1007564"/>
            <a:chOff x="0" y="0"/>
            <a:chExt cx="1343393" cy="1343419"/>
          </a:xfrm>
        </p:grpSpPr>
        <p:sp>
          <p:nvSpPr>
            <p:cNvPr id="14" name="Freeform 14" descr="preencoded.png"/>
            <p:cNvSpPr/>
            <p:nvPr/>
          </p:nvSpPr>
          <p:spPr>
            <a:xfrm>
              <a:off x="0" y="0"/>
              <a:ext cx="1343406" cy="1343406"/>
            </a:xfrm>
            <a:custGeom>
              <a:avLst/>
              <a:gdLst/>
              <a:ahLst/>
              <a:cxnLst/>
              <a:rect l="l" t="t" r="r" b="b"/>
              <a:pathLst>
                <a:path w="1343406" h="1343406">
                  <a:moveTo>
                    <a:pt x="0" y="0"/>
                  </a:moveTo>
                  <a:lnTo>
                    <a:pt x="1343406" y="0"/>
                  </a:lnTo>
                  <a:lnTo>
                    <a:pt x="1343406" y="1343406"/>
                  </a:lnTo>
                  <a:lnTo>
                    <a:pt x="0" y="1343406"/>
                  </a:lnTo>
                  <a:lnTo>
                    <a:pt x="0" y="0"/>
                  </a:lnTo>
                  <a:close/>
                </a:path>
              </a:pathLst>
            </a:custGeom>
            <a:blipFill>
              <a:blip r:embed="rId6"/>
              <a:stretch>
                <a:fillRect/>
              </a:stretch>
            </a:blipFill>
          </p:spPr>
        </p:sp>
      </p:grpSp>
      <p:sp>
        <p:nvSpPr>
          <p:cNvPr id="15" name="TextBox 15"/>
          <p:cNvSpPr txBox="1"/>
          <p:nvPr/>
        </p:nvSpPr>
        <p:spPr>
          <a:xfrm>
            <a:off x="6434128" y="2257130"/>
            <a:ext cx="2566178" cy="427139"/>
          </a:xfrm>
          <a:prstGeom prst="rect">
            <a:avLst/>
          </a:prstGeom>
        </p:spPr>
        <p:txBody>
          <a:bodyPr lIns="0" tIns="0" rIns="0" bIns="0" rtlCol="0" anchor="t">
            <a:spAutoFit/>
          </a:bodyPr>
          <a:lstStyle/>
          <a:p>
            <a:pPr algn="l">
              <a:lnSpc>
                <a:spcPts val="3556"/>
              </a:lnSpc>
            </a:pPr>
            <a:r>
              <a:rPr lang="en-US" sz="2850">
                <a:solidFill>
                  <a:srgbClr val="404155"/>
                </a:solidFill>
                <a:latin typeface="Times New Roman"/>
                <a:ea typeface="Times New Roman"/>
                <a:cs typeface="Times New Roman"/>
                <a:sym typeface="Times New Roman"/>
              </a:rPr>
              <a:t>Vite</a:t>
            </a:r>
          </a:p>
        </p:txBody>
      </p:sp>
      <p:sp>
        <p:nvSpPr>
          <p:cNvPr id="16" name="TextBox 16"/>
          <p:cNvSpPr txBox="1"/>
          <p:nvPr/>
        </p:nvSpPr>
        <p:spPr>
          <a:xfrm>
            <a:off x="6147187" y="3134763"/>
            <a:ext cx="2566178" cy="2024958"/>
          </a:xfrm>
          <a:prstGeom prst="rect">
            <a:avLst/>
          </a:prstGeom>
        </p:spPr>
        <p:txBody>
          <a:bodyPr lIns="0" tIns="0" rIns="0" bIns="0" rtlCol="0" anchor="t">
            <a:spAutoFit/>
          </a:bodyPr>
          <a:lstStyle/>
          <a:p>
            <a:pPr algn="l">
              <a:lnSpc>
                <a:spcPts val="3429"/>
              </a:lnSpc>
            </a:pPr>
            <a:r>
              <a:rPr lang="en-US" sz="2250">
                <a:solidFill>
                  <a:srgbClr val="404155"/>
                </a:solidFill>
                <a:latin typeface="Times New Roman"/>
                <a:ea typeface="Times New Roman"/>
                <a:cs typeface="Times New Roman"/>
                <a:sym typeface="Times New Roman"/>
              </a:rPr>
              <a:t>Fast build and dev server for rapid local iteration and optimized production bundles.</a:t>
            </a:r>
          </a:p>
        </p:txBody>
      </p:sp>
      <p:grpSp>
        <p:nvGrpSpPr>
          <p:cNvPr id="17" name="Group 17"/>
          <p:cNvGrpSpPr/>
          <p:nvPr/>
        </p:nvGrpSpPr>
        <p:grpSpPr>
          <a:xfrm>
            <a:off x="9287237" y="2285705"/>
            <a:ext cx="1007545" cy="1007564"/>
            <a:chOff x="0" y="0"/>
            <a:chExt cx="1343393" cy="1343419"/>
          </a:xfrm>
        </p:grpSpPr>
        <p:sp>
          <p:nvSpPr>
            <p:cNvPr id="18" name="Freeform 18" descr="preencoded.png"/>
            <p:cNvSpPr/>
            <p:nvPr/>
          </p:nvSpPr>
          <p:spPr>
            <a:xfrm>
              <a:off x="0" y="0"/>
              <a:ext cx="1343406" cy="1343406"/>
            </a:xfrm>
            <a:custGeom>
              <a:avLst/>
              <a:gdLst/>
              <a:ahLst/>
              <a:cxnLst/>
              <a:rect l="l" t="t" r="r" b="b"/>
              <a:pathLst>
                <a:path w="1343406" h="1343406">
                  <a:moveTo>
                    <a:pt x="0" y="0"/>
                  </a:moveTo>
                  <a:lnTo>
                    <a:pt x="1343406" y="0"/>
                  </a:lnTo>
                  <a:lnTo>
                    <a:pt x="1343406" y="1343406"/>
                  </a:lnTo>
                  <a:lnTo>
                    <a:pt x="0" y="1343406"/>
                  </a:lnTo>
                  <a:lnTo>
                    <a:pt x="0" y="0"/>
                  </a:lnTo>
                  <a:close/>
                </a:path>
              </a:pathLst>
            </a:custGeom>
            <a:blipFill>
              <a:blip r:embed="rId7"/>
              <a:stretch>
                <a:fillRect/>
              </a:stretch>
            </a:blipFill>
          </p:spPr>
        </p:sp>
      </p:grpSp>
      <p:sp>
        <p:nvSpPr>
          <p:cNvPr id="19" name="TextBox 19"/>
          <p:cNvSpPr txBox="1"/>
          <p:nvPr/>
        </p:nvSpPr>
        <p:spPr>
          <a:xfrm>
            <a:off x="10581713" y="2257130"/>
            <a:ext cx="2566035" cy="825703"/>
          </a:xfrm>
          <a:prstGeom prst="rect">
            <a:avLst/>
          </a:prstGeom>
        </p:spPr>
        <p:txBody>
          <a:bodyPr lIns="0" tIns="0" rIns="0" bIns="0" rtlCol="0" anchor="t">
            <a:spAutoFit/>
          </a:bodyPr>
          <a:lstStyle/>
          <a:p>
            <a:pPr algn="l">
              <a:lnSpc>
                <a:spcPts val="3556"/>
              </a:lnSpc>
            </a:pPr>
            <a:r>
              <a:rPr lang="en-US" sz="2850">
                <a:solidFill>
                  <a:srgbClr val="404155"/>
                </a:solidFill>
                <a:latin typeface="Times New Roman"/>
                <a:ea typeface="Times New Roman"/>
                <a:cs typeface="Times New Roman"/>
                <a:sym typeface="Times New Roman"/>
              </a:rPr>
              <a:t>Firebase Authentication</a:t>
            </a:r>
          </a:p>
        </p:txBody>
      </p:sp>
      <p:sp>
        <p:nvSpPr>
          <p:cNvPr id="20" name="TextBox 20"/>
          <p:cNvSpPr txBox="1"/>
          <p:nvPr/>
        </p:nvSpPr>
        <p:spPr>
          <a:xfrm>
            <a:off x="10599610" y="3133506"/>
            <a:ext cx="2566035" cy="2024958"/>
          </a:xfrm>
          <a:prstGeom prst="rect">
            <a:avLst/>
          </a:prstGeom>
        </p:spPr>
        <p:txBody>
          <a:bodyPr lIns="0" tIns="0" rIns="0" bIns="0" rtlCol="0" anchor="t">
            <a:spAutoFit/>
          </a:bodyPr>
          <a:lstStyle/>
          <a:p>
            <a:pPr algn="l">
              <a:lnSpc>
                <a:spcPts val="3429"/>
              </a:lnSpc>
            </a:pPr>
            <a:r>
              <a:rPr lang="en-US" sz="2250">
                <a:solidFill>
                  <a:srgbClr val="404155"/>
                </a:solidFill>
                <a:latin typeface="Times New Roman"/>
                <a:ea typeface="Times New Roman"/>
                <a:cs typeface="Times New Roman"/>
                <a:sym typeface="Times New Roman"/>
              </a:rPr>
              <a:t>Secure sign-up/login with role-based identity supporting both researchers and administrators.</a:t>
            </a:r>
          </a:p>
        </p:txBody>
      </p:sp>
      <p:grpSp>
        <p:nvGrpSpPr>
          <p:cNvPr id="21" name="Group 21"/>
          <p:cNvGrpSpPr/>
          <p:nvPr/>
        </p:nvGrpSpPr>
        <p:grpSpPr>
          <a:xfrm>
            <a:off x="13434679" y="2285705"/>
            <a:ext cx="1007545" cy="1007564"/>
            <a:chOff x="0" y="0"/>
            <a:chExt cx="1343393" cy="1343419"/>
          </a:xfrm>
        </p:grpSpPr>
        <p:sp>
          <p:nvSpPr>
            <p:cNvPr id="22" name="Freeform 22" descr="preencoded.png"/>
            <p:cNvSpPr/>
            <p:nvPr/>
          </p:nvSpPr>
          <p:spPr>
            <a:xfrm>
              <a:off x="0" y="0"/>
              <a:ext cx="1343406" cy="1343406"/>
            </a:xfrm>
            <a:custGeom>
              <a:avLst/>
              <a:gdLst/>
              <a:ahLst/>
              <a:cxnLst/>
              <a:rect l="l" t="t" r="r" b="b"/>
              <a:pathLst>
                <a:path w="1343406" h="1343406">
                  <a:moveTo>
                    <a:pt x="0" y="0"/>
                  </a:moveTo>
                  <a:lnTo>
                    <a:pt x="1343406" y="0"/>
                  </a:lnTo>
                  <a:lnTo>
                    <a:pt x="1343406" y="1343406"/>
                  </a:lnTo>
                  <a:lnTo>
                    <a:pt x="0" y="1343406"/>
                  </a:lnTo>
                  <a:lnTo>
                    <a:pt x="0" y="0"/>
                  </a:lnTo>
                  <a:close/>
                </a:path>
              </a:pathLst>
            </a:custGeom>
            <a:blipFill>
              <a:blip r:embed="rId8"/>
              <a:stretch>
                <a:fillRect/>
              </a:stretch>
            </a:blipFill>
          </p:spPr>
        </p:sp>
      </p:grpSp>
      <p:sp>
        <p:nvSpPr>
          <p:cNvPr id="23" name="TextBox 23"/>
          <p:cNvSpPr txBox="1"/>
          <p:nvPr/>
        </p:nvSpPr>
        <p:spPr>
          <a:xfrm>
            <a:off x="14729155" y="2257130"/>
            <a:ext cx="2566178" cy="427139"/>
          </a:xfrm>
          <a:prstGeom prst="rect">
            <a:avLst/>
          </a:prstGeom>
        </p:spPr>
        <p:txBody>
          <a:bodyPr lIns="0" tIns="0" rIns="0" bIns="0" rtlCol="0" anchor="t">
            <a:spAutoFit/>
          </a:bodyPr>
          <a:lstStyle/>
          <a:p>
            <a:pPr algn="l">
              <a:lnSpc>
                <a:spcPts val="3556"/>
              </a:lnSpc>
            </a:pPr>
            <a:r>
              <a:rPr lang="en-US" sz="2850">
                <a:solidFill>
                  <a:srgbClr val="404155"/>
                </a:solidFill>
                <a:latin typeface="Times New Roman"/>
                <a:ea typeface="Times New Roman"/>
                <a:cs typeface="Times New Roman"/>
                <a:sym typeface="Times New Roman"/>
              </a:rPr>
              <a:t>Cloud Firestore</a:t>
            </a:r>
          </a:p>
        </p:txBody>
      </p:sp>
      <p:sp>
        <p:nvSpPr>
          <p:cNvPr id="24" name="TextBox 24"/>
          <p:cNvSpPr txBox="1"/>
          <p:nvPr/>
        </p:nvSpPr>
        <p:spPr>
          <a:xfrm>
            <a:off x="14782933" y="3099273"/>
            <a:ext cx="2566178" cy="2412797"/>
          </a:xfrm>
          <a:prstGeom prst="rect">
            <a:avLst/>
          </a:prstGeom>
        </p:spPr>
        <p:txBody>
          <a:bodyPr lIns="0" tIns="0" rIns="0" bIns="0" rtlCol="0" anchor="t">
            <a:spAutoFit/>
          </a:bodyPr>
          <a:lstStyle/>
          <a:p>
            <a:pPr algn="l">
              <a:lnSpc>
                <a:spcPts val="3429"/>
              </a:lnSpc>
            </a:pPr>
            <a:r>
              <a:rPr lang="en-US" sz="2250">
                <a:solidFill>
                  <a:srgbClr val="404155"/>
                </a:solidFill>
                <a:latin typeface="Times New Roman"/>
                <a:ea typeface="Times New Roman"/>
                <a:cs typeface="Times New Roman"/>
                <a:sym typeface="Times New Roman"/>
              </a:rPr>
              <a:t>Scalable NoSQL database for datasets, submissions, access requests, and audit logs.</a:t>
            </a:r>
          </a:p>
        </p:txBody>
      </p:sp>
      <p:grpSp>
        <p:nvGrpSpPr>
          <p:cNvPr id="25" name="Group 25"/>
          <p:cNvGrpSpPr/>
          <p:nvPr/>
        </p:nvGrpSpPr>
        <p:grpSpPr>
          <a:xfrm>
            <a:off x="992210" y="6394694"/>
            <a:ext cx="1007545" cy="1007564"/>
            <a:chOff x="0" y="0"/>
            <a:chExt cx="1343393" cy="1343419"/>
          </a:xfrm>
        </p:grpSpPr>
        <p:sp>
          <p:nvSpPr>
            <p:cNvPr id="26" name="Freeform 26" descr="preencoded.png"/>
            <p:cNvSpPr/>
            <p:nvPr/>
          </p:nvSpPr>
          <p:spPr>
            <a:xfrm>
              <a:off x="0" y="0"/>
              <a:ext cx="1343406" cy="1343406"/>
            </a:xfrm>
            <a:custGeom>
              <a:avLst/>
              <a:gdLst/>
              <a:ahLst/>
              <a:cxnLst/>
              <a:rect l="l" t="t" r="r" b="b"/>
              <a:pathLst>
                <a:path w="1343406" h="1343406">
                  <a:moveTo>
                    <a:pt x="0" y="0"/>
                  </a:moveTo>
                  <a:lnTo>
                    <a:pt x="1343406" y="0"/>
                  </a:lnTo>
                  <a:lnTo>
                    <a:pt x="1343406" y="1343406"/>
                  </a:lnTo>
                  <a:lnTo>
                    <a:pt x="0" y="1343406"/>
                  </a:lnTo>
                  <a:lnTo>
                    <a:pt x="0" y="0"/>
                  </a:lnTo>
                  <a:close/>
                </a:path>
              </a:pathLst>
            </a:custGeom>
            <a:blipFill>
              <a:blip r:embed="rId9"/>
              <a:stretch>
                <a:fillRect/>
              </a:stretch>
            </a:blipFill>
          </p:spPr>
        </p:sp>
      </p:grpSp>
      <p:sp>
        <p:nvSpPr>
          <p:cNvPr id="27" name="TextBox 27"/>
          <p:cNvSpPr txBox="1"/>
          <p:nvPr/>
        </p:nvSpPr>
        <p:spPr>
          <a:xfrm>
            <a:off x="2286686" y="6366119"/>
            <a:ext cx="2566035" cy="427139"/>
          </a:xfrm>
          <a:prstGeom prst="rect">
            <a:avLst/>
          </a:prstGeom>
        </p:spPr>
        <p:txBody>
          <a:bodyPr lIns="0" tIns="0" rIns="0" bIns="0" rtlCol="0" anchor="t">
            <a:spAutoFit/>
          </a:bodyPr>
          <a:lstStyle/>
          <a:p>
            <a:pPr algn="l">
              <a:lnSpc>
                <a:spcPts val="3556"/>
              </a:lnSpc>
            </a:pPr>
            <a:r>
              <a:rPr lang="en-US" sz="2850">
                <a:solidFill>
                  <a:srgbClr val="404155"/>
                </a:solidFill>
                <a:latin typeface="Times New Roman"/>
                <a:ea typeface="Times New Roman"/>
                <a:cs typeface="Times New Roman"/>
                <a:sym typeface="Times New Roman"/>
              </a:rPr>
              <a:t>GitHub</a:t>
            </a:r>
          </a:p>
        </p:txBody>
      </p:sp>
      <p:sp>
        <p:nvSpPr>
          <p:cNvPr id="28" name="TextBox 28"/>
          <p:cNvSpPr txBox="1"/>
          <p:nvPr/>
        </p:nvSpPr>
        <p:spPr>
          <a:xfrm>
            <a:off x="2286686" y="6845198"/>
            <a:ext cx="2566035" cy="2024958"/>
          </a:xfrm>
          <a:prstGeom prst="rect">
            <a:avLst/>
          </a:prstGeom>
        </p:spPr>
        <p:txBody>
          <a:bodyPr lIns="0" tIns="0" rIns="0" bIns="0" rtlCol="0" anchor="t">
            <a:spAutoFit/>
          </a:bodyPr>
          <a:lstStyle/>
          <a:p>
            <a:pPr algn="l">
              <a:lnSpc>
                <a:spcPts val="3429"/>
              </a:lnSpc>
            </a:pPr>
            <a:r>
              <a:rPr lang="en-US" sz="2250">
                <a:solidFill>
                  <a:srgbClr val="404155"/>
                </a:solidFill>
                <a:latin typeface="Times New Roman"/>
                <a:ea typeface="Times New Roman"/>
                <a:cs typeface="Times New Roman"/>
                <a:sym typeface="Times New Roman"/>
              </a:rPr>
              <a:t>Source control and CI integration for code reviews and deployment pipelines.</a:t>
            </a:r>
          </a:p>
        </p:txBody>
      </p:sp>
      <p:grpSp>
        <p:nvGrpSpPr>
          <p:cNvPr id="29" name="Group 29"/>
          <p:cNvGrpSpPr/>
          <p:nvPr/>
        </p:nvGrpSpPr>
        <p:grpSpPr>
          <a:xfrm>
            <a:off x="5139652" y="6394694"/>
            <a:ext cx="1007545" cy="1007564"/>
            <a:chOff x="0" y="0"/>
            <a:chExt cx="1343393" cy="1343419"/>
          </a:xfrm>
        </p:grpSpPr>
        <p:sp>
          <p:nvSpPr>
            <p:cNvPr id="30" name="Freeform 30" descr="preencoded.png"/>
            <p:cNvSpPr/>
            <p:nvPr/>
          </p:nvSpPr>
          <p:spPr>
            <a:xfrm>
              <a:off x="0" y="0"/>
              <a:ext cx="1343406" cy="1343406"/>
            </a:xfrm>
            <a:custGeom>
              <a:avLst/>
              <a:gdLst/>
              <a:ahLst/>
              <a:cxnLst/>
              <a:rect l="l" t="t" r="r" b="b"/>
              <a:pathLst>
                <a:path w="1343406" h="1343406">
                  <a:moveTo>
                    <a:pt x="0" y="0"/>
                  </a:moveTo>
                  <a:lnTo>
                    <a:pt x="1343406" y="0"/>
                  </a:lnTo>
                  <a:lnTo>
                    <a:pt x="1343406" y="1343406"/>
                  </a:lnTo>
                  <a:lnTo>
                    <a:pt x="0" y="1343406"/>
                  </a:lnTo>
                  <a:lnTo>
                    <a:pt x="0" y="0"/>
                  </a:lnTo>
                  <a:close/>
                </a:path>
              </a:pathLst>
            </a:custGeom>
            <a:blipFill>
              <a:blip r:embed="rId10"/>
              <a:stretch>
                <a:fillRect/>
              </a:stretch>
            </a:blipFill>
          </p:spPr>
        </p:sp>
      </p:grpSp>
      <p:sp>
        <p:nvSpPr>
          <p:cNvPr id="31" name="TextBox 31"/>
          <p:cNvSpPr txBox="1"/>
          <p:nvPr/>
        </p:nvSpPr>
        <p:spPr>
          <a:xfrm>
            <a:off x="6514481" y="6395514"/>
            <a:ext cx="2566178" cy="427139"/>
          </a:xfrm>
          <a:prstGeom prst="rect">
            <a:avLst/>
          </a:prstGeom>
        </p:spPr>
        <p:txBody>
          <a:bodyPr lIns="0" tIns="0" rIns="0" bIns="0" rtlCol="0" anchor="t">
            <a:spAutoFit/>
          </a:bodyPr>
          <a:lstStyle/>
          <a:p>
            <a:pPr algn="l">
              <a:lnSpc>
                <a:spcPts val="3556"/>
              </a:lnSpc>
            </a:pPr>
            <a:r>
              <a:rPr lang="en-US" sz="2850">
                <a:solidFill>
                  <a:srgbClr val="404155"/>
                </a:solidFill>
                <a:latin typeface="Times New Roman"/>
                <a:ea typeface="Times New Roman"/>
                <a:cs typeface="Times New Roman"/>
                <a:sym typeface="Times New Roman"/>
              </a:rPr>
              <a:t>Vercel</a:t>
            </a:r>
          </a:p>
        </p:txBody>
      </p:sp>
      <p:sp>
        <p:nvSpPr>
          <p:cNvPr id="32" name="TextBox 32"/>
          <p:cNvSpPr txBox="1"/>
          <p:nvPr/>
        </p:nvSpPr>
        <p:spPr>
          <a:xfrm>
            <a:off x="6434128" y="6845198"/>
            <a:ext cx="2566178" cy="2412797"/>
          </a:xfrm>
          <a:prstGeom prst="rect">
            <a:avLst/>
          </a:prstGeom>
        </p:spPr>
        <p:txBody>
          <a:bodyPr lIns="0" tIns="0" rIns="0" bIns="0" rtlCol="0" anchor="t">
            <a:spAutoFit/>
          </a:bodyPr>
          <a:lstStyle/>
          <a:p>
            <a:pPr algn="l">
              <a:lnSpc>
                <a:spcPts val="3429"/>
              </a:lnSpc>
            </a:pPr>
            <a:r>
              <a:rPr lang="en-US" sz="2250">
                <a:solidFill>
                  <a:srgbClr val="404155"/>
                </a:solidFill>
                <a:latin typeface="Times New Roman"/>
                <a:ea typeface="Times New Roman"/>
                <a:cs typeface="Times New Roman"/>
                <a:sym typeface="Times New Roman"/>
              </a:rPr>
              <a:t>Continuous deployment hosting for the live web application and preview environments.</a:t>
            </a:r>
          </a:p>
        </p:txBody>
      </p:sp>
      <p:grpSp>
        <p:nvGrpSpPr>
          <p:cNvPr id="33" name="Group 33"/>
          <p:cNvGrpSpPr/>
          <p:nvPr/>
        </p:nvGrpSpPr>
        <p:grpSpPr>
          <a:xfrm>
            <a:off x="289541" y="354149"/>
            <a:ext cx="1579493" cy="1498616"/>
            <a:chOff x="0" y="0"/>
            <a:chExt cx="2105990" cy="1998154"/>
          </a:xfrm>
        </p:grpSpPr>
        <p:sp>
          <p:nvSpPr>
            <p:cNvPr id="34" name="Freeform 34" descr="logo 2.png"/>
            <p:cNvSpPr/>
            <p:nvPr/>
          </p:nvSpPr>
          <p:spPr>
            <a:xfrm>
              <a:off x="0" y="0"/>
              <a:ext cx="2106041" cy="1998218"/>
            </a:xfrm>
            <a:custGeom>
              <a:avLst/>
              <a:gdLst/>
              <a:ahLst/>
              <a:cxnLst/>
              <a:rect l="l" t="t" r="r" b="b"/>
              <a:pathLst>
                <a:path w="2106041" h="1998218">
                  <a:moveTo>
                    <a:pt x="0" y="0"/>
                  </a:moveTo>
                  <a:lnTo>
                    <a:pt x="2106041" y="0"/>
                  </a:lnTo>
                  <a:lnTo>
                    <a:pt x="2106041" y="1998218"/>
                  </a:lnTo>
                  <a:lnTo>
                    <a:pt x="0" y="1998218"/>
                  </a:lnTo>
                  <a:lnTo>
                    <a:pt x="0" y="0"/>
                  </a:lnTo>
                  <a:close/>
                </a:path>
              </a:pathLst>
            </a:custGeom>
            <a:blipFill>
              <a:blip r:embed="rId11"/>
              <a:stretch>
                <a:fillRect t="-140" r="2" b="-136"/>
              </a:stretch>
            </a:blipFill>
          </p:spPr>
        </p:sp>
      </p:grpSp>
      <p:grpSp>
        <p:nvGrpSpPr>
          <p:cNvPr id="35" name="Group 35"/>
          <p:cNvGrpSpPr/>
          <p:nvPr/>
        </p:nvGrpSpPr>
        <p:grpSpPr>
          <a:xfrm>
            <a:off x="16028651" y="183794"/>
            <a:ext cx="1570482" cy="1706528"/>
            <a:chOff x="0" y="0"/>
            <a:chExt cx="2093976" cy="2275370"/>
          </a:xfrm>
        </p:grpSpPr>
        <p:sp>
          <p:nvSpPr>
            <p:cNvPr id="36" name="Freeform 36" descr="logo3.png"/>
            <p:cNvSpPr/>
            <p:nvPr/>
          </p:nvSpPr>
          <p:spPr>
            <a:xfrm>
              <a:off x="0" y="0"/>
              <a:ext cx="2093976" cy="2275332"/>
            </a:xfrm>
            <a:custGeom>
              <a:avLst/>
              <a:gdLst/>
              <a:ahLst/>
              <a:cxnLst/>
              <a:rect l="l" t="t" r="r" b="b"/>
              <a:pathLst>
                <a:path w="2093976" h="2275332">
                  <a:moveTo>
                    <a:pt x="0" y="0"/>
                  </a:moveTo>
                  <a:lnTo>
                    <a:pt x="2093976" y="0"/>
                  </a:lnTo>
                  <a:lnTo>
                    <a:pt x="2093976" y="2275332"/>
                  </a:lnTo>
                  <a:lnTo>
                    <a:pt x="0" y="2275332"/>
                  </a:lnTo>
                  <a:lnTo>
                    <a:pt x="0" y="0"/>
                  </a:lnTo>
                  <a:close/>
                </a:path>
              </a:pathLst>
            </a:custGeom>
            <a:blipFill>
              <a:blip r:embed="rId12"/>
              <a:stretch>
                <a:fillRect t="-30" b="-32"/>
              </a:stretch>
            </a:blipFill>
          </p:spPr>
        </p:sp>
      </p:grpSp>
    </p:spTree>
    <p:extLst>
      <p:ext uri="{BB962C8B-B14F-4D97-AF65-F5344CB8AC3E}">
        <p14:creationId xmlns:p14="http://schemas.microsoft.com/office/powerpoint/2010/main" val="14918633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7E93343D-01C8-AFC8-E161-1BC957B5F70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73C3927-4E96-B202-7563-3D21C2854387}"/>
              </a:ext>
            </a:extLst>
          </p:cNvPr>
          <p:cNvGrpSpPr/>
          <p:nvPr/>
        </p:nvGrpSpPr>
        <p:grpSpPr>
          <a:xfrm>
            <a:off x="0" y="0"/>
            <a:ext cx="18287543" cy="10287000"/>
            <a:chOff x="0" y="0"/>
            <a:chExt cx="24383390" cy="13716000"/>
          </a:xfrm>
        </p:grpSpPr>
        <p:sp>
          <p:nvSpPr>
            <p:cNvPr id="3" name="Freeform 3" descr="preencoded.png">
              <a:extLst>
                <a:ext uri="{FF2B5EF4-FFF2-40B4-BE49-F238E27FC236}">
                  <a16:creationId xmlns:a16="http://schemas.microsoft.com/office/drawing/2014/main" id="{F845620B-8DAA-49F0-1F14-50FA67BCF6CD}"/>
                </a:ext>
              </a:extLst>
            </p:cNvPr>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lnTo>
                    <a:pt x="0" y="0"/>
                  </a:lnTo>
                  <a:close/>
                </a:path>
              </a:pathLst>
            </a:custGeom>
            <a:blipFill>
              <a:blip r:embed="rId3"/>
              <a:stretch>
                <a:fillRect l="-1" r="-1"/>
              </a:stretch>
            </a:blipFill>
          </p:spPr>
        </p:sp>
      </p:grpSp>
      <p:grpSp>
        <p:nvGrpSpPr>
          <p:cNvPr id="4" name="Group 4">
            <a:extLst>
              <a:ext uri="{FF2B5EF4-FFF2-40B4-BE49-F238E27FC236}">
                <a16:creationId xmlns:a16="http://schemas.microsoft.com/office/drawing/2014/main" id="{6ACDF3D6-6E9D-6053-DBFF-135742649F52}"/>
              </a:ext>
            </a:extLst>
          </p:cNvPr>
          <p:cNvGrpSpPr/>
          <p:nvPr/>
        </p:nvGrpSpPr>
        <p:grpSpPr>
          <a:xfrm>
            <a:off x="0" y="0"/>
            <a:ext cx="18287543" cy="10287000"/>
            <a:chOff x="0" y="0"/>
            <a:chExt cx="24383390" cy="13716000"/>
          </a:xfrm>
        </p:grpSpPr>
        <p:sp>
          <p:nvSpPr>
            <p:cNvPr id="5" name="Freeform 5">
              <a:extLst>
                <a:ext uri="{FF2B5EF4-FFF2-40B4-BE49-F238E27FC236}">
                  <a16:creationId xmlns:a16="http://schemas.microsoft.com/office/drawing/2014/main" id="{23562A8F-6B21-6CF9-BCA0-A09ACFB19263}"/>
                </a:ext>
              </a:extLst>
            </p:cNvPr>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close/>
                </a:path>
              </a:pathLst>
            </a:custGeom>
            <a:solidFill>
              <a:srgbClr val="F9F9FF">
                <a:alpha val="90196"/>
              </a:srgbClr>
            </a:solidFill>
          </p:spPr>
        </p:sp>
      </p:grpSp>
      <p:grpSp>
        <p:nvGrpSpPr>
          <p:cNvPr id="6" name="Group 6">
            <a:extLst>
              <a:ext uri="{FF2B5EF4-FFF2-40B4-BE49-F238E27FC236}">
                <a16:creationId xmlns:a16="http://schemas.microsoft.com/office/drawing/2014/main" id="{52AA58B5-EFA3-92EA-EF80-E32E150E5487}"/>
              </a:ext>
            </a:extLst>
          </p:cNvPr>
          <p:cNvGrpSpPr/>
          <p:nvPr/>
        </p:nvGrpSpPr>
        <p:grpSpPr>
          <a:xfrm>
            <a:off x="16615315" y="9838487"/>
            <a:ext cx="1607763" cy="384048"/>
            <a:chOff x="0" y="0"/>
            <a:chExt cx="2143684" cy="512064"/>
          </a:xfrm>
        </p:grpSpPr>
        <p:sp>
          <p:nvSpPr>
            <p:cNvPr id="7" name="Freeform 7" descr="preencoded.png">
              <a:hlinkClick r:id="rId4" tooltip="https://gamma.app/?utm_source=made-with-gamma"/>
              <a:extLst>
                <a:ext uri="{FF2B5EF4-FFF2-40B4-BE49-F238E27FC236}">
                  <a16:creationId xmlns:a16="http://schemas.microsoft.com/office/drawing/2014/main" id="{A8134155-60F9-A9DB-2489-97C2440D4A5C}"/>
                </a:ext>
              </a:extLst>
            </p:cNvPr>
            <p:cNvSpPr/>
            <p:nvPr/>
          </p:nvSpPr>
          <p:spPr>
            <a:xfrm>
              <a:off x="0" y="0"/>
              <a:ext cx="2143633" cy="512064"/>
            </a:xfrm>
            <a:custGeom>
              <a:avLst/>
              <a:gdLst/>
              <a:ahLst/>
              <a:cxnLst/>
              <a:rect l="l" t="t" r="r" b="b"/>
              <a:pathLst>
                <a:path w="2143633" h="512064">
                  <a:moveTo>
                    <a:pt x="0" y="0"/>
                  </a:moveTo>
                  <a:lnTo>
                    <a:pt x="2143633" y="0"/>
                  </a:lnTo>
                  <a:lnTo>
                    <a:pt x="2143633" y="512064"/>
                  </a:lnTo>
                  <a:lnTo>
                    <a:pt x="0" y="512064"/>
                  </a:lnTo>
                  <a:lnTo>
                    <a:pt x="0" y="0"/>
                  </a:lnTo>
                  <a:close/>
                </a:path>
              </a:pathLst>
            </a:custGeom>
            <a:solidFill>
              <a:srgbClr val="F9F9FF"/>
            </a:solidFill>
          </p:spPr>
        </p:sp>
      </p:grpSp>
      <p:sp>
        <p:nvSpPr>
          <p:cNvPr id="8" name="TextBox 8">
            <a:extLst>
              <a:ext uri="{FF2B5EF4-FFF2-40B4-BE49-F238E27FC236}">
                <a16:creationId xmlns:a16="http://schemas.microsoft.com/office/drawing/2014/main" id="{BA8EB162-B20C-3AD4-4B52-D82C0A3B8730}"/>
              </a:ext>
            </a:extLst>
          </p:cNvPr>
          <p:cNvSpPr txBox="1"/>
          <p:nvPr/>
        </p:nvSpPr>
        <p:spPr>
          <a:xfrm>
            <a:off x="992210" y="845144"/>
            <a:ext cx="16303114" cy="816473"/>
          </a:xfrm>
          <a:prstGeom prst="rect">
            <a:avLst/>
          </a:prstGeom>
        </p:spPr>
        <p:txBody>
          <a:bodyPr lIns="0" tIns="0" rIns="0" bIns="0" rtlCol="0" anchor="t">
            <a:spAutoFit/>
          </a:bodyPr>
          <a:lstStyle/>
          <a:p>
            <a:pPr algn="ctr">
              <a:lnSpc>
                <a:spcPts val="6177"/>
              </a:lnSpc>
            </a:pPr>
            <a:r>
              <a:rPr lang="en-US" sz="4950">
                <a:solidFill>
                  <a:srgbClr val="1B1B27"/>
                </a:solidFill>
                <a:latin typeface="Corben"/>
                <a:ea typeface="Corben"/>
                <a:cs typeface="Corben"/>
                <a:sym typeface="Corben"/>
              </a:rPr>
              <a:t>Key Advantages</a:t>
            </a:r>
          </a:p>
        </p:txBody>
      </p:sp>
      <p:sp>
        <p:nvSpPr>
          <p:cNvPr id="9" name="TextBox 9">
            <a:extLst>
              <a:ext uri="{FF2B5EF4-FFF2-40B4-BE49-F238E27FC236}">
                <a16:creationId xmlns:a16="http://schemas.microsoft.com/office/drawing/2014/main" id="{DDC4FE6D-7B06-DFA9-108E-71EEABD8B659}"/>
              </a:ext>
            </a:extLst>
          </p:cNvPr>
          <p:cNvSpPr txBox="1"/>
          <p:nvPr/>
        </p:nvSpPr>
        <p:spPr>
          <a:xfrm>
            <a:off x="1390164" y="2664619"/>
            <a:ext cx="3221898" cy="825703"/>
          </a:xfrm>
          <a:prstGeom prst="rect">
            <a:avLst/>
          </a:prstGeom>
        </p:spPr>
        <p:txBody>
          <a:bodyPr lIns="0" tIns="0" rIns="0" bIns="0" rtlCol="0" anchor="t">
            <a:spAutoFit/>
          </a:bodyPr>
          <a:lstStyle/>
          <a:p>
            <a:pPr algn="l">
              <a:lnSpc>
                <a:spcPts val="3556"/>
              </a:lnSpc>
            </a:pPr>
            <a:r>
              <a:rPr lang="en-US" sz="2850">
                <a:solidFill>
                  <a:srgbClr val="404155"/>
                </a:solidFill>
                <a:latin typeface="Times New Roman"/>
                <a:ea typeface="Times New Roman"/>
                <a:cs typeface="Times New Roman"/>
                <a:sym typeface="Times New Roman"/>
              </a:rPr>
              <a:t>Secure Authentication</a:t>
            </a:r>
          </a:p>
        </p:txBody>
      </p:sp>
      <p:sp>
        <p:nvSpPr>
          <p:cNvPr id="10" name="TextBox 10">
            <a:extLst>
              <a:ext uri="{FF2B5EF4-FFF2-40B4-BE49-F238E27FC236}">
                <a16:creationId xmlns:a16="http://schemas.microsoft.com/office/drawing/2014/main" id="{49DE5898-6F07-92A5-9B24-3F777F4FD173}"/>
              </a:ext>
            </a:extLst>
          </p:cNvPr>
          <p:cNvSpPr txBox="1"/>
          <p:nvPr/>
        </p:nvSpPr>
        <p:spPr>
          <a:xfrm>
            <a:off x="1390164" y="3295679"/>
            <a:ext cx="3221898" cy="1637109"/>
          </a:xfrm>
          <a:prstGeom prst="rect">
            <a:avLst/>
          </a:prstGeom>
        </p:spPr>
        <p:txBody>
          <a:bodyPr lIns="0" tIns="0" rIns="0" bIns="0" rtlCol="0" anchor="t">
            <a:spAutoFit/>
          </a:bodyPr>
          <a:lstStyle/>
          <a:p>
            <a:pPr algn="l">
              <a:lnSpc>
                <a:spcPts val="3429"/>
              </a:lnSpc>
            </a:pPr>
            <a:r>
              <a:rPr lang="en-US" sz="2250">
                <a:solidFill>
                  <a:srgbClr val="404155"/>
                </a:solidFill>
                <a:latin typeface="Times New Roman"/>
                <a:ea typeface="Times New Roman"/>
                <a:cs typeface="Times New Roman"/>
                <a:sym typeface="Times New Roman"/>
              </a:rPr>
              <a:t>Firebase Auth provides secure sign-in flows and role separation between researchers and admins.</a:t>
            </a:r>
          </a:p>
        </p:txBody>
      </p:sp>
      <p:sp>
        <p:nvSpPr>
          <p:cNvPr id="11" name="TextBox 11">
            <a:extLst>
              <a:ext uri="{FF2B5EF4-FFF2-40B4-BE49-F238E27FC236}">
                <a16:creationId xmlns:a16="http://schemas.microsoft.com/office/drawing/2014/main" id="{AE327B65-EBD8-B80F-8FDB-A0786BD5E739}"/>
              </a:ext>
            </a:extLst>
          </p:cNvPr>
          <p:cNvSpPr txBox="1"/>
          <p:nvPr/>
        </p:nvSpPr>
        <p:spPr>
          <a:xfrm>
            <a:off x="5523319" y="2664619"/>
            <a:ext cx="3221898" cy="427139"/>
          </a:xfrm>
          <a:prstGeom prst="rect">
            <a:avLst/>
          </a:prstGeom>
        </p:spPr>
        <p:txBody>
          <a:bodyPr lIns="0" tIns="0" rIns="0" bIns="0" rtlCol="0" anchor="t">
            <a:spAutoFit/>
          </a:bodyPr>
          <a:lstStyle/>
          <a:p>
            <a:pPr algn="l">
              <a:lnSpc>
                <a:spcPts val="3556"/>
              </a:lnSpc>
            </a:pPr>
            <a:r>
              <a:rPr lang="en-US" sz="2850">
                <a:solidFill>
                  <a:srgbClr val="404155"/>
                </a:solidFill>
                <a:latin typeface="Times New Roman"/>
                <a:ea typeface="Times New Roman"/>
                <a:cs typeface="Times New Roman"/>
                <a:sym typeface="Times New Roman"/>
              </a:rPr>
              <a:t>Clear Role Separation</a:t>
            </a:r>
          </a:p>
        </p:txBody>
      </p:sp>
      <p:sp>
        <p:nvSpPr>
          <p:cNvPr id="12" name="TextBox 12">
            <a:extLst>
              <a:ext uri="{FF2B5EF4-FFF2-40B4-BE49-F238E27FC236}">
                <a16:creationId xmlns:a16="http://schemas.microsoft.com/office/drawing/2014/main" id="{3D23BDE2-5567-2364-F38C-50AF556FD95B}"/>
              </a:ext>
            </a:extLst>
          </p:cNvPr>
          <p:cNvSpPr txBox="1"/>
          <p:nvPr/>
        </p:nvSpPr>
        <p:spPr>
          <a:xfrm>
            <a:off x="5523319" y="3268789"/>
            <a:ext cx="3221898" cy="2024958"/>
          </a:xfrm>
          <a:prstGeom prst="rect">
            <a:avLst/>
          </a:prstGeom>
        </p:spPr>
        <p:txBody>
          <a:bodyPr lIns="0" tIns="0" rIns="0" bIns="0" rtlCol="0" anchor="t">
            <a:spAutoFit/>
          </a:bodyPr>
          <a:lstStyle/>
          <a:p>
            <a:pPr algn="l">
              <a:lnSpc>
                <a:spcPts val="3429"/>
              </a:lnSpc>
            </a:pPr>
            <a:r>
              <a:rPr lang="en-US" sz="2250">
                <a:solidFill>
                  <a:srgbClr val="404155"/>
                </a:solidFill>
                <a:latin typeface="Times New Roman"/>
                <a:ea typeface="Times New Roman"/>
                <a:cs typeface="Times New Roman"/>
                <a:sym typeface="Times New Roman"/>
              </a:rPr>
              <a:t>Distinct researcher and admin dashboards reduce accidental privilege escalation and simplify workflows.</a:t>
            </a:r>
          </a:p>
        </p:txBody>
      </p:sp>
      <p:sp>
        <p:nvSpPr>
          <p:cNvPr id="13" name="TextBox 13">
            <a:extLst>
              <a:ext uri="{FF2B5EF4-FFF2-40B4-BE49-F238E27FC236}">
                <a16:creationId xmlns:a16="http://schemas.microsoft.com/office/drawing/2014/main" id="{25E5B332-8ED8-3B6B-07CD-AACE5CFE5C65}"/>
              </a:ext>
            </a:extLst>
          </p:cNvPr>
          <p:cNvSpPr txBox="1"/>
          <p:nvPr/>
        </p:nvSpPr>
        <p:spPr>
          <a:xfrm>
            <a:off x="9656474" y="2664619"/>
            <a:ext cx="3221898" cy="427139"/>
          </a:xfrm>
          <a:prstGeom prst="rect">
            <a:avLst/>
          </a:prstGeom>
        </p:spPr>
        <p:txBody>
          <a:bodyPr lIns="0" tIns="0" rIns="0" bIns="0" rtlCol="0" anchor="t">
            <a:spAutoFit/>
          </a:bodyPr>
          <a:lstStyle/>
          <a:p>
            <a:pPr algn="l">
              <a:lnSpc>
                <a:spcPts val="3556"/>
              </a:lnSpc>
            </a:pPr>
            <a:r>
              <a:rPr lang="en-US" sz="2850">
                <a:solidFill>
                  <a:srgbClr val="404155"/>
                </a:solidFill>
                <a:latin typeface="Times New Roman"/>
                <a:ea typeface="Times New Roman"/>
                <a:cs typeface="Times New Roman"/>
                <a:sym typeface="Times New Roman"/>
              </a:rPr>
              <a:t>Controlled Access</a:t>
            </a:r>
          </a:p>
        </p:txBody>
      </p:sp>
      <p:sp>
        <p:nvSpPr>
          <p:cNvPr id="14" name="TextBox 14">
            <a:extLst>
              <a:ext uri="{FF2B5EF4-FFF2-40B4-BE49-F238E27FC236}">
                <a16:creationId xmlns:a16="http://schemas.microsoft.com/office/drawing/2014/main" id="{EF800C20-58AD-2654-EF37-956EF51EB569}"/>
              </a:ext>
            </a:extLst>
          </p:cNvPr>
          <p:cNvSpPr txBox="1"/>
          <p:nvPr/>
        </p:nvSpPr>
        <p:spPr>
          <a:xfrm>
            <a:off x="9656474" y="3262798"/>
            <a:ext cx="3221898" cy="2024958"/>
          </a:xfrm>
          <a:prstGeom prst="rect">
            <a:avLst/>
          </a:prstGeom>
        </p:spPr>
        <p:txBody>
          <a:bodyPr lIns="0" tIns="0" rIns="0" bIns="0" rtlCol="0" anchor="t">
            <a:spAutoFit/>
          </a:bodyPr>
          <a:lstStyle/>
          <a:p>
            <a:pPr algn="l">
              <a:lnSpc>
                <a:spcPts val="3429"/>
              </a:lnSpc>
            </a:pPr>
            <a:r>
              <a:rPr lang="en-US" sz="2250">
                <a:solidFill>
                  <a:srgbClr val="404155"/>
                </a:solidFill>
                <a:latin typeface="Times New Roman"/>
                <a:ea typeface="Times New Roman"/>
                <a:cs typeface="Times New Roman"/>
                <a:sym typeface="Times New Roman"/>
              </a:rPr>
              <a:t>Admins approve restricted datasets and individual access requests to enforce compliance and provenance.</a:t>
            </a:r>
          </a:p>
        </p:txBody>
      </p:sp>
      <p:sp>
        <p:nvSpPr>
          <p:cNvPr id="15" name="TextBox 15">
            <a:extLst>
              <a:ext uri="{FF2B5EF4-FFF2-40B4-BE49-F238E27FC236}">
                <a16:creationId xmlns:a16="http://schemas.microsoft.com/office/drawing/2014/main" id="{C38E0FFC-F75E-38F7-E55E-D1FC9653C9C7}"/>
              </a:ext>
            </a:extLst>
          </p:cNvPr>
          <p:cNvSpPr txBox="1"/>
          <p:nvPr/>
        </p:nvSpPr>
        <p:spPr>
          <a:xfrm>
            <a:off x="13789619" y="2664619"/>
            <a:ext cx="3222050" cy="825703"/>
          </a:xfrm>
          <a:prstGeom prst="rect">
            <a:avLst/>
          </a:prstGeom>
        </p:spPr>
        <p:txBody>
          <a:bodyPr lIns="0" tIns="0" rIns="0" bIns="0" rtlCol="0" anchor="t">
            <a:spAutoFit/>
          </a:bodyPr>
          <a:lstStyle/>
          <a:p>
            <a:pPr algn="l">
              <a:lnSpc>
                <a:spcPts val="3556"/>
              </a:lnSpc>
            </a:pPr>
            <a:r>
              <a:rPr lang="en-US" sz="2850">
                <a:solidFill>
                  <a:srgbClr val="404155"/>
                </a:solidFill>
                <a:latin typeface="Times New Roman"/>
                <a:ea typeface="Times New Roman"/>
                <a:cs typeface="Times New Roman"/>
                <a:sym typeface="Times New Roman"/>
              </a:rPr>
              <a:t>Submission Governance</a:t>
            </a:r>
          </a:p>
        </p:txBody>
      </p:sp>
      <p:sp>
        <p:nvSpPr>
          <p:cNvPr id="16" name="TextBox 16">
            <a:extLst>
              <a:ext uri="{FF2B5EF4-FFF2-40B4-BE49-F238E27FC236}">
                <a16:creationId xmlns:a16="http://schemas.microsoft.com/office/drawing/2014/main" id="{BB39A4EA-8E6F-4F39-88DD-C496486679C5}"/>
              </a:ext>
            </a:extLst>
          </p:cNvPr>
          <p:cNvSpPr txBox="1"/>
          <p:nvPr/>
        </p:nvSpPr>
        <p:spPr>
          <a:xfrm>
            <a:off x="13789619" y="3475015"/>
            <a:ext cx="3222050" cy="2024958"/>
          </a:xfrm>
          <a:prstGeom prst="rect">
            <a:avLst/>
          </a:prstGeom>
        </p:spPr>
        <p:txBody>
          <a:bodyPr lIns="0" tIns="0" rIns="0" bIns="0" rtlCol="0" anchor="t">
            <a:spAutoFit/>
          </a:bodyPr>
          <a:lstStyle/>
          <a:p>
            <a:pPr algn="l">
              <a:lnSpc>
                <a:spcPts val="3429"/>
              </a:lnSpc>
            </a:pPr>
            <a:r>
              <a:rPr lang="en-US" sz="2250">
                <a:solidFill>
                  <a:srgbClr val="404155"/>
                </a:solidFill>
                <a:latin typeface="Times New Roman"/>
                <a:ea typeface="Times New Roman"/>
                <a:cs typeface="Times New Roman"/>
                <a:sym typeface="Times New Roman"/>
              </a:rPr>
              <a:t>Dataset approval process, visibility controls, and duplicate detection ensure data quality before publication.</a:t>
            </a:r>
          </a:p>
        </p:txBody>
      </p:sp>
      <p:sp>
        <p:nvSpPr>
          <p:cNvPr id="17" name="TextBox 17">
            <a:extLst>
              <a:ext uri="{FF2B5EF4-FFF2-40B4-BE49-F238E27FC236}">
                <a16:creationId xmlns:a16="http://schemas.microsoft.com/office/drawing/2014/main" id="{B9F0AF64-9937-0DF7-18EF-7AACFACF500B}"/>
              </a:ext>
            </a:extLst>
          </p:cNvPr>
          <p:cNvSpPr txBox="1"/>
          <p:nvPr/>
        </p:nvSpPr>
        <p:spPr>
          <a:xfrm>
            <a:off x="1390164" y="6335611"/>
            <a:ext cx="3221898" cy="825703"/>
          </a:xfrm>
          <a:prstGeom prst="rect">
            <a:avLst/>
          </a:prstGeom>
        </p:spPr>
        <p:txBody>
          <a:bodyPr lIns="0" tIns="0" rIns="0" bIns="0" rtlCol="0" anchor="t">
            <a:spAutoFit/>
          </a:bodyPr>
          <a:lstStyle/>
          <a:p>
            <a:pPr algn="l">
              <a:lnSpc>
                <a:spcPts val="3556"/>
              </a:lnSpc>
            </a:pPr>
            <a:r>
              <a:rPr lang="en-US" sz="2850">
                <a:solidFill>
                  <a:srgbClr val="404155"/>
                </a:solidFill>
                <a:latin typeface="Times New Roman"/>
                <a:ea typeface="Times New Roman"/>
                <a:cs typeface="Times New Roman"/>
                <a:sym typeface="Times New Roman"/>
              </a:rPr>
              <a:t>Cloud-native &amp; Scalable</a:t>
            </a:r>
          </a:p>
        </p:txBody>
      </p:sp>
      <p:sp>
        <p:nvSpPr>
          <p:cNvPr id="18" name="TextBox 18">
            <a:extLst>
              <a:ext uri="{FF2B5EF4-FFF2-40B4-BE49-F238E27FC236}">
                <a16:creationId xmlns:a16="http://schemas.microsoft.com/office/drawing/2014/main" id="{1ED4022F-D2CB-83DA-9363-C7BB1B4D3A9D}"/>
              </a:ext>
            </a:extLst>
          </p:cNvPr>
          <p:cNvSpPr txBox="1"/>
          <p:nvPr/>
        </p:nvSpPr>
        <p:spPr>
          <a:xfrm>
            <a:off x="1390164" y="7213254"/>
            <a:ext cx="3221898" cy="1637109"/>
          </a:xfrm>
          <a:prstGeom prst="rect">
            <a:avLst/>
          </a:prstGeom>
        </p:spPr>
        <p:txBody>
          <a:bodyPr lIns="0" tIns="0" rIns="0" bIns="0" rtlCol="0" anchor="t">
            <a:spAutoFit/>
          </a:bodyPr>
          <a:lstStyle/>
          <a:p>
            <a:pPr algn="l">
              <a:lnSpc>
                <a:spcPts val="3429"/>
              </a:lnSpc>
            </a:pPr>
            <a:r>
              <a:rPr lang="en-US" sz="2250">
                <a:solidFill>
                  <a:srgbClr val="404155"/>
                </a:solidFill>
                <a:latin typeface="Times New Roman"/>
                <a:ea typeface="Times New Roman"/>
                <a:cs typeface="Times New Roman"/>
                <a:sym typeface="Times New Roman"/>
              </a:rPr>
              <a:t>Firestore and serverless hosting enable horizontal scaling and low operational overhead.</a:t>
            </a:r>
          </a:p>
        </p:txBody>
      </p:sp>
      <p:grpSp>
        <p:nvGrpSpPr>
          <p:cNvPr id="19" name="Group 19">
            <a:extLst>
              <a:ext uri="{FF2B5EF4-FFF2-40B4-BE49-F238E27FC236}">
                <a16:creationId xmlns:a16="http://schemas.microsoft.com/office/drawing/2014/main" id="{0AFFDB53-AF66-C15D-5801-3ADB3168890C}"/>
              </a:ext>
            </a:extLst>
          </p:cNvPr>
          <p:cNvGrpSpPr/>
          <p:nvPr/>
        </p:nvGrpSpPr>
        <p:grpSpPr>
          <a:xfrm>
            <a:off x="289541" y="354149"/>
            <a:ext cx="1579493" cy="1498616"/>
            <a:chOff x="0" y="0"/>
            <a:chExt cx="2105990" cy="1998154"/>
          </a:xfrm>
        </p:grpSpPr>
        <p:sp>
          <p:nvSpPr>
            <p:cNvPr id="20" name="Freeform 20" descr="logo 2.png">
              <a:extLst>
                <a:ext uri="{FF2B5EF4-FFF2-40B4-BE49-F238E27FC236}">
                  <a16:creationId xmlns:a16="http://schemas.microsoft.com/office/drawing/2014/main" id="{D054D5EE-9FC2-F14E-BC65-C213026CD2A0}"/>
                </a:ext>
              </a:extLst>
            </p:cNvPr>
            <p:cNvSpPr/>
            <p:nvPr/>
          </p:nvSpPr>
          <p:spPr>
            <a:xfrm>
              <a:off x="0" y="0"/>
              <a:ext cx="2106041" cy="1998218"/>
            </a:xfrm>
            <a:custGeom>
              <a:avLst/>
              <a:gdLst/>
              <a:ahLst/>
              <a:cxnLst/>
              <a:rect l="l" t="t" r="r" b="b"/>
              <a:pathLst>
                <a:path w="2106041" h="1998218">
                  <a:moveTo>
                    <a:pt x="0" y="0"/>
                  </a:moveTo>
                  <a:lnTo>
                    <a:pt x="2106041" y="0"/>
                  </a:lnTo>
                  <a:lnTo>
                    <a:pt x="2106041" y="1998218"/>
                  </a:lnTo>
                  <a:lnTo>
                    <a:pt x="0" y="1998218"/>
                  </a:lnTo>
                  <a:lnTo>
                    <a:pt x="0" y="0"/>
                  </a:lnTo>
                  <a:close/>
                </a:path>
              </a:pathLst>
            </a:custGeom>
            <a:blipFill>
              <a:blip r:embed="rId5"/>
              <a:stretch>
                <a:fillRect t="-140" r="2" b="-136"/>
              </a:stretch>
            </a:blipFill>
          </p:spPr>
        </p:sp>
      </p:grpSp>
      <p:grpSp>
        <p:nvGrpSpPr>
          <p:cNvPr id="21" name="Group 21">
            <a:extLst>
              <a:ext uri="{FF2B5EF4-FFF2-40B4-BE49-F238E27FC236}">
                <a16:creationId xmlns:a16="http://schemas.microsoft.com/office/drawing/2014/main" id="{AB19A718-B66C-D956-34FE-5C303F231B69}"/>
              </a:ext>
            </a:extLst>
          </p:cNvPr>
          <p:cNvGrpSpPr/>
          <p:nvPr/>
        </p:nvGrpSpPr>
        <p:grpSpPr>
          <a:xfrm>
            <a:off x="16028651" y="237582"/>
            <a:ext cx="1570482" cy="1706528"/>
            <a:chOff x="0" y="0"/>
            <a:chExt cx="2093976" cy="2275370"/>
          </a:xfrm>
        </p:grpSpPr>
        <p:sp>
          <p:nvSpPr>
            <p:cNvPr id="22" name="Freeform 22" descr="logo3.png">
              <a:extLst>
                <a:ext uri="{FF2B5EF4-FFF2-40B4-BE49-F238E27FC236}">
                  <a16:creationId xmlns:a16="http://schemas.microsoft.com/office/drawing/2014/main" id="{047B1C06-08A8-51C8-480D-FF4DA017C4EC}"/>
                </a:ext>
              </a:extLst>
            </p:cNvPr>
            <p:cNvSpPr/>
            <p:nvPr/>
          </p:nvSpPr>
          <p:spPr>
            <a:xfrm>
              <a:off x="0" y="0"/>
              <a:ext cx="2093976" cy="2275332"/>
            </a:xfrm>
            <a:custGeom>
              <a:avLst/>
              <a:gdLst/>
              <a:ahLst/>
              <a:cxnLst/>
              <a:rect l="l" t="t" r="r" b="b"/>
              <a:pathLst>
                <a:path w="2093976" h="2275332">
                  <a:moveTo>
                    <a:pt x="0" y="0"/>
                  </a:moveTo>
                  <a:lnTo>
                    <a:pt x="2093976" y="0"/>
                  </a:lnTo>
                  <a:lnTo>
                    <a:pt x="2093976" y="2275332"/>
                  </a:lnTo>
                  <a:lnTo>
                    <a:pt x="0" y="2275332"/>
                  </a:lnTo>
                  <a:lnTo>
                    <a:pt x="0" y="0"/>
                  </a:lnTo>
                  <a:close/>
                </a:path>
              </a:pathLst>
            </a:custGeom>
            <a:blipFill>
              <a:blip r:embed="rId6"/>
              <a:stretch>
                <a:fillRect t="-30" b="-32"/>
              </a:stretch>
            </a:blipFill>
          </p:spPr>
        </p:sp>
      </p:grpSp>
    </p:spTree>
    <p:extLst>
      <p:ext uri="{BB962C8B-B14F-4D97-AF65-F5344CB8AC3E}">
        <p14:creationId xmlns:p14="http://schemas.microsoft.com/office/powerpoint/2010/main" val="3668342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7543" cy="10287000"/>
            <a:chOff x="0" y="0"/>
            <a:chExt cx="24383390" cy="13716000"/>
          </a:xfrm>
        </p:grpSpPr>
        <p:sp>
          <p:nvSpPr>
            <p:cNvPr id="3" name="Freeform 3" descr="preencoded.png"/>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lnTo>
                    <a:pt x="0" y="0"/>
                  </a:lnTo>
                  <a:close/>
                </a:path>
              </a:pathLst>
            </a:custGeom>
            <a:blipFill>
              <a:blip r:embed="rId3"/>
              <a:stretch>
                <a:fillRect l="-1" r="-1"/>
              </a:stretch>
            </a:blipFill>
          </p:spPr>
        </p:sp>
      </p:grpSp>
      <p:grpSp>
        <p:nvGrpSpPr>
          <p:cNvPr id="4" name="Group 4"/>
          <p:cNvGrpSpPr/>
          <p:nvPr/>
        </p:nvGrpSpPr>
        <p:grpSpPr>
          <a:xfrm>
            <a:off x="0" y="0"/>
            <a:ext cx="18287543" cy="10287000"/>
            <a:chOff x="0" y="0"/>
            <a:chExt cx="24383390" cy="13716000"/>
          </a:xfrm>
        </p:grpSpPr>
        <p:sp>
          <p:nvSpPr>
            <p:cNvPr id="5" name="Freeform 5"/>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close/>
                </a:path>
              </a:pathLst>
            </a:custGeom>
            <a:solidFill>
              <a:srgbClr val="F9F9FF">
                <a:alpha val="90196"/>
              </a:srgbClr>
            </a:solidFill>
          </p:spPr>
        </p:sp>
      </p:grpSp>
      <p:grpSp>
        <p:nvGrpSpPr>
          <p:cNvPr id="6" name="Group 6"/>
          <p:cNvGrpSpPr/>
          <p:nvPr/>
        </p:nvGrpSpPr>
        <p:grpSpPr>
          <a:xfrm>
            <a:off x="16615315" y="9838487"/>
            <a:ext cx="1607763" cy="384048"/>
            <a:chOff x="0" y="0"/>
            <a:chExt cx="2143684" cy="512064"/>
          </a:xfrm>
        </p:grpSpPr>
        <p:sp>
          <p:nvSpPr>
            <p:cNvPr id="7" name="Freeform 7" descr="preencoded.png">
              <a:hlinkClick r:id="rId4" tooltip="https://gamma.app/?utm_source=made-with-gamma"/>
            </p:cNvPr>
            <p:cNvSpPr/>
            <p:nvPr/>
          </p:nvSpPr>
          <p:spPr>
            <a:xfrm>
              <a:off x="0" y="0"/>
              <a:ext cx="2143633" cy="512064"/>
            </a:xfrm>
            <a:custGeom>
              <a:avLst/>
              <a:gdLst/>
              <a:ahLst/>
              <a:cxnLst/>
              <a:rect l="l" t="t" r="r" b="b"/>
              <a:pathLst>
                <a:path w="2143633" h="512064">
                  <a:moveTo>
                    <a:pt x="0" y="0"/>
                  </a:moveTo>
                  <a:lnTo>
                    <a:pt x="2143633" y="0"/>
                  </a:lnTo>
                  <a:lnTo>
                    <a:pt x="2143633" y="512064"/>
                  </a:lnTo>
                  <a:lnTo>
                    <a:pt x="0" y="512064"/>
                  </a:lnTo>
                  <a:lnTo>
                    <a:pt x="0" y="0"/>
                  </a:lnTo>
                  <a:close/>
                </a:path>
              </a:pathLst>
            </a:custGeom>
            <a:solidFill>
              <a:srgbClr val="F9F9FF"/>
            </a:solidFill>
          </p:spPr>
        </p:sp>
      </p:grpSp>
      <p:sp>
        <p:nvSpPr>
          <p:cNvPr id="8" name="TextBox 8"/>
          <p:cNvSpPr txBox="1"/>
          <p:nvPr/>
        </p:nvSpPr>
        <p:spPr>
          <a:xfrm>
            <a:off x="992210" y="1145743"/>
            <a:ext cx="16303114" cy="914552"/>
          </a:xfrm>
          <a:prstGeom prst="rect">
            <a:avLst/>
          </a:prstGeom>
        </p:spPr>
        <p:txBody>
          <a:bodyPr lIns="0" tIns="0" rIns="0" bIns="0" rtlCol="0" anchor="t">
            <a:spAutoFit/>
          </a:bodyPr>
          <a:lstStyle/>
          <a:p>
            <a:pPr algn="ctr">
              <a:lnSpc>
                <a:spcPts val="6926"/>
              </a:lnSpc>
            </a:pPr>
            <a:r>
              <a:rPr lang="en-US" sz="5550" dirty="0">
                <a:solidFill>
                  <a:srgbClr val="1B1B27"/>
                </a:solidFill>
                <a:latin typeface="Corben"/>
                <a:ea typeface="Corben"/>
                <a:cs typeface="Corben"/>
                <a:sym typeface="Corben"/>
              </a:rPr>
              <a:t>Operational Considerations</a:t>
            </a:r>
          </a:p>
        </p:txBody>
      </p:sp>
      <p:grpSp>
        <p:nvGrpSpPr>
          <p:cNvPr id="9" name="Group 9"/>
          <p:cNvGrpSpPr/>
          <p:nvPr/>
        </p:nvGrpSpPr>
        <p:grpSpPr>
          <a:xfrm>
            <a:off x="992210" y="3333750"/>
            <a:ext cx="567023" cy="354359"/>
            <a:chOff x="0" y="0"/>
            <a:chExt cx="756031" cy="472478"/>
          </a:xfrm>
        </p:grpSpPr>
        <p:sp>
          <p:nvSpPr>
            <p:cNvPr id="10" name="Freeform 10"/>
            <p:cNvSpPr/>
            <p:nvPr/>
          </p:nvSpPr>
          <p:spPr>
            <a:xfrm>
              <a:off x="0" y="0"/>
              <a:ext cx="756028" cy="472480"/>
            </a:xfrm>
            <a:custGeom>
              <a:avLst/>
              <a:gdLst/>
              <a:ahLst/>
              <a:cxnLst/>
              <a:rect l="l" t="t" r="r" b="b"/>
              <a:pathLst>
                <a:path w="756028" h="472480">
                  <a:moveTo>
                    <a:pt x="0" y="0"/>
                  </a:moveTo>
                  <a:lnTo>
                    <a:pt x="756028" y="0"/>
                  </a:lnTo>
                  <a:lnTo>
                    <a:pt x="756028" y="472480"/>
                  </a:lnTo>
                  <a:lnTo>
                    <a:pt x="0" y="472480"/>
                  </a:lnTo>
                  <a:close/>
                </a:path>
              </a:pathLst>
            </a:custGeom>
            <a:blipFill>
              <a:blip r:embed="rId5">
                <a:alphaModFix amt="0"/>
              </a:blip>
              <a:stretch>
                <a:fillRect l="-30182" r="-30183"/>
              </a:stretch>
            </a:blipFill>
          </p:spPr>
        </p:sp>
        <p:sp>
          <p:nvSpPr>
            <p:cNvPr id="11" name="TextBox 11"/>
            <p:cNvSpPr txBox="1"/>
            <p:nvPr/>
          </p:nvSpPr>
          <p:spPr>
            <a:xfrm>
              <a:off x="0" y="0"/>
              <a:ext cx="756031" cy="472478"/>
            </a:xfrm>
            <a:prstGeom prst="rect">
              <a:avLst/>
            </a:prstGeom>
          </p:spPr>
          <p:txBody>
            <a:bodyPr lIns="0" tIns="0" rIns="0" bIns="0" rtlCol="0" anchor="ctr"/>
            <a:lstStyle/>
            <a:p>
              <a:pPr algn="l">
                <a:lnSpc>
                  <a:spcPts val="2610"/>
                </a:lnSpc>
              </a:pPr>
              <a:r>
                <a:rPr lang="en-US" sz="2175">
                  <a:solidFill>
                    <a:srgbClr val="404155"/>
                  </a:solidFill>
                  <a:latin typeface="Corben"/>
                  <a:ea typeface="Corben"/>
                  <a:cs typeface="Corben"/>
                  <a:sym typeface="Corben"/>
                </a:rPr>
                <a:t>01</a:t>
              </a:r>
            </a:p>
          </p:txBody>
        </p:sp>
      </p:grpSp>
      <p:grpSp>
        <p:nvGrpSpPr>
          <p:cNvPr id="12" name="Group 12"/>
          <p:cNvGrpSpPr/>
          <p:nvPr/>
        </p:nvGrpSpPr>
        <p:grpSpPr>
          <a:xfrm>
            <a:off x="992210" y="3777558"/>
            <a:ext cx="8009734" cy="38100"/>
            <a:chOff x="0" y="0"/>
            <a:chExt cx="10679646" cy="50800"/>
          </a:xfrm>
        </p:grpSpPr>
        <p:sp>
          <p:nvSpPr>
            <p:cNvPr id="13" name="Freeform 13"/>
            <p:cNvSpPr/>
            <p:nvPr/>
          </p:nvSpPr>
          <p:spPr>
            <a:xfrm>
              <a:off x="0" y="0"/>
              <a:ext cx="10679684" cy="50800"/>
            </a:xfrm>
            <a:custGeom>
              <a:avLst/>
              <a:gdLst/>
              <a:ahLst/>
              <a:cxnLst/>
              <a:rect l="l" t="t" r="r" b="b"/>
              <a:pathLst>
                <a:path w="10679684" h="50800">
                  <a:moveTo>
                    <a:pt x="0" y="0"/>
                  </a:moveTo>
                  <a:lnTo>
                    <a:pt x="10679684" y="0"/>
                  </a:lnTo>
                  <a:lnTo>
                    <a:pt x="10679684" y="50800"/>
                  </a:lnTo>
                  <a:lnTo>
                    <a:pt x="0" y="50800"/>
                  </a:lnTo>
                  <a:close/>
                </a:path>
              </a:pathLst>
            </a:custGeom>
            <a:solidFill>
              <a:srgbClr val="4967E9"/>
            </a:solidFill>
          </p:spPr>
        </p:sp>
      </p:grpSp>
      <p:sp>
        <p:nvSpPr>
          <p:cNvPr id="14" name="TextBox 14"/>
          <p:cNvSpPr txBox="1"/>
          <p:nvPr/>
        </p:nvSpPr>
        <p:spPr>
          <a:xfrm>
            <a:off x="992210" y="3957342"/>
            <a:ext cx="8009734" cy="481012"/>
          </a:xfrm>
          <a:prstGeom prst="rect">
            <a:avLst/>
          </a:prstGeom>
        </p:spPr>
        <p:txBody>
          <a:bodyPr lIns="0" tIns="0" rIns="0" bIns="0" rtlCol="0" anchor="t">
            <a:spAutoFit/>
          </a:bodyPr>
          <a:lstStyle/>
          <a:p>
            <a:pPr algn="l">
              <a:lnSpc>
                <a:spcPts val="4492"/>
              </a:lnSpc>
            </a:pPr>
            <a:r>
              <a:rPr lang="en-US" sz="3600">
                <a:solidFill>
                  <a:srgbClr val="404155"/>
                </a:solidFill>
                <a:latin typeface="Times New Roman"/>
                <a:ea typeface="Times New Roman"/>
                <a:cs typeface="Times New Roman"/>
                <a:sym typeface="Times New Roman"/>
              </a:rPr>
              <a:t>Access &amp; Security</a:t>
            </a:r>
          </a:p>
        </p:txBody>
      </p:sp>
      <p:sp>
        <p:nvSpPr>
          <p:cNvPr id="15" name="TextBox 15"/>
          <p:cNvSpPr txBox="1"/>
          <p:nvPr/>
        </p:nvSpPr>
        <p:spPr>
          <a:xfrm>
            <a:off x="992210" y="4541787"/>
            <a:ext cx="8009734" cy="973931"/>
          </a:xfrm>
          <a:prstGeom prst="rect">
            <a:avLst/>
          </a:prstGeom>
        </p:spPr>
        <p:txBody>
          <a:bodyPr lIns="0" tIns="0" rIns="0" bIns="0" rtlCol="0" anchor="t">
            <a:spAutoFit/>
          </a:bodyPr>
          <a:lstStyle/>
          <a:p>
            <a:pPr algn="l">
              <a:lnSpc>
                <a:spcPts val="3447"/>
              </a:lnSpc>
            </a:pPr>
            <a:r>
              <a:rPr lang="en-US" sz="2400">
                <a:solidFill>
                  <a:srgbClr val="404155"/>
                </a:solidFill>
                <a:latin typeface="Times New Roman"/>
                <a:ea typeface="Times New Roman"/>
                <a:cs typeface="Times New Roman"/>
                <a:sym typeface="Times New Roman"/>
              </a:rPr>
              <a:t>Implement strict role-based rules in Firestore security rules and regular duplicate/security audits.</a:t>
            </a:r>
          </a:p>
        </p:txBody>
      </p:sp>
      <p:grpSp>
        <p:nvGrpSpPr>
          <p:cNvPr id="16" name="Group 16"/>
          <p:cNvGrpSpPr/>
          <p:nvPr/>
        </p:nvGrpSpPr>
        <p:grpSpPr>
          <a:xfrm>
            <a:off x="9285456" y="3333750"/>
            <a:ext cx="567023" cy="354359"/>
            <a:chOff x="0" y="0"/>
            <a:chExt cx="756031" cy="472478"/>
          </a:xfrm>
        </p:grpSpPr>
        <p:sp>
          <p:nvSpPr>
            <p:cNvPr id="17" name="Freeform 17"/>
            <p:cNvSpPr/>
            <p:nvPr/>
          </p:nvSpPr>
          <p:spPr>
            <a:xfrm>
              <a:off x="0" y="0"/>
              <a:ext cx="756028" cy="472480"/>
            </a:xfrm>
            <a:custGeom>
              <a:avLst/>
              <a:gdLst/>
              <a:ahLst/>
              <a:cxnLst/>
              <a:rect l="l" t="t" r="r" b="b"/>
              <a:pathLst>
                <a:path w="756028" h="472480">
                  <a:moveTo>
                    <a:pt x="0" y="0"/>
                  </a:moveTo>
                  <a:lnTo>
                    <a:pt x="756028" y="0"/>
                  </a:lnTo>
                  <a:lnTo>
                    <a:pt x="756028" y="472480"/>
                  </a:lnTo>
                  <a:lnTo>
                    <a:pt x="0" y="472480"/>
                  </a:lnTo>
                  <a:close/>
                </a:path>
              </a:pathLst>
            </a:custGeom>
            <a:blipFill>
              <a:blip r:embed="rId5">
                <a:alphaModFix amt="0"/>
              </a:blip>
              <a:stretch>
                <a:fillRect l="-30182" r="-30183"/>
              </a:stretch>
            </a:blipFill>
          </p:spPr>
        </p:sp>
        <p:sp>
          <p:nvSpPr>
            <p:cNvPr id="18" name="TextBox 18"/>
            <p:cNvSpPr txBox="1"/>
            <p:nvPr/>
          </p:nvSpPr>
          <p:spPr>
            <a:xfrm>
              <a:off x="0" y="0"/>
              <a:ext cx="756031" cy="472478"/>
            </a:xfrm>
            <a:prstGeom prst="rect">
              <a:avLst/>
            </a:prstGeom>
          </p:spPr>
          <p:txBody>
            <a:bodyPr lIns="0" tIns="0" rIns="0" bIns="0" rtlCol="0" anchor="ctr"/>
            <a:lstStyle/>
            <a:p>
              <a:pPr algn="l">
                <a:lnSpc>
                  <a:spcPts val="2610"/>
                </a:lnSpc>
              </a:pPr>
              <a:r>
                <a:rPr lang="en-US" sz="2175">
                  <a:solidFill>
                    <a:srgbClr val="404155"/>
                  </a:solidFill>
                  <a:latin typeface="Corben"/>
                  <a:ea typeface="Corben"/>
                  <a:cs typeface="Corben"/>
                  <a:sym typeface="Corben"/>
                </a:rPr>
                <a:t>02</a:t>
              </a:r>
            </a:p>
          </p:txBody>
        </p:sp>
      </p:grpSp>
      <p:grpSp>
        <p:nvGrpSpPr>
          <p:cNvPr id="19" name="Group 19"/>
          <p:cNvGrpSpPr/>
          <p:nvPr/>
        </p:nvGrpSpPr>
        <p:grpSpPr>
          <a:xfrm>
            <a:off x="9285456" y="3777558"/>
            <a:ext cx="8009877" cy="38100"/>
            <a:chOff x="0" y="0"/>
            <a:chExt cx="10679836" cy="50800"/>
          </a:xfrm>
        </p:grpSpPr>
        <p:sp>
          <p:nvSpPr>
            <p:cNvPr id="20" name="Freeform 20"/>
            <p:cNvSpPr/>
            <p:nvPr/>
          </p:nvSpPr>
          <p:spPr>
            <a:xfrm>
              <a:off x="0" y="0"/>
              <a:ext cx="10679811" cy="50800"/>
            </a:xfrm>
            <a:custGeom>
              <a:avLst/>
              <a:gdLst/>
              <a:ahLst/>
              <a:cxnLst/>
              <a:rect l="l" t="t" r="r" b="b"/>
              <a:pathLst>
                <a:path w="10679811" h="50800">
                  <a:moveTo>
                    <a:pt x="0" y="0"/>
                  </a:moveTo>
                  <a:lnTo>
                    <a:pt x="10679811" y="0"/>
                  </a:lnTo>
                  <a:lnTo>
                    <a:pt x="10679811" y="50800"/>
                  </a:lnTo>
                  <a:lnTo>
                    <a:pt x="0" y="50800"/>
                  </a:lnTo>
                  <a:close/>
                </a:path>
              </a:pathLst>
            </a:custGeom>
            <a:solidFill>
              <a:srgbClr val="4967E9"/>
            </a:solidFill>
          </p:spPr>
        </p:sp>
      </p:grpSp>
      <p:sp>
        <p:nvSpPr>
          <p:cNvPr id="21" name="TextBox 21"/>
          <p:cNvSpPr txBox="1"/>
          <p:nvPr/>
        </p:nvSpPr>
        <p:spPr>
          <a:xfrm>
            <a:off x="9285456" y="3957342"/>
            <a:ext cx="8009877" cy="481012"/>
          </a:xfrm>
          <a:prstGeom prst="rect">
            <a:avLst/>
          </a:prstGeom>
        </p:spPr>
        <p:txBody>
          <a:bodyPr lIns="0" tIns="0" rIns="0" bIns="0" rtlCol="0" anchor="t">
            <a:spAutoFit/>
          </a:bodyPr>
          <a:lstStyle/>
          <a:p>
            <a:pPr algn="l">
              <a:lnSpc>
                <a:spcPts val="4492"/>
              </a:lnSpc>
            </a:pPr>
            <a:r>
              <a:rPr lang="en-US" sz="3600">
                <a:solidFill>
                  <a:srgbClr val="404155"/>
                </a:solidFill>
                <a:latin typeface="Times New Roman"/>
                <a:ea typeface="Times New Roman"/>
                <a:cs typeface="Times New Roman"/>
                <a:sym typeface="Times New Roman"/>
              </a:rPr>
              <a:t>Data Governance</a:t>
            </a:r>
          </a:p>
        </p:txBody>
      </p:sp>
      <p:sp>
        <p:nvSpPr>
          <p:cNvPr id="22" name="TextBox 22"/>
          <p:cNvSpPr txBox="1"/>
          <p:nvPr/>
        </p:nvSpPr>
        <p:spPr>
          <a:xfrm>
            <a:off x="9285456" y="4541787"/>
            <a:ext cx="8009877" cy="973931"/>
          </a:xfrm>
          <a:prstGeom prst="rect">
            <a:avLst/>
          </a:prstGeom>
        </p:spPr>
        <p:txBody>
          <a:bodyPr lIns="0" tIns="0" rIns="0" bIns="0" rtlCol="0" anchor="t">
            <a:spAutoFit/>
          </a:bodyPr>
          <a:lstStyle/>
          <a:p>
            <a:pPr algn="l">
              <a:lnSpc>
                <a:spcPts val="3447"/>
              </a:lnSpc>
            </a:pPr>
            <a:r>
              <a:rPr lang="en-US" sz="2400">
                <a:solidFill>
                  <a:srgbClr val="404155"/>
                </a:solidFill>
                <a:latin typeface="Times New Roman"/>
                <a:ea typeface="Times New Roman"/>
                <a:cs typeface="Times New Roman"/>
                <a:sym typeface="Times New Roman"/>
              </a:rPr>
              <a:t>Define metadata requirements, approval criteria, and retention policies for datasets.</a:t>
            </a:r>
          </a:p>
        </p:txBody>
      </p:sp>
      <p:grpSp>
        <p:nvGrpSpPr>
          <p:cNvPr id="23" name="Group 23"/>
          <p:cNvGrpSpPr/>
          <p:nvPr/>
        </p:nvGrpSpPr>
        <p:grpSpPr>
          <a:xfrm>
            <a:off x="992210" y="6011761"/>
            <a:ext cx="567023" cy="354359"/>
            <a:chOff x="0" y="0"/>
            <a:chExt cx="756031" cy="472478"/>
          </a:xfrm>
        </p:grpSpPr>
        <p:sp>
          <p:nvSpPr>
            <p:cNvPr id="24" name="Freeform 24"/>
            <p:cNvSpPr/>
            <p:nvPr/>
          </p:nvSpPr>
          <p:spPr>
            <a:xfrm>
              <a:off x="0" y="0"/>
              <a:ext cx="756028" cy="472480"/>
            </a:xfrm>
            <a:custGeom>
              <a:avLst/>
              <a:gdLst/>
              <a:ahLst/>
              <a:cxnLst/>
              <a:rect l="l" t="t" r="r" b="b"/>
              <a:pathLst>
                <a:path w="756028" h="472480">
                  <a:moveTo>
                    <a:pt x="0" y="0"/>
                  </a:moveTo>
                  <a:lnTo>
                    <a:pt x="756028" y="0"/>
                  </a:lnTo>
                  <a:lnTo>
                    <a:pt x="756028" y="472480"/>
                  </a:lnTo>
                  <a:lnTo>
                    <a:pt x="0" y="472480"/>
                  </a:lnTo>
                  <a:close/>
                </a:path>
              </a:pathLst>
            </a:custGeom>
            <a:blipFill>
              <a:blip r:embed="rId5">
                <a:alphaModFix amt="0"/>
              </a:blip>
              <a:stretch>
                <a:fillRect l="-30182" r="-30183"/>
              </a:stretch>
            </a:blipFill>
          </p:spPr>
        </p:sp>
        <p:sp>
          <p:nvSpPr>
            <p:cNvPr id="25" name="TextBox 25"/>
            <p:cNvSpPr txBox="1"/>
            <p:nvPr/>
          </p:nvSpPr>
          <p:spPr>
            <a:xfrm>
              <a:off x="0" y="0"/>
              <a:ext cx="756031" cy="472478"/>
            </a:xfrm>
            <a:prstGeom prst="rect">
              <a:avLst/>
            </a:prstGeom>
          </p:spPr>
          <p:txBody>
            <a:bodyPr lIns="0" tIns="0" rIns="0" bIns="0" rtlCol="0" anchor="ctr"/>
            <a:lstStyle/>
            <a:p>
              <a:pPr algn="l">
                <a:lnSpc>
                  <a:spcPts val="2610"/>
                </a:lnSpc>
              </a:pPr>
              <a:r>
                <a:rPr lang="en-US" sz="2175">
                  <a:solidFill>
                    <a:srgbClr val="404155"/>
                  </a:solidFill>
                  <a:latin typeface="Corben"/>
                  <a:ea typeface="Corben"/>
                  <a:cs typeface="Corben"/>
                  <a:sym typeface="Corben"/>
                </a:rPr>
                <a:t>03</a:t>
              </a:r>
            </a:p>
          </p:txBody>
        </p:sp>
      </p:grpSp>
      <p:grpSp>
        <p:nvGrpSpPr>
          <p:cNvPr id="26" name="Group 26"/>
          <p:cNvGrpSpPr/>
          <p:nvPr/>
        </p:nvGrpSpPr>
        <p:grpSpPr>
          <a:xfrm>
            <a:off x="992210" y="6455569"/>
            <a:ext cx="8009734" cy="38100"/>
            <a:chOff x="0" y="0"/>
            <a:chExt cx="10679646" cy="50800"/>
          </a:xfrm>
        </p:grpSpPr>
        <p:sp>
          <p:nvSpPr>
            <p:cNvPr id="27" name="Freeform 27"/>
            <p:cNvSpPr/>
            <p:nvPr/>
          </p:nvSpPr>
          <p:spPr>
            <a:xfrm>
              <a:off x="0" y="0"/>
              <a:ext cx="10679684" cy="50800"/>
            </a:xfrm>
            <a:custGeom>
              <a:avLst/>
              <a:gdLst/>
              <a:ahLst/>
              <a:cxnLst/>
              <a:rect l="l" t="t" r="r" b="b"/>
              <a:pathLst>
                <a:path w="10679684" h="50800">
                  <a:moveTo>
                    <a:pt x="0" y="0"/>
                  </a:moveTo>
                  <a:lnTo>
                    <a:pt x="10679684" y="0"/>
                  </a:lnTo>
                  <a:lnTo>
                    <a:pt x="10679684" y="50800"/>
                  </a:lnTo>
                  <a:lnTo>
                    <a:pt x="0" y="50800"/>
                  </a:lnTo>
                  <a:close/>
                </a:path>
              </a:pathLst>
            </a:custGeom>
            <a:solidFill>
              <a:srgbClr val="4967E9"/>
            </a:solidFill>
          </p:spPr>
        </p:sp>
      </p:grpSp>
      <p:sp>
        <p:nvSpPr>
          <p:cNvPr id="28" name="TextBox 28"/>
          <p:cNvSpPr txBox="1"/>
          <p:nvPr/>
        </p:nvSpPr>
        <p:spPr>
          <a:xfrm>
            <a:off x="992210" y="6635353"/>
            <a:ext cx="8009734" cy="481012"/>
          </a:xfrm>
          <a:prstGeom prst="rect">
            <a:avLst/>
          </a:prstGeom>
        </p:spPr>
        <p:txBody>
          <a:bodyPr lIns="0" tIns="0" rIns="0" bIns="0" rtlCol="0" anchor="t">
            <a:spAutoFit/>
          </a:bodyPr>
          <a:lstStyle/>
          <a:p>
            <a:pPr algn="l">
              <a:lnSpc>
                <a:spcPts val="4492"/>
              </a:lnSpc>
            </a:pPr>
            <a:r>
              <a:rPr lang="en-US" sz="3600">
                <a:solidFill>
                  <a:srgbClr val="404155"/>
                </a:solidFill>
                <a:latin typeface="Times New Roman"/>
                <a:ea typeface="Times New Roman"/>
                <a:cs typeface="Times New Roman"/>
                <a:sym typeface="Times New Roman"/>
              </a:rPr>
              <a:t>Performance &amp; Cost</a:t>
            </a:r>
          </a:p>
        </p:txBody>
      </p:sp>
      <p:sp>
        <p:nvSpPr>
          <p:cNvPr id="29" name="TextBox 29"/>
          <p:cNvSpPr txBox="1"/>
          <p:nvPr/>
        </p:nvSpPr>
        <p:spPr>
          <a:xfrm>
            <a:off x="992210" y="7219798"/>
            <a:ext cx="8009734" cy="973931"/>
          </a:xfrm>
          <a:prstGeom prst="rect">
            <a:avLst/>
          </a:prstGeom>
        </p:spPr>
        <p:txBody>
          <a:bodyPr lIns="0" tIns="0" rIns="0" bIns="0" rtlCol="0" anchor="t">
            <a:spAutoFit/>
          </a:bodyPr>
          <a:lstStyle/>
          <a:p>
            <a:pPr algn="l">
              <a:lnSpc>
                <a:spcPts val="3447"/>
              </a:lnSpc>
            </a:pPr>
            <a:r>
              <a:rPr lang="en-US" sz="2400">
                <a:solidFill>
                  <a:srgbClr val="404155"/>
                </a:solidFill>
                <a:latin typeface="Times New Roman"/>
                <a:ea typeface="Times New Roman"/>
                <a:cs typeface="Times New Roman"/>
                <a:sym typeface="Times New Roman"/>
              </a:rPr>
              <a:t>Optimize Firestore indexing and minimize read/write costs with batched operations and caching.</a:t>
            </a:r>
          </a:p>
        </p:txBody>
      </p:sp>
      <p:grpSp>
        <p:nvGrpSpPr>
          <p:cNvPr id="30" name="Group 30"/>
          <p:cNvGrpSpPr/>
          <p:nvPr/>
        </p:nvGrpSpPr>
        <p:grpSpPr>
          <a:xfrm>
            <a:off x="9285456" y="6011761"/>
            <a:ext cx="567023" cy="354359"/>
            <a:chOff x="0" y="0"/>
            <a:chExt cx="756031" cy="472478"/>
          </a:xfrm>
        </p:grpSpPr>
        <p:sp>
          <p:nvSpPr>
            <p:cNvPr id="31" name="Freeform 31"/>
            <p:cNvSpPr/>
            <p:nvPr/>
          </p:nvSpPr>
          <p:spPr>
            <a:xfrm>
              <a:off x="0" y="0"/>
              <a:ext cx="756028" cy="472480"/>
            </a:xfrm>
            <a:custGeom>
              <a:avLst/>
              <a:gdLst/>
              <a:ahLst/>
              <a:cxnLst/>
              <a:rect l="l" t="t" r="r" b="b"/>
              <a:pathLst>
                <a:path w="756028" h="472480">
                  <a:moveTo>
                    <a:pt x="0" y="0"/>
                  </a:moveTo>
                  <a:lnTo>
                    <a:pt x="756028" y="0"/>
                  </a:lnTo>
                  <a:lnTo>
                    <a:pt x="756028" y="472480"/>
                  </a:lnTo>
                  <a:lnTo>
                    <a:pt x="0" y="472480"/>
                  </a:lnTo>
                  <a:close/>
                </a:path>
              </a:pathLst>
            </a:custGeom>
            <a:blipFill>
              <a:blip r:embed="rId5">
                <a:alphaModFix amt="0"/>
              </a:blip>
              <a:stretch>
                <a:fillRect l="-30182" r="-30183"/>
              </a:stretch>
            </a:blipFill>
          </p:spPr>
        </p:sp>
        <p:sp>
          <p:nvSpPr>
            <p:cNvPr id="32" name="TextBox 32"/>
            <p:cNvSpPr txBox="1"/>
            <p:nvPr/>
          </p:nvSpPr>
          <p:spPr>
            <a:xfrm>
              <a:off x="0" y="0"/>
              <a:ext cx="756031" cy="472478"/>
            </a:xfrm>
            <a:prstGeom prst="rect">
              <a:avLst/>
            </a:prstGeom>
          </p:spPr>
          <p:txBody>
            <a:bodyPr lIns="0" tIns="0" rIns="0" bIns="0" rtlCol="0" anchor="ctr"/>
            <a:lstStyle/>
            <a:p>
              <a:pPr algn="l">
                <a:lnSpc>
                  <a:spcPts val="2610"/>
                </a:lnSpc>
              </a:pPr>
              <a:r>
                <a:rPr lang="en-US" sz="2175">
                  <a:solidFill>
                    <a:srgbClr val="404155"/>
                  </a:solidFill>
                  <a:latin typeface="Corben"/>
                  <a:ea typeface="Corben"/>
                  <a:cs typeface="Corben"/>
                  <a:sym typeface="Corben"/>
                </a:rPr>
                <a:t>04</a:t>
              </a:r>
            </a:p>
          </p:txBody>
        </p:sp>
      </p:grpSp>
      <p:grpSp>
        <p:nvGrpSpPr>
          <p:cNvPr id="33" name="Group 33"/>
          <p:cNvGrpSpPr/>
          <p:nvPr/>
        </p:nvGrpSpPr>
        <p:grpSpPr>
          <a:xfrm>
            <a:off x="9285456" y="6455569"/>
            <a:ext cx="8009877" cy="38100"/>
            <a:chOff x="0" y="0"/>
            <a:chExt cx="10679836" cy="50800"/>
          </a:xfrm>
        </p:grpSpPr>
        <p:sp>
          <p:nvSpPr>
            <p:cNvPr id="34" name="Freeform 34"/>
            <p:cNvSpPr/>
            <p:nvPr/>
          </p:nvSpPr>
          <p:spPr>
            <a:xfrm>
              <a:off x="0" y="0"/>
              <a:ext cx="10679811" cy="50800"/>
            </a:xfrm>
            <a:custGeom>
              <a:avLst/>
              <a:gdLst/>
              <a:ahLst/>
              <a:cxnLst/>
              <a:rect l="l" t="t" r="r" b="b"/>
              <a:pathLst>
                <a:path w="10679811" h="50800">
                  <a:moveTo>
                    <a:pt x="0" y="0"/>
                  </a:moveTo>
                  <a:lnTo>
                    <a:pt x="10679811" y="0"/>
                  </a:lnTo>
                  <a:lnTo>
                    <a:pt x="10679811" y="50800"/>
                  </a:lnTo>
                  <a:lnTo>
                    <a:pt x="0" y="50800"/>
                  </a:lnTo>
                  <a:close/>
                </a:path>
              </a:pathLst>
            </a:custGeom>
            <a:solidFill>
              <a:srgbClr val="4967E9"/>
            </a:solidFill>
          </p:spPr>
        </p:sp>
      </p:grpSp>
      <p:sp>
        <p:nvSpPr>
          <p:cNvPr id="35" name="TextBox 35"/>
          <p:cNvSpPr txBox="1"/>
          <p:nvPr/>
        </p:nvSpPr>
        <p:spPr>
          <a:xfrm>
            <a:off x="9285456" y="6635353"/>
            <a:ext cx="8009877" cy="481012"/>
          </a:xfrm>
          <a:prstGeom prst="rect">
            <a:avLst/>
          </a:prstGeom>
        </p:spPr>
        <p:txBody>
          <a:bodyPr lIns="0" tIns="0" rIns="0" bIns="0" rtlCol="0" anchor="t">
            <a:spAutoFit/>
          </a:bodyPr>
          <a:lstStyle/>
          <a:p>
            <a:pPr algn="l">
              <a:lnSpc>
                <a:spcPts val="4492"/>
              </a:lnSpc>
            </a:pPr>
            <a:r>
              <a:rPr lang="en-US" sz="3600">
                <a:solidFill>
                  <a:srgbClr val="404155"/>
                </a:solidFill>
                <a:latin typeface="Times New Roman"/>
                <a:ea typeface="Times New Roman"/>
                <a:cs typeface="Times New Roman"/>
                <a:sym typeface="Times New Roman"/>
              </a:rPr>
              <a:t>Monitoring &amp; Observability</a:t>
            </a:r>
          </a:p>
        </p:txBody>
      </p:sp>
      <p:sp>
        <p:nvSpPr>
          <p:cNvPr id="36" name="TextBox 36"/>
          <p:cNvSpPr txBox="1"/>
          <p:nvPr/>
        </p:nvSpPr>
        <p:spPr>
          <a:xfrm>
            <a:off x="9285456" y="7181698"/>
            <a:ext cx="8009877" cy="1012031"/>
          </a:xfrm>
          <a:prstGeom prst="rect">
            <a:avLst/>
          </a:prstGeom>
        </p:spPr>
        <p:txBody>
          <a:bodyPr lIns="0" tIns="0" rIns="0" bIns="0" rtlCol="0" anchor="t">
            <a:spAutoFit/>
          </a:bodyPr>
          <a:lstStyle/>
          <a:p>
            <a:pPr algn="l">
              <a:lnSpc>
                <a:spcPts val="3830"/>
              </a:lnSpc>
            </a:pPr>
            <a:r>
              <a:rPr lang="en-US" sz="2400">
                <a:solidFill>
                  <a:srgbClr val="404155"/>
                </a:solidFill>
                <a:latin typeface="Times New Roman"/>
                <a:ea typeface="Times New Roman"/>
                <a:cs typeface="Times New Roman"/>
                <a:sym typeface="Times New Roman"/>
              </a:rPr>
              <a:t>Use logging, alerts, and SLOs for uptime and to track suspicious activity or repeated duplicates.</a:t>
            </a:r>
          </a:p>
        </p:txBody>
      </p:sp>
      <p:grpSp>
        <p:nvGrpSpPr>
          <p:cNvPr id="37" name="Group 37"/>
          <p:cNvGrpSpPr/>
          <p:nvPr/>
        </p:nvGrpSpPr>
        <p:grpSpPr>
          <a:xfrm>
            <a:off x="289541" y="354149"/>
            <a:ext cx="1579493" cy="1498616"/>
            <a:chOff x="0" y="0"/>
            <a:chExt cx="2105990" cy="1998154"/>
          </a:xfrm>
        </p:grpSpPr>
        <p:sp>
          <p:nvSpPr>
            <p:cNvPr id="38" name="Freeform 38" descr="logo 2.png"/>
            <p:cNvSpPr/>
            <p:nvPr/>
          </p:nvSpPr>
          <p:spPr>
            <a:xfrm>
              <a:off x="0" y="0"/>
              <a:ext cx="2106041" cy="1998218"/>
            </a:xfrm>
            <a:custGeom>
              <a:avLst/>
              <a:gdLst/>
              <a:ahLst/>
              <a:cxnLst/>
              <a:rect l="l" t="t" r="r" b="b"/>
              <a:pathLst>
                <a:path w="2106041" h="1998218">
                  <a:moveTo>
                    <a:pt x="0" y="0"/>
                  </a:moveTo>
                  <a:lnTo>
                    <a:pt x="2106041" y="0"/>
                  </a:lnTo>
                  <a:lnTo>
                    <a:pt x="2106041" y="1998218"/>
                  </a:lnTo>
                  <a:lnTo>
                    <a:pt x="0" y="1998218"/>
                  </a:lnTo>
                  <a:lnTo>
                    <a:pt x="0" y="0"/>
                  </a:lnTo>
                  <a:close/>
                </a:path>
              </a:pathLst>
            </a:custGeom>
            <a:blipFill>
              <a:blip r:embed="rId6"/>
              <a:stretch>
                <a:fillRect t="-140" r="2" b="-136"/>
              </a:stretch>
            </a:blipFill>
          </p:spPr>
        </p:sp>
      </p:grpSp>
      <p:grpSp>
        <p:nvGrpSpPr>
          <p:cNvPr id="39" name="Group 39"/>
          <p:cNvGrpSpPr/>
          <p:nvPr/>
        </p:nvGrpSpPr>
        <p:grpSpPr>
          <a:xfrm>
            <a:off x="16028651" y="237582"/>
            <a:ext cx="1570482" cy="1706528"/>
            <a:chOff x="0" y="0"/>
            <a:chExt cx="2093976" cy="2275370"/>
          </a:xfrm>
        </p:grpSpPr>
        <p:sp>
          <p:nvSpPr>
            <p:cNvPr id="40" name="Freeform 40" descr="logo3.png"/>
            <p:cNvSpPr/>
            <p:nvPr/>
          </p:nvSpPr>
          <p:spPr>
            <a:xfrm>
              <a:off x="0" y="0"/>
              <a:ext cx="2093976" cy="2275332"/>
            </a:xfrm>
            <a:custGeom>
              <a:avLst/>
              <a:gdLst/>
              <a:ahLst/>
              <a:cxnLst/>
              <a:rect l="l" t="t" r="r" b="b"/>
              <a:pathLst>
                <a:path w="2093976" h="2275332">
                  <a:moveTo>
                    <a:pt x="0" y="0"/>
                  </a:moveTo>
                  <a:lnTo>
                    <a:pt x="2093976" y="0"/>
                  </a:lnTo>
                  <a:lnTo>
                    <a:pt x="2093976" y="2275332"/>
                  </a:lnTo>
                  <a:lnTo>
                    <a:pt x="0" y="2275332"/>
                  </a:lnTo>
                  <a:lnTo>
                    <a:pt x="0" y="0"/>
                  </a:lnTo>
                  <a:close/>
                </a:path>
              </a:pathLst>
            </a:custGeom>
            <a:blipFill>
              <a:blip r:embed="rId7"/>
              <a:stretch>
                <a:fillRect t="-30" b="-32"/>
              </a:stretch>
            </a:blipFill>
          </p:spPr>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7543" cy="10287000"/>
            <a:chOff x="0" y="0"/>
            <a:chExt cx="24383390" cy="13716000"/>
          </a:xfrm>
        </p:grpSpPr>
        <p:sp>
          <p:nvSpPr>
            <p:cNvPr id="3" name="Freeform 3" descr="preencoded.png"/>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lnTo>
                    <a:pt x="0" y="0"/>
                  </a:lnTo>
                  <a:close/>
                </a:path>
              </a:pathLst>
            </a:custGeom>
            <a:blipFill>
              <a:blip r:embed="rId3"/>
              <a:stretch>
                <a:fillRect l="-1" r="-1"/>
              </a:stretch>
            </a:blipFill>
          </p:spPr>
        </p:sp>
      </p:grpSp>
      <p:grpSp>
        <p:nvGrpSpPr>
          <p:cNvPr id="4" name="Group 4"/>
          <p:cNvGrpSpPr/>
          <p:nvPr/>
        </p:nvGrpSpPr>
        <p:grpSpPr>
          <a:xfrm>
            <a:off x="0" y="0"/>
            <a:ext cx="18287543" cy="10287000"/>
            <a:chOff x="0" y="0"/>
            <a:chExt cx="24383390" cy="13716000"/>
          </a:xfrm>
        </p:grpSpPr>
        <p:sp>
          <p:nvSpPr>
            <p:cNvPr id="5" name="Freeform 5"/>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close/>
                </a:path>
              </a:pathLst>
            </a:custGeom>
            <a:solidFill>
              <a:srgbClr val="F9F9FF">
                <a:alpha val="90196"/>
              </a:srgbClr>
            </a:solidFill>
          </p:spPr>
        </p:sp>
      </p:grpSp>
      <p:grpSp>
        <p:nvGrpSpPr>
          <p:cNvPr id="6" name="Group 6"/>
          <p:cNvGrpSpPr/>
          <p:nvPr/>
        </p:nvGrpSpPr>
        <p:grpSpPr>
          <a:xfrm>
            <a:off x="16615315" y="9838487"/>
            <a:ext cx="1607763" cy="384048"/>
            <a:chOff x="0" y="0"/>
            <a:chExt cx="2143684" cy="512064"/>
          </a:xfrm>
        </p:grpSpPr>
        <p:sp>
          <p:nvSpPr>
            <p:cNvPr id="7" name="Freeform 7" descr="preencoded.png">
              <a:hlinkClick r:id="rId4" tooltip="https://gamma.app/?utm_source=made-with-gamma"/>
            </p:cNvPr>
            <p:cNvSpPr/>
            <p:nvPr/>
          </p:nvSpPr>
          <p:spPr>
            <a:xfrm>
              <a:off x="0" y="0"/>
              <a:ext cx="2143633" cy="512064"/>
            </a:xfrm>
            <a:custGeom>
              <a:avLst/>
              <a:gdLst/>
              <a:ahLst/>
              <a:cxnLst/>
              <a:rect l="l" t="t" r="r" b="b"/>
              <a:pathLst>
                <a:path w="2143633" h="512064">
                  <a:moveTo>
                    <a:pt x="0" y="0"/>
                  </a:moveTo>
                  <a:lnTo>
                    <a:pt x="2143633" y="0"/>
                  </a:lnTo>
                  <a:lnTo>
                    <a:pt x="2143633" y="512064"/>
                  </a:lnTo>
                  <a:lnTo>
                    <a:pt x="0" y="512064"/>
                  </a:lnTo>
                  <a:lnTo>
                    <a:pt x="0" y="0"/>
                  </a:lnTo>
                  <a:close/>
                </a:path>
              </a:pathLst>
            </a:custGeom>
            <a:solidFill>
              <a:srgbClr val="F9F9FF"/>
            </a:solidFill>
          </p:spPr>
        </p:sp>
      </p:grpSp>
      <p:sp>
        <p:nvSpPr>
          <p:cNvPr id="8" name="TextBox 8"/>
          <p:cNvSpPr txBox="1"/>
          <p:nvPr/>
        </p:nvSpPr>
        <p:spPr>
          <a:xfrm>
            <a:off x="992210" y="1015451"/>
            <a:ext cx="16303114" cy="683571"/>
          </a:xfrm>
          <a:prstGeom prst="rect">
            <a:avLst/>
          </a:prstGeom>
        </p:spPr>
        <p:txBody>
          <a:bodyPr lIns="0" tIns="0" rIns="0" bIns="0" rtlCol="0" anchor="t">
            <a:spAutoFit/>
          </a:bodyPr>
          <a:lstStyle/>
          <a:p>
            <a:pPr algn="ctr">
              <a:lnSpc>
                <a:spcPts val="5990"/>
              </a:lnSpc>
            </a:pPr>
            <a:r>
              <a:rPr lang="en-US" sz="4800">
                <a:solidFill>
                  <a:srgbClr val="1B1B27"/>
                </a:solidFill>
                <a:latin typeface="Corben"/>
                <a:ea typeface="Corben"/>
                <a:cs typeface="Corben"/>
                <a:sym typeface="Corben"/>
              </a:rPr>
              <a:t>Future Scope</a:t>
            </a:r>
          </a:p>
        </p:txBody>
      </p:sp>
      <p:sp>
        <p:nvSpPr>
          <p:cNvPr id="9" name="TextBox 9"/>
          <p:cNvSpPr txBox="1"/>
          <p:nvPr/>
        </p:nvSpPr>
        <p:spPr>
          <a:xfrm>
            <a:off x="1973847" y="2553710"/>
            <a:ext cx="9751990" cy="6462989"/>
          </a:xfrm>
          <a:prstGeom prst="rect">
            <a:avLst/>
          </a:prstGeom>
        </p:spPr>
        <p:txBody>
          <a:bodyPr lIns="0" tIns="0" rIns="0" bIns="0" rtlCol="0" anchor="t">
            <a:spAutoFit/>
          </a:bodyPr>
          <a:lstStyle/>
          <a:p>
            <a:pPr marL="542925" lvl="1" indent="-271462" algn="l">
              <a:lnSpc>
                <a:spcPts val="4212"/>
              </a:lnSpc>
              <a:buFont typeface="Arial"/>
              <a:buChar char="•"/>
            </a:pPr>
            <a:r>
              <a:rPr lang="en-US" sz="3000">
                <a:solidFill>
                  <a:srgbClr val="404155"/>
                </a:solidFill>
                <a:latin typeface="Times New Roman"/>
                <a:ea typeface="Times New Roman"/>
                <a:cs typeface="Times New Roman"/>
                <a:sym typeface="Times New Roman"/>
              </a:rPr>
              <a:t>AI-driven dataset recommendations to surface relevant data for users</a:t>
            </a:r>
          </a:p>
          <a:p>
            <a:pPr marL="542925" lvl="1" indent="-271462" algn="l">
              <a:lnSpc>
                <a:spcPts val="4212"/>
              </a:lnSpc>
              <a:buFont typeface="Arial"/>
              <a:buChar char="•"/>
            </a:pPr>
            <a:r>
              <a:rPr lang="en-US" sz="3000">
                <a:solidFill>
                  <a:srgbClr val="404155"/>
                </a:solidFill>
                <a:latin typeface="Times New Roman"/>
                <a:ea typeface="Times New Roman"/>
                <a:cs typeface="Times New Roman"/>
                <a:sym typeface="Times New Roman"/>
              </a:rPr>
              <a:t>Advanced visualization modules for exploratory data analysis</a:t>
            </a:r>
          </a:p>
          <a:p>
            <a:pPr marL="542925" lvl="1" indent="-271462" algn="l">
              <a:lnSpc>
                <a:spcPts val="4212"/>
              </a:lnSpc>
              <a:buFont typeface="Arial"/>
              <a:buChar char="•"/>
            </a:pPr>
            <a:r>
              <a:rPr lang="en-US" sz="3000">
                <a:solidFill>
                  <a:srgbClr val="404155"/>
                </a:solidFill>
                <a:latin typeface="Times New Roman"/>
                <a:ea typeface="Times New Roman"/>
                <a:cs typeface="Times New Roman"/>
                <a:sym typeface="Times New Roman"/>
              </a:rPr>
              <a:t>Email notifications and workflow alerts for approvals and requests</a:t>
            </a:r>
          </a:p>
          <a:p>
            <a:pPr marL="542925" lvl="1" indent="-271462" algn="l">
              <a:lnSpc>
                <a:spcPts val="4212"/>
              </a:lnSpc>
              <a:buFont typeface="Arial"/>
              <a:buChar char="•"/>
            </a:pPr>
            <a:r>
              <a:rPr lang="en-US" sz="3000">
                <a:solidFill>
                  <a:srgbClr val="404155"/>
                </a:solidFill>
                <a:latin typeface="Times New Roman"/>
                <a:ea typeface="Times New Roman"/>
                <a:cs typeface="Times New Roman"/>
                <a:sym typeface="Times New Roman"/>
              </a:rPr>
              <a:t>Dedicated cloud file storage for large dataset assets</a:t>
            </a:r>
          </a:p>
          <a:p>
            <a:pPr marL="542925" lvl="1" indent="-271462" algn="l">
              <a:lnSpc>
                <a:spcPts val="4212"/>
              </a:lnSpc>
              <a:buFont typeface="Arial"/>
              <a:buChar char="•"/>
            </a:pPr>
            <a:r>
              <a:rPr lang="en-US" sz="3000">
                <a:solidFill>
                  <a:srgbClr val="404155"/>
                </a:solidFill>
                <a:latin typeface="Times New Roman"/>
                <a:ea typeface="Times New Roman"/>
                <a:cs typeface="Times New Roman"/>
                <a:sym typeface="Times New Roman"/>
              </a:rPr>
              <a:t>APIs for integration with external research platforms and tools</a:t>
            </a:r>
          </a:p>
          <a:p>
            <a:pPr marL="542925" lvl="1" indent="-271462" algn="l">
              <a:lnSpc>
                <a:spcPts val="4212"/>
              </a:lnSpc>
              <a:buFont typeface="Arial"/>
              <a:buChar char="•"/>
            </a:pPr>
            <a:r>
              <a:rPr lang="en-US" sz="3000">
                <a:solidFill>
                  <a:srgbClr val="404155"/>
                </a:solidFill>
                <a:latin typeface="Times New Roman"/>
                <a:ea typeface="Times New Roman"/>
                <a:cs typeface="Times New Roman"/>
                <a:sym typeface="Times New Roman"/>
              </a:rPr>
              <a:t>Native mobile app for submission &amp; review on the go</a:t>
            </a:r>
          </a:p>
        </p:txBody>
      </p:sp>
      <p:grpSp>
        <p:nvGrpSpPr>
          <p:cNvPr id="10" name="Group 10"/>
          <p:cNvGrpSpPr/>
          <p:nvPr/>
        </p:nvGrpSpPr>
        <p:grpSpPr>
          <a:xfrm>
            <a:off x="11891877" y="2070078"/>
            <a:ext cx="5919045" cy="5919187"/>
            <a:chOff x="0" y="0"/>
            <a:chExt cx="7892059" cy="7892250"/>
          </a:xfrm>
        </p:grpSpPr>
        <p:sp>
          <p:nvSpPr>
            <p:cNvPr id="11" name="Freeform 11" descr="preencoded.png"/>
            <p:cNvSpPr/>
            <p:nvPr/>
          </p:nvSpPr>
          <p:spPr>
            <a:xfrm>
              <a:off x="0" y="0"/>
              <a:ext cx="7892034" cy="7892288"/>
            </a:xfrm>
            <a:custGeom>
              <a:avLst/>
              <a:gdLst/>
              <a:ahLst/>
              <a:cxnLst/>
              <a:rect l="l" t="t" r="r" b="b"/>
              <a:pathLst>
                <a:path w="7892034" h="7892288">
                  <a:moveTo>
                    <a:pt x="0" y="0"/>
                  </a:moveTo>
                  <a:lnTo>
                    <a:pt x="7892034" y="0"/>
                  </a:lnTo>
                  <a:lnTo>
                    <a:pt x="7892034" y="7892288"/>
                  </a:lnTo>
                  <a:lnTo>
                    <a:pt x="0" y="7892288"/>
                  </a:lnTo>
                  <a:lnTo>
                    <a:pt x="0" y="0"/>
                  </a:lnTo>
                  <a:close/>
                </a:path>
              </a:pathLst>
            </a:custGeom>
            <a:blipFill>
              <a:blip r:embed="rId5"/>
              <a:stretch>
                <a:fillRect l="-1" r="-1"/>
              </a:stretch>
            </a:blipFill>
          </p:spPr>
        </p:sp>
      </p:grpSp>
      <p:grpSp>
        <p:nvGrpSpPr>
          <p:cNvPr id="12" name="Group 12"/>
          <p:cNvGrpSpPr/>
          <p:nvPr/>
        </p:nvGrpSpPr>
        <p:grpSpPr>
          <a:xfrm>
            <a:off x="289541" y="354149"/>
            <a:ext cx="1579493" cy="1498616"/>
            <a:chOff x="0" y="0"/>
            <a:chExt cx="2105990" cy="1998154"/>
          </a:xfrm>
        </p:grpSpPr>
        <p:sp>
          <p:nvSpPr>
            <p:cNvPr id="13" name="Freeform 13" descr="logo 2.png"/>
            <p:cNvSpPr/>
            <p:nvPr/>
          </p:nvSpPr>
          <p:spPr>
            <a:xfrm>
              <a:off x="0" y="0"/>
              <a:ext cx="2106041" cy="1998218"/>
            </a:xfrm>
            <a:custGeom>
              <a:avLst/>
              <a:gdLst/>
              <a:ahLst/>
              <a:cxnLst/>
              <a:rect l="l" t="t" r="r" b="b"/>
              <a:pathLst>
                <a:path w="2106041" h="1998218">
                  <a:moveTo>
                    <a:pt x="0" y="0"/>
                  </a:moveTo>
                  <a:lnTo>
                    <a:pt x="2106041" y="0"/>
                  </a:lnTo>
                  <a:lnTo>
                    <a:pt x="2106041" y="1998218"/>
                  </a:lnTo>
                  <a:lnTo>
                    <a:pt x="0" y="1998218"/>
                  </a:lnTo>
                  <a:lnTo>
                    <a:pt x="0" y="0"/>
                  </a:lnTo>
                  <a:close/>
                </a:path>
              </a:pathLst>
            </a:custGeom>
            <a:blipFill>
              <a:blip r:embed="rId6"/>
              <a:stretch>
                <a:fillRect t="-140" r="2" b="-136"/>
              </a:stretch>
            </a:blipFill>
          </p:spPr>
        </p:sp>
      </p:grpSp>
      <p:grpSp>
        <p:nvGrpSpPr>
          <p:cNvPr id="14" name="Group 14"/>
          <p:cNvGrpSpPr/>
          <p:nvPr/>
        </p:nvGrpSpPr>
        <p:grpSpPr>
          <a:xfrm>
            <a:off x="16028651" y="237582"/>
            <a:ext cx="1570482" cy="1706528"/>
            <a:chOff x="0" y="0"/>
            <a:chExt cx="2093976" cy="2275370"/>
          </a:xfrm>
        </p:grpSpPr>
        <p:sp>
          <p:nvSpPr>
            <p:cNvPr id="15" name="Freeform 15" descr="logo3.png"/>
            <p:cNvSpPr/>
            <p:nvPr/>
          </p:nvSpPr>
          <p:spPr>
            <a:xfrm>
              <a:off x="0" y="0"/>
              <a:ext cx="2093976" cy="2275332"/>
            </a:xfrm>
            <a:custGeom>
              <a:avLst/>
              <a:gdLst/>
              <a:ahLst/>
              <a:cxnLst/>
              <a:rect l="l" t="t" r="r" b="b"/>
              <a:pathLst>
                <a:path w="2093976" h="2275332">
                  <a:moveTo>
                    <a:pt x="0" y="0"/>
                  </a:moveTo>
                  <a:lnTo>
                    <a:pt x="2093976" y="0"/>
                  </a:lnTo>
                  <a:lnTo>
                    <a:pt x="2093976" y="2275332"/>
                  </a:lnTo>
                  <a:lnTo>
                    <a:pt x="0" y="2275332"/>
                  </a:lnTo>
                  <a:lnTo>
                    <a:pt x="0" y="0"/>
                  </a:lnTo>
                  <a:close/>
                </a:path>
              </a:pathLst>
            </a:custGeom>
            <a:blipFill>
              <a:blip r:embed="rId7"/>
              <a:stretch>
                <a:fillRect t="-30" b="-32"/>
              </a:stretch>
            </a:blipFill>
          </p:spPr>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7543" cy="10287000"/>
            <a:chOff x="0" y="0"/>
            <a:chExt cx="24383390" cy="13716000"/>
          </a:xfrm>
        </p:grpSpPr>
        <p:sp>
          <p:nvSpPr>
            <p:cNvPr id="3" name="Freeform 3" descr="preencoded.png"/>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lnTo>
                    <a:pt x="0" y="0"/>
                  </a:lnTo>
                  <a:close/>
                </a:path>
              </a:pathLst>
            </a:custGeom>
            <a:blipFill>
              <a:blip r:embed="rId3"/>
              <a:stretch>
                <a:fillRect l="-1" r="-1"/>
              </a:stretch>
            </a:blipFill>
          </p:spPr>
        </p:sp>
      </p:grpSp>
      <p:grpSp>
        <p:nvGrpSpPr>
          <p:cNvPr id="4" name="Group 4"/>
          <p:cNvGrpSpPr/>
          <p:nvPr/>
        </p:nvGrpSpPr>
        <p:grpSpPr>
          <a:xfrm>
            <a:off x="0" y="0"/>
            <a:ext cx="18287543" cy="10287000"/>
            <a:chOff x="0" y="0"/>
            <a:chExt cx="24383390" cy="13716000"/>
          </a:xfrm>
        </p:grpSpPr>
        <p:sp>
          <p:nvSpPr>
            <p:cNvPr id="5" name="Freeform 5"/>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close/>
                </a:path>
              </a:pathLst>
            </a:custGeom>
            <a:solidFill>
              <a:srgbClr val="F9F9FF">
                <a:alpha val="90196"/>
              </a:srgbClr>
            </a:solidFill>
          </p:spPr>
        </p:sp>
      </p:grpSp>
      <p:grpSp>
        <p:nvGrpSpPr>
          <p:cNvPr id="6" name="Group 6"/>
          <p:cNvGrpSpPr/>
          <p:nvPr/>
        </p:nvGrpSpPr>
        <p:grpSpPr>
          <a:xfrm>
            <a:off x="16615315" y="9838487"/>
            <a:ext cx="1607763" cy="384048"/>
            <a:chOff x="0" y="0"/>
            <a:chExt cx="2143684" cy="512064"/>
          </a:xfrm>
        </p:grpSpPr>
        <p:sp>
          <p:nvSpPr>
            <p:cNvPr id="7" name="Freeform 7" descr="preencoded.png">
              <a:hlinkClick r:id="rId4" tooltip="https://gamma.app/?utm_source=made-with-gamma"/>
            </p:cNvPr>
            <p:cNvSpPr/>
            <p:nvPr/>
          </p:nvSpPr>
          <p:spPr>
            <a:xfrm>
              <a:off x="0" y="0"/>
              <a:ext cx="2143633" cy="512064"/>
            </a:xfrm>
            <a:custGeom>
              <a:avLst/>
              <a:gdLst/>
              <a:ahLst/>
              <a:cxnLst/>
              <a:rect l="l" t="t" r="r" b="b"/>
              <a:pathLst>
                <a:path w="2143633" h="512064">
                  <a:moveTo>
                    <a:pt x="0" y="0"/>
                  </a:moveTo>
                  <a:lnTo>
                    <a:pt x="2143633" y="0"/>
                  </a:lnTo>
                  <a:lnTo>
                    <a:pt x="2143633" y="512064"/>
                  </a:lnTo>
                  <a:lnTo>
                    <a:pt x="0" y="512064"/>
                  </a:lnTo>
                  <a:lnTo>
                    <a:pt x="0" y="0"/>
                  </a:lnTo>
                  <a:close/>
                </a:path>
              </a:pathLst>
            </a:custGeom>
            <a:solidFill>
              <a:srgbClr val="F9F9FF"/>
            </a:solidFill>
          </p:spPr>
        </p:sp>
      </p:grpSp>
      <p:sp>
        <p:nvSpPr>
          <p:cNvPr id="8" name="TextBox 8"/>
          <p:cNvSpPr txBox="1"/>
          <p:nvPr/>
        </p:nvSpPr>
        <p:spPr>
          <a:xfrm>
            <a:off x="992210" y="1356455"/>
            <a:ext cx="16303114" cy="914552"/>
          </a:xfrm>
          <a:prstGeom prst="rect">
            <a:avLst/>
          </a:prstGeom>
        </p:spPr>
        <p:txBody>
          <a:bodyPr lIns="0" tIns="0" rIns="0" bIns="0" rtlCol="0" anchor="t">
            <a:spAutoFit/>
          </a:bodyPr>
          <a:lstStyle/>
          <a:p>
            <a:pPr algn="ctr">
              <a:lnSpc>
                <a:spcPts val="6926"/>
              </a:lnSpc>
            </a:pPr>
            <a:r>
              <a:rPr lang="en-US" sz="5550">
                <a:solidFill>
                  <a:srgbClr val="1B1B27"/>
                </a:solidFill>
                <a:latin typeface="Corben"/>
                <a:ea typeface="Corben"/>
                <a:cs typeface="Corben"/>
                <a:sym typeface="Corben"/>
              </a:rPr>
              <a:t>Conclusion </a:t>
            </a:r>
          </a:p>
        </p:txBody>
      </p:sp>
      <p:sp>
        <p:nvSpPr>
          <p:cNvPr id="9" name="TextBox 9"/>
          <p:cNvSpPr txBox="1"/>
          <p:nvPr/>
        </p:nvSpPr>
        <p:spPr>
          <a:xfrm>
            <a:off x="1086345" y="3002070"/>
            <a:ext cx="16303114" cy="1947862"/>
          </a:xfrm>
          <a:prstGeom prst="rect">
            <a:avLst/>
          </a:prstGeom>
        </p:spPr>
        <p:txBody>
          <a:bodyPr lIns="0" tIns="0" rIns="0" bIns="0" rtlCol="0" anchor="t">
            <a:spAutoFit/>
          </a:bodyPr>
          <a:lstStyle/>
          <a:p>
            <a:pPr algn="l">
              <a:lnSpc>
                <a:spcPts val="4788"/>
              </a:lnSpc>
            </a:pPr>
            <a:r>
              <a:rPr lang="en-US" sz="3000">
                <a:solidFill>
                  <a:srgbClr val="404155"/>
                </a:solidFill>
                <a:latin typeface="Times New Roman"/>
                <a:ea typeface="Times New Roman"/>
                <a:cs typeface="Times New Roman"/>
                <a:sym typeface="Times New Roman"/>
              </a:rPr>
              <a:t> The Open Data Repository delivers a secure, auditable platform for sharing academic datasets with governed access. It balances researcher usability with administrator controls enabling dataset publication, restricted access workflows, and monitoring. Built with modern, scalable cloud tooling, it is positioned to grow with features like AI recommendations, richer visualizations, and API integrations to serve research communities.</a:t>
            </a:r>
          </a:p>
        </p:txBody>
      </p:sp>
      <p:grpSp>
        <p:nvGrpSpPr>
          <p:cNvPr id="10" name="Group 10"/>
          <p:cNvGrpSpPr/>
          <p:nvPr/>
        </p:nvGrpSpPr>
        <p:grpSpPr>
          <a:xfrm>
            <a:off x="289541" y="354149"/>
            <a:ext cx="1579493" cy="1498616"/>
            <a:chOff x="0" y="0"/>
            <a:chExt cx="2105990" cy="1998154"/>
          </a:xfrm>
        </p:grpSpPr>
        <p:sp>
          <p:nvSpPr>
            <p:cNvPr id="11" name="Freeform 11" descr="logo 2.png"/>
            <p:cNvSpPr/>
            <p:nvPr/>
          </p:nvSpPr>
          <p:spPr>
            <a:xfrm>
              <a:off x="0" y="0"/>
              <a:ext cx="2106041" cy="1998218"/>
            </a:xfrm>
            <a:custGeom>
              <a:avLst/>
              <a:gdLst/>
              <a:ahLst/>
              <a:cxnLst/>
              <a:rect l="l" t="t" r="r" b="b"/>
              <a:pathLst>
                <a:path w="2106041" h="1998218">
                  <a:moveTo>
                    <a:pt x="0" y="0"/>
                  </a:moveTo>
                  <a:lnTo>
                    <a:pt x="2106041" y="0"/>
                  </a:lnTo>
                  <a:lnTo>
                    <a:pt x="2106041" y="1998218"/>
                  </a:lnTo>
                  <a:lnTo>
                    <a:pt x="0" y="1998218"/>
                  </a:lnTo>
                  <a:lnTo>
                    <a:pt x="0" y="0"/>
                  </a:lnTo>
                  <a:close/>
                </a:path>
              </a:pathLst>
            </a:custGeom>
            <a:blipFill>
              <a:blip r:embed="rId5"/>
              <a:stretch>
                <a:fillRect t="-140" r="2" b="-136"/>
              </a:stretch>
            </a:blipFill>
          </p:spPr>
        </p:sp>
      </p:grpSp>
      <p:grpSp>
        <p:nvGrpSpPr>
          <p:cNvPr id="12" name="Group 12"/>
          <p:cNvGrpSpPr/>
          <p:nvPr/>
        </p:nvGrpSpPr>
        <p:grpSpPr>
          <a:xfrm>
            <a:off x="16028651" y="237582"/>
            <a:ext cx="1570482" cy="1706528"/>
            <a:chOff x="0" y="0"/>
            <a:chExt cx="2093976" cy="2275370"/>
          </a:xfrm>
        </p:grpSpPr>
        <p:sp>
          <p:nvSpPr>
            <p:cNvPr id="13" name="Freeform 13" descr="logo3.png"/>
            <p:cNvSpPr/>
            <p:nvPr/>
          </p:nvSpPr>
          <p:spPr>
            <a:xfrm>
              <a:off x="0" y="0"/>
              <a:ext cx="2093976" cy="2275332"/>
            </a:xfrm>
            <a:custGeom>
              <a:avLst/>
              <a:gdLst/>
              <a:ahLst/>
              <a:cxnLst/>
              <a:rect l="l" t="t" r="r" b="b"/>
              <a:pathLst>
                <a:path w="2093976" h="2275332">
                  <a:moveTo>
                    <a:pt x="0" y="0"/>
                  </a:moveTo>
                  <a:lnTo>
                    <a:pt x="2093976" y="0"/>
                  </a:lnTo>
                  <a:lnTo>
                    <a:pt x="2093976" y="2275332"/>
                  </a:lnTo>
                  <a:lnTo>
                    <a:pt x="0" y="2275332"/>
                  </a:lnTo>
                  <a:lnTo>
                    <a:pt x="0" y="0"/>
                  </a:lnTo>
                  <a:close/>
                </a:path>
              </a:pathLst>
            </a:custGeom>
            <a:blipFill>
              <a:blip r:embed="rId6"/>
              <a:stretch>
                <a:fillRect t="-30" b="-32"/>
              </a:stretch>
            </a:blipFill>
          </p:spPr>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7543" cy="10287000"/>
            <a:chOff x="0" y="0"/>
            <a:chExt cx="24383390" cy="13716000"/>
          </a:xfrm>
        </p:grpSpPr>
        <p:sp>
          <p:nvSpPr>
            <p:cNvPr id="3" name="Freeform 3" descr="preencoded.png"/>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lnTo>
                    <a:pt x="0" y="0"/>
                  </a:lnTo>
                  <a:close/>
                </a:path>
              </a:pathLst>
            </a:custGeom>
            <a:blipFill>
              <a:blip r:embed="rId3"/>
              <a:stretch>
                <a:fillRect l="-1" r="-1"/>
              </a:stretch>
            </a:blipFill>
          </p:spPr>
        </p:sp>
      </p:grpSp>
      <p:grpSp>
        <p:nvGrpSpPr>
          <p:cNvPr id="4" name="Group 4"/>
          <p:cNvGrpSpPr/>
          <p:nvPr/>
        </p:nvGrpSpPr>
        <p:grpSpPr>
          <a:xfrm>
            <a:off x="0" y="0"/>
            <a:ext cx="18287543" cy="10287000"/>
            <a:chOff x="0" y="0"/>
            <a:chExt cx="24383390" cy="13716000"/>
          </a:xfrm>
        </p:grpSpPr>
        <p:sp>
          <p:nvSpPr>
            <p:cNvPr id="5" name="Freeform 5"/>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close/>
                </a:path>
              </a:pathLst>
            </a:custGeom>
            <a:solidFill>
              <a:srgbClr val="F9F9FF">
                <a:alpha val="90196"/>
              </a:srgbClr>
            </a:solidFill>
          </p:spPr>
        </p:sp>
      </p:grpSp>
      <p:grpSp>
        <p:nvGrpSpPr>
          <p:cNvPr id="6" name="Group 6"/>
          <p:cNvGrpSpPr/>
          <p:nvPr/>
        </p:nvGrpSpPr>
        <p:grpSpPr>
          <a:xfrm>
            <a:off x="16615315" y="9838487"/>
            <a:ext cx="1607763" cy="384048"/>
            <a:chOff x="0" y="0"/>
            <a:chExt cx="2143684" cy="512064"/>
          </a:xfrm>
        </p:grpSpPr>
        <p:sp>
          <p:nvSpPr>
            <p:cNvPr id="7" name="Freeform 7" descr="preencoded.png">
              <a:hlinkClick r:id="rId4" tooltip="https://gamma.app/?utm_source=made-with-gamma"/>
            </p:cNvPr>
            <p:cNvSpPr/>
            <p:nvPr/>
          </p:nvSpPr>
          <p:spPr>
            <a:xfrm>
              <a:off x="0" y="0"/>
              <a:ext cx="2143633" cy="512064"/>
            </a:xfrm>
            <a:custGeom>
              <a:avLst/>
              <a:gdLst/>
              <a:ahLst/>
              <a:cxnLst/>
              <a:rect l="l" t="t" r="r" b="b"/>
              <a:pathLst>
                <a:path w="2143633" h="512064">
                  <a:moveTo>
                    <a:pt x="0" y="0"/>
                  </a:moveTo>
                  <a:lnTo>
                    <a:pt x="2143633" y="0"/>
                  </a:lnTo>
                  <a:lnTo>
                    <a:pt x="2143633" y="512064"/>
                  </a:lnTo>
                  <a:lnTo>
                    <a:pt x="0" y="512064"/>
                  </a:lnTo>
                  <a:lnTo>
                    <a:pt x="0" y="0"/>
                  </a:lnTo>
                  <a:close/>
                </a:path>
              </a:pathLst>
            </a:custGeom>
            <a:solidFill>
              <a:srgbClr val="F9F9FF"/>
            </a:solidFill>
          </p:spPr>
        </p:sp>
      </p:grpSp>
      <p:sp>
        <p:nvSpPr>
          <p:cNvPr id="8" name="TextBox 8"/>
          <p:cNvSpPr txBox="1"/>
          <p:nvPr/>
        </p:nvSpPr>
        <p:spPr>
          <a:xfrm>
            <a:off x="992210" y="1196578"/>
            <a:ext cx="16303114" cy="816473"/>
          </a:xfrm>
          <a:prstGeom prst="rect">
            <a:avLst/>
          </a:prstGeom>
        </p:spPr>
        <p:txBody>
          <a:bodyPr lIns="0" tIns="0" rIns="0" bIns="0" rtlCol="0" anchor="t">
            <a:spAutoFit/>
          </a:bodyPr>
          <a:lstStyle/>
          <a:p>
            <a:pPr algn="ctr">
              <a:lnSpc>
                <a:spcPts val="6177"/>
              </a:lnSpc>
            </a:pPr>
            <a:r>
              <a:rPr lang="en-US" sz="4950">
                <a:solidFill>
                  <a:srgbClr val="1B1B27"/>
                </a:solidFill>
                <a:latin typeface="Corben"/>
                <a:ea typeface="Corben"/>
                <a:cs typeface="Corben"/>
                <a:sym typeface="Corben"/>
              </a:rPr>
              <a:t>References &amp; Acknowledgements</a:t>
            </a:r>
          </a:p>
        </p:txBody>
      </p:sp>
      <p:sp>
        <p:nvSpPr>
          <p:cNvPr id="9" name="TextBox 9"/>
          <p:cNvSpPr txBox="1"/>
          <p:nvPr/>
        </p:nvSpPr>
        <p:spPr>
          <a:xfrm>
            <a:off x="1256824" y="2727427"/>
            <a:ext cx="3374298" cy="408089"/>
          </a:xfrm>
          <a:prstGeom prst="rect">
            <a:avLst/>
          </a:prstGeom>
        </p:spPr>
        <p:txBody>
          <a:bodyPr lIns="0" tIns="0" rIns="0" bIns="0" rtlCol="0" anchor="t">
            <a:spAutoFit/>
          </a:bodyPr>
          <a:lstStyle/>
          <a:p>
            <a:pPr algn="l">
              <a:lnSpc>
                <a:spcPts val="3088"/>
              </a:lnSpc>
            </a:pPr>
            <a:r>
              <a:rPr lang="en-US" sz="2475">
                <a:solidFill>
                  <a:srgbClr val="404155"/>
                </a:solidFill>
                <a:latin typeface="Corben"/>
                <a:ea typeface="Corben"/>
                <a:cs typeface="Corben"/>
                <a:sym typeface="Corben"/>
              </a:rPr>
              <a:t>[1] DBpedia (2007)</a:t>
            </a:r>
          </a:p>
        </p:txBody>
      </p:sp>
      <p:sp>
        <p:nvSpPr>
          <p:cNvPr id="10" name="TextBox 10"/>
          <p:cNvSpPr txBox="1"/>
          <p:nvPr/>
        </p:nvSpPr>
        <p:spPr>
          <a:xfrm>
            <a:off x="1256824" y="3196981"/>
            <a:ext cx="3374298" cy="1239736"/>
          </a:xfrm>
          <a:prstGeom prst="rect">
            <a:avLst/>
          </a:prstGeom>
        </p:spPr>
        <p:txBody>
          <a:bodyPr lIns="0" tIns="0" rIns="0" bIns="0" rtlCol="0" anchor="t">
            <a:spAutoFit/>
          </a:bodyPr>
          <a:lstStyle/>
          <a:p>
            <a:pPr algn="l">
              <a:lnSpc>
                <a:spcPts val="2971"/>
              </a:lnSpc>
            </a:pPr>
            <a:r>
              <a:rPr lang="en-US" sz="1950">
                <a:solidFill>
                  <a:srgbClr val="404155"/>
                </a:solidFill>
                <a:latin typeface="Arimo"/>
                <a:ea typeface="Arimo"/>
                <a:cs typeface="Arimo"/>
                <a:sym typeface="Arimo"/>
              </a:rPr>
              <a:t>Auer, S., et al. DBpedia: A nucleus for a web of open data. ISWC 2007.</a:t>
            </a:r>
          </a:p>
        </p:txBody>
      </p:sp>
      <p:sp>
        <p:nvSpPr>
          <p:cNvPr id="11" name="TextBox 11"/>
          <p:cNvSpPr txBox="1"/>
          <p:nvPr/>
        </p:nvSpPr>
        <p:spPr>
          <a:xfrm>
            <a:off x="5389978" y="2727427"/>
            <a:ext cx="3374298" cy="806653"/>
          </a:xfrm>
          <a:prstGeom prst="rect">
            <a:avLst/>
          </a:prstGeom>
        </p:spPr>
        <p:txBody>
          <a:bodyPr lIns="0" tIns="0" rIns="0" bIns="0" rtlCol="0" anchor="t">
            <a:spAutoFit/>
          </a:bodyPr>
          <a:lstStyle/>
          <a:p>
            <a:pPr algn="l">
              <a:lnSpc>
                <a:spcPts val="3088"/>
              </a:lnSpc>
            </a:pPr>
            <a:r>
              <a:rPr lang="en-US" sz="2475">
                <a:solidFill>
                  <a:srgbClr val="404155"/>
                </a:solidFill>
                <a:latin typeface="Corben"/>
                <a:ea typeface="Corben"/>
                <a:cs typeface="Corben"/>
                <a:sym typeface="Corben"/>
              </a:rPr>
              <a:t>[2] Database Systems (2020)</a:t>
            </a:r>
          </a:p>
        </p:txBody>
      </p:sp>
      <p:sp>
        <p:nvSpPr>
          <p:cNvPr id="12" name="TextBox 12"/>
          <p:cNvSpPr txBox="1"/>
          <p:nvPr/>
        </p:nvSpPr>
        <p:spPr>
          <a:xfrm>
            <a:off x="5389978" y="3595535"/>
            <a:ext cx="3374298" cy="1239736"/>
          </a:xfrm>
          <a:prstGeom prst="rect">
            <a:avLst/>
          </a:prstGeom>
        </p:spPr>
        <p:txBody>
          <a:bodyPr lIns="0" tIns="0" rIns="0" bIns="0" rtlCol="0" anchor="t">
            <a:spAutoFit/>
          </a:bodyPr>
          <a:lstStyle/>
          <a:p>
            <a:pPr algn="l">
              <a:lnSpc>
                <a:spcPts val="2971"/>
              </a:lnSpc>
            </a:pPr>
            <a:r>
              <a:rPr lang="en-US" sz="1950">
                <a:solidFill>
                  <a:srgbClr val="404155"/>
                </a:solidFill>
                <a:latin typeface="Arimo"/>
                <a:ea typeface="Arimo"/>
                <a:cs typeface="Arimo"/>
                <a:sym typeface="Arimo"/>
              </a:rPr>
              <a:t>Silberschatz, Korth, &amp; Sudarshan — Database System Concepts, 7th ed.</a:t>
            </a:r>
          </a:p>
        </p:txBody>
      </p:sp>
      <p:sp>
        <p:nvSpPr>
          <p:cNvPr id="13" name="TextBox 13"/>
          <p:cNvSpPr txBox="1"/>
          <p:nvPr/>
        </p:nvSpPr>
        <p:spPr>
          <a:xfrm>
            <a:off x="9523124" y="2727427"/>
            <a:ext cx="3374298" cy="806653"/>
          </a:xfrm>
          <a:prstGeom prst="rect">
            <a:avLst/>
          </a:prstGeom>
        </p:spPr>
        <p:txBody>
          <a:bodyPr lIns="0" tIns="0" rIns="0" bIns="0" rtlCol="0" anchor="t">
            <a:spAutoFit/>
          </a:bodyPr>
          <a:lstStyle/>
          <a:p>
            <a:pPr algn="l">
              <a:lnSpc>
                <a:spcPts val="3088"/>
              </a:lnSpc>
            </a:pPr>
            <a:r>
              <a:rPr lang="en-US" sz="2475">
                <a:solidFill>
                  <a:srgbClr val="404155"/>
                </a:solidFill>
                <a:latin typeface="Corben"/>
                <a:ea typeface="Corben"/>
                <a:cs typeface="Corben"/>
                <a:sym typeface="Corben"/>
              </a:rPr>
              <a:t>[3] Fundamentals of DB (2016)</a:t>
            </a:r>
          </a:p>
        </p:txBody>
      </p:sp>
      <p:sp>
        <p:nvSpPr>
          <p:cNvPr id="14" name="TextBox 14"/>
          <p:cNvSpPr txBox="1"/>
          <p:nvPr/>
        </p:nvSpPr>
        <p:spPr>
          <a:xfrm>
            <a:off x="9523124" y="3595535"/>
            <a:ext cx="3374298" cy="1239736"/>
          </a:xfrm>
          <a:prstGeom prst="rect">
            <a:avLst/>
          </a:prstGeom>
        </p:spPr>
        <p:txBody>
          <a:bodyPr lIns="0" tIns="0" rIns="0" bIns="0" rtlCol="0" anchor="t">
            <a:spAutoFit/>
          </a:bodyPr>
          <a:lstStyle/>
          <a:p>
            <a:pPr algn="l">
              <a:lnSpc>
                <a:spcPts val="2971"/>
              </a:lnSpc>
            </a:pPr>
            <a:r>
              <a:rPr lang="en-US" sz="1950">
                <a:solidFill>
                  <a:srgbClr val="404155"/>
                </a:solidFill>
                <a:latin typeface="Arimo"/>
                <a:ea typeface="Arimo"/>
                <a:cs typeface="Arimo"/>
                <a:sym typeface="Arimo"/>
              </a:rPr>
              <a:t>Elmasri &amp; Navathe — Fundamentals of Database Systems, 7th ed.</a:t>
            </a:r>
          </a:p>
        </p:txBody>
      </p:sp>
      <p:sp>
        <p:nvSpPr>
          <p:cNvPr id="15" name="TextBox 15"/>
          <p:cNvSpPr txBox="1"/>
          <p:nvPr/>
        </p:nvSpPr>
        <p:spPr>
          <a:xfrm>
            <a:off x="13656278" y="2727427"/>
            <a:ext cx="3374441" cy="806653"/>
          </a:xfrm>
          <a:prstGeom prst="rect">
            <a:avLst/>
          </a:prstGeom>
        </p:spPr>
        <p:txBody>
          <a:bodyPr lIns="0" tIns="0" rIns="0" bIns="0" rtlCol="0" anchor="t">
            <a:spAutoFit/>
          </a:bodyPr>
          <a:lstStyle/>
          <a:p>
            <a:pPr algn="l">
              <a:lnSpc>
                <a:spcPts val="3088"/>
              </a:lnSpc>
            </a:pPr>
            <a:r>
              <a:rPr lang="en-US" sz="2475">
                <a:solidFill>
                  <a:srgbClr val="404155"/>
                </a:solidFill>
                <a:latin typeface="Corben"/>
                <a:ea typeface="Corben"/>
                <a:cs typeface="Corben"/>
                <a:sym typeface="Corben"/>
              </a:rPr>
              <a:t>[4] MySQL Reference (2025)</a:t>
            </a:r>
          </a:p>
        </p:txBody>
      </p:sp>
      <p:sp>
        <p:nvSpPr>
          <p:cNvPr id="16" name="TextBox 16"/>
          <p:cNvSpPr txBox="1"/>
          <p:nvPr/>
        </p:nvSpPr>
        <p:spPr>
          <a:xfrm>
            <a:off x="13656278" y="3595535"/>
            <a:ext cx="3374441" cy="1239736"/>
          </a:xfrm>
          <a:prstGeom prst="rect">
            <a:avLst/>
          </a:prstGeom>
        </p:spPr>
        <p:txBody>
          <a:bodyPr lIns="0" tIns="0" rIns="0" bIns="0" rtlCol="0" anchor="t">
            <a:spAutoFit/>
          </a:bodyPr>
          <a:lstStyle/>
          <a:p>
            <a:pPr algn="l">
              <a:lnSpc>
                <a:spcPts val="2971"/>
              </a:lnSpc>
            </a:pPr>
            <a:r>
              <a:rPr lang="en-US" sz="1950">
                <a:solidFill>
                  <a:srgbClr val="404155"/>
                </a:solidFill>
                <a:latin typeface="Arimo"/>
                <a:ea typeface="Arimo"/>
                <a:cs typeface="Arimo"/>
                <a:sym typeface="Arimo"/>
              </a:rPr>
              <a:t>Oracle Corporation — MySQL 8.4 Reference Manual.</a:t>
            </a:r>
          </a:p>
        </p:txBody>
      </p:sp>
      <p:sp>
        <p:nvSpPr>
          <p:cNvPr id="17" name="TextBox 17"/>
          <p:cNvSpPr txBox="1"/>
          <p:nvPr/>
        </p:nvSpPr>
        <p:spPr>
          <a:xfrm>
            <a:off x="1256824" y="5584622"/>
            <a:ext cx="15773895" cy="408089"/>
          </a:xfrm>
          <a:prstGeom prst="rect">
            <a:avLst/>
          </a:prstGeom>
        </p:spPr>
        <p:txBody>
          <a:bodyPr lIns="0" tIns="0" rIns="0" bIns="0" rtlCol="0" anchor="t">
            <a:spAutoFit/>
          </a:bodyPr>
          <a:lstStyle/>
          <a:p>
            <a:pPr algn="l">
              <a:lnSpc>
                <a:spcPts val="3088"/>
              </a:lnSpc>
            </a:pPr>
            <a:r>
              <a:rPr lang="en-US" sz="2475">
                <a:solidFill>
                  <a:srgbClr val="404155"/>
                </a:solidFill>
                <a:latin typeface="Corben"/>
                <a:ea typeface="Corben"/>
                <a:cs typeface="Corben"/>
                <a:sym typeface="Corben"/>
              </a:rPr>
              <a:t>[5] W3C Best Practices (2024)</a:t>
            </a:r>
          </a:p>
        </p:txBody>
      </p:sp>
      <p:sp>
        <p:nvSpPr>
          <p:cNvPr id="18" name="TextBox 18"/>
          <p:cNvSpPr txBox="1"/>
          <p:nvPr/>
        </p:nvSpPr>
        <p:spPr>
          <a:xfrm>
            <a:off x="1256824" y="6054176"/>
            <a:ext cx="15773895" cy="464048"/>
          </a:xfrm>
          <a:prstGeom prst="rect">
            <a:avLst/>
          </a:prstGeom>
        </p:spPr>
        <p:txBody>
          <a:bodyPr lIns="0" tIns="0" rIns="0" bIns="0" rtlCol="0" anchor="t">
            <a:spAutoFit/>
          </a:bodyPr>
          <a:lstStyle/>
          <a:p>
            <a:pPr algn="l">
              <a:lnSpc>
                <a:spcPts val="2971"/>
              </a:lnSpc>
            </a:pPr>
            <a:r>
              <a:rPr lang="en-US" sz="1950">
                <a:solidFill>
                  <a:srgbClr val="404155"/>
                </a:solidFill>
                <a:latin typeface="Arimo"/>
                <a:ea typeface="Arimo"/>
                <a:cs typeface="Arimo"/>
                <a:sym typeface="Arimo"/>
              </a:rPr>
              <a:t>World Wide Web Consortium — Data on the Web Best Practices.</a:t>
            </a:r>
          </a:p>
        </p:txBody>
      </p:sp>
      <p:grpSp>
        <p:nvGrpSpPr>
          <p:cNvPr id="19" name="Group 19"/>
          <p:cNvGrpSpPr/>
          <p:nvPr/>
        </p:nvGrpSpPr>
        <p:grpSpPr>
          <a:xfrm>
            <a:off x="289541" y="354149"/>
            <a:ext cx="1579493" cy="1498616"/>
            <a:chOff x="0" y="0"/>
            <a:chExt cx="2105990" cy="1998154"/>
          </a:xfrm>
        </p:grpSpPr>
        <p:sp>
          <p:nvSpPr>
            <p:cNvPr id="20" name="Freeform 20" descr="logo 2.png"/>
            <p:cNvSpPr/>
            <p:nvPr/>
          </p:nvSpPr>
          <p:spPr>
            <a:xfrm>
              <a:off x="0" y="0"/>
              <a:ext cx="2106041" cy="1998218"/>
            </a:xfrm>
            <a:custGeom>
              <a:avLst/>
              <a:gdLst/>
              <a:ahLst/>
              <a:cxnLst/>
              <a:rect l="l" t="t" r="r" b="b"/>
              <a:pathLst>
                <a:path w="2106041" h="1998218">
                  <a:moveTo>
                    <a:pt x="0" y="0"/>
                  </a:moveTo>
                  <a:lnTo>
                    <a:pt x="2106041" y="0"/>
                  </a:lnTo>
                  <a:lnTo>
                    <a:pt x="2106041" y="1998218"/>
                  </a:lnTo>
                  <a:lnTo>
                    <a:pt x="0" y="1998218"/>
                  </a:lnTo>
                  <a:lnTo>
                    <a:pt x="0" y="0"/>
                  </a:lnTo>
                  <a:close/>
                </a:path>
              </a:pathLst>
            </a:custGeom>
            <a:blipFill>
              <a:blip r:embed="rId5"/>
              <a:stretch>
                <a:fillRect t="-140" r="2" b="-136"/>
              </a:stretch>
            </a:blipFill>
          </p:spPr>
        </p:sp>
      </p:grpSp>
      <p:grpSp>
        <p:nvGrpSpPr>
          <p:cNvPr id="21" name="Group 21"/>
          <p:cNvGrpSpPr/>
          <p:nvPr/>
        </p:nvGrpSpPr>
        <p:grpSpPr>
          <a:xfrm>
            <a:off x="16028651" y="237582"/>
            <a:ext cx="1570482" cy="1706528"/>
            <a:chOff x="0" y="0"/>
            <a:chExt cx="2093976" cy="2275370"/>
          </a:xfrm>
        </p:grpSpPr>
        <p:sp>
          <p:nvSpPr>
            <p:cNvPr id="22" name="Freeform 22" descr="logo3.png"/>
            <p:cNvSpPr/>
            <p:nvPr/>
          </p:nvSpPr>
          <p:spPr>
            <a:xfrm>
              <a:off x="0" y="0"/>
              <a:ext cx="2093976" cy="2275332"/>
            </a:xfrm>
            <a:custGeom>
              <a:avLst/>
              <a:gdLst/>
              <a:ahLst/>
              <a:cxnLst/>
              <a:rect l="l" t="t" r="r" b="b"/>
              <a:pathLst>
                <a:path w="2093976" h="2275332">
                  <a:moveTo>
                    <a:pt x="0" y="0"/>
                  </a:moveTo>
                  <a:lnTo>
                    <a:pt x="2093976" y="0"/>
                  </a:lnTo>
                  <a:lnTo>
                    <a:pt x="2093976" y="2275332"/>
                  </a:lnTo>
                  <a:lnTo>
                    <a:pt x="0" y="2275332"/>
                  </a:lnTo>
                  <a:lnTo>
                    <a:pt x="0" y="0"/>
                  </a:lnTo>
                  <a:close/>
                </a:path>
              </a:pathLst>
            </a:custGeom>
            <a:blipFill>
              <a:blip r:embed="rId6"/>
              <a:stretch>
                <a:fillRect t="-30" b="-32"/>
              </a:stretch>
            </a:blipFill>
          </p:spPr>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7543" cy="10287000"/>
            <a:chOff x="0" y="0"/>
            <a:chExt cx="24383390" cy="13716000"/>
          </a:xfrm>
        </p:grpSpPr>
        <p:sp>
          <p:nvSpPr>
            <p:cNvPr id="3" name="Freeform 3" descr="preencoded.png"/>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lnTo>
                    <a:pt x="0" y="0"/>
                  </a:lnTo>
                  <a:close/>
                </a:path>
              </a:pathLst>
            </a:custGeom>
            <a:blipFill>
              <a:blip r:embed="rId3"/>
              <a:stretch>
                <a:fillRect l="-1" r="-1"/>
              </a:stretch>
            </a:blipFill>
          </p:spPr>
        </p:sp>
      </p:grpSp>
      <p:grpSp>
        <p:nvGrpSpPr>
          <p:cNvPr id="4" name="Group 4"/>
          <p:cNvGrpSpPr/>
          <p:nvPr/>
        </p:nvGrpSpPr>
        <p:grpSpPr>
          <a:xfrm>
            <a:off x="0" y="0"/>
            <a:ext cx="18287543" cy="10287000"/>
            <a:chOff x="0" y="0"/>
            <a:chExt cx="24383390" cy="13716000"/>
          </a:xfrm>
        </p:grpSpPr>
        <p:sp>
          <p:nvSpPr>
            <p:cNvPr id="5" name="Freeform 5"/>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close/>
                </a:path>
              </a:pathLst>
            </a:custGeom>
            <a:solidFill>
              <a:srgbClr val="F9F9FF">
                <a:alpha val="90196"/>
              </a:srgbClr>
            </a:solidFill>
          </p:spPr>
        </p:sp>
      </p:grpSp>
      <p:grpSp>
        <p:nvGrpSpPr>
          <p:cNvPr id="6" name="Group 6"/>
          <p:cNvGrpSpPr/>
          <p:nvPr/>
        </p:nvGrpSpPr>
        <p:grpSpPr>
          <a:xfrm>
            <a:off x="16615315" y="9838487"/>
            <a:ext cx="1607763" cy="384048"/>
            <a:chOff x="0" y="0"/>
            <a:chExt cx="2143684" cy="512064"/>
          </a:xfrm>
        </p:grpSpPr>
        <p:sp>
          <p:nvSpPr>
            <p:cNvPr id="7" name="Freeform 7" descr="preencoded.png">
              <a:hlinkClick r:id="rId4" tooltip="https://gamma.app/?utm_source=made-with-gamma"/>
            </p:cNvPr>
            <p:cNvSpPr/>
            <p:nvPr/>
          </p:nvSpPr>
          <p:spPr>
            <a:xfrm>
              <a:off x="0" y="0"/>
              <a:ext cx="2143633" cy="512064"/>
            </a:xfrm>
            <a:custGeom>
              <a:avLst/>
              <a:gdLst/>
              <a:ahLst/>
              <a:cxnLst/>
              <a:rect l="l" t="t" r="r" b="b"/>
              <a:pathLst>
                <a:path w="2143633" h="512064">
                  <a:moveTo>
                    <a:pt x="0" y="0"/>
                  </a:moveTo>
                  <a:lnTo>
                    <a:pt x="2143633" y="0"/>
                  </a:lnTo>
                  <a:lnTo>
                    <a:pt x="2143633" y="512064"/>
                  </a:lnTo>
                  <a:lnTo>
                    <a:pt x="0" y="512064"/>
                  </a:lnTo>
                  <a:lnTo>
                    <a:pt x="0" y="0"/>
                  </a:lnTo>
                  <a:close/>
                </a:path>
              </a:pathLst>
            </a:custGeom>
            <a:solidFill>
              <a:srgbClr val="F9F9FF"/>
            </a:solidFill>
          </p:spPr>
        </p:sp>
      </p:grpSp>
      <p:sp>
        <p:nvSpPr>
          <p:cNvPr id="8" name="TextBox 8"/>
          <p:cNvSpPr txBox="1"/>
          <p:nvPr/>
        </p:nvSpPr>
        <p:spPr>
          <a:xfrm>
            <a:off x="6417116" y="3792912"/>
            <a:ext cx="5453758" cy="1293552"/>
          </a:xfrm>
          <a:prstGeom prst="rect">
            <a:avLst/>
          </a:prstGeom>
        </p:spPr>
        <p:txBody>
          <a:bodyPr lIns="0" tIns="0" rIns="0" bIns="0" rtlCol="0" anchor="t">
            <a:spAutoFit/>
          </a:bodyPr>
          <a:lstStyle/>
          <a:p>
            <a:pPr algn="ctr">
              <a:lnSpc>
                <a:spcPts val="9720"/>
              </a:lnSpc>
            </a:pPr>
            <a:r>
              <a:rPr lang="en-US" sz="8100">
                <a:solidFill>
                  <a:srgbClr val="000000"/>
                </a:solidFill>
                <a:latin typeface="Corben"/>
                <a:ea typeface="Corben"/>
                <a:cs typeface="Corben"/>
                <a:sym typeface="Corben"/>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97</TotalTime>
  <Words>1286</Words>
  <Application>Microsoft Office PowerPoint</Application>
  <PresentationFormat>Custom</PresentationFormat>
  <Paragraphs>272</Paragraphs>
  <Slides>29</Slides>
  <Notes>29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Calibri</vt:lpstr>
      <vt:lpstr>Times New Roman</vt:lpstr>
      <vt:lpstr>Corben</vt:lpstr>
      <vt:lpstr>Arial</vt:lpstr>
      <vt:lpstr>Arimo</vt:lpstr>
      <vt:lpstr>Times New Roman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dbmsss.pptx</dc:title>
  <cp:lastModifiedBy>judyallenjey@outlook.com</cp:lastModifiedBy>
  <cp:revision>3</cp:revision>
  <dcterms:created xsi:type="dcterms:W3CDTF">2006-08-16T00:00:00Z</dcterms:created>
  <dcterms:modified xsi:type="dcterms:W3CDTF">2026-09-01T04:03:15Z</dcterms:modified>
  <dc:identifier>DAHTajLg2Fs</dc:identifier>
</cp:coreProperties>
</file>